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db4d158f514c32" /><Relationship Type="http://schemas.openxmlformats.org/officeDocument/2006/relationships/extended-properties" Target="/docProps/app.xml" Id="R057d35bea5ef41fb" /><Relationship Type="http://schemas.openxmlformats.org/officeDocument/2006/relationships/officeDocument" Target="/ppt/presentation.xml" Id="R366fc81901d445e3" /></Relationships>
</file>

<file path=ppt/presentation.xml><?xml version="1.0" encoding="utf-8"?>
<p:presentation xmlns:p="http://schemas.openxmlformats.org/presentationml/2006/main">
  <p:sldMasterIdLst>
    <p:sldMasterId xmlns:r="http://schemas.openxmlformats.org/officeDocument/2006/relationships" id="2147483648" r:id="Rfdaf67e65e7d47df"/>
  </p:sldMasterIdLst>
  <p:notesMasterIdLst>
    <p:notesMasterId xmlns:r="http://schemas.openxmlformats.org/officeDocument/2006/relationships" r:id="R3752c85ac2ef4667"/>
  </p:notesMasterIdLst>
  <p:sldIdLst>
    <p:sldId xmlns:r="http://schemas.openxmlformats.org/officeDocument/2006/relationships" id="256" r:id="R77747efab578463c"/>
    <p:sldId xmlns:r="http://schemas.openxmlformats.org/officeDocument/2006/relationships" id="257" r:id="Rd6b13053bf244e00"/>
    <p:sldId xmlns:r="http://schemas.openxmlformats.org/officeDocument/2006/relationships" id="258" r:id="Rd5c6c0578c9942dc"/>
    <p:sldId xmlns:r="http://schemas.openxmlformats.org/officeDocument/2006/relationships" id="259" r:id="R817d1cfd62c449cd"/>
    <p:sldId xmlns:r="http://schemas.openxmlformats.org/officeDocument/2006/relationships" id="260" r:id="Rcc76d5151cae4edb"/>
    <p:sldId xmlns:r="http://schemas.openxmlformats.org/officeDocument/2006/relationships" id="261" r:id="Re832444c8c1b43d9"/>
    <p:sldId xmlns:r="http://schemas.openxmlformats.org/officeDocument/2006/relationships" id="262" r:id="Rdacf0f5f0a1044bb"/>
    <p:sldId xmlns:r="http://schemas.openxmlformats.org/officeDocument/2006/relationships" id="263" r:id="R9165e8e102f4477e"/>
    <p:sldId xmlns:r="http://schemas.openxmlformats.org/officeDocument/2006/relationships" id="264" r:id="Rffb3f15a88e44c50"/>
    <p:sldId xmlns:r="http://schemas.openxmlformats.org/officeDocument/2006/relationships" id="265" r:id="R3955aab6735a438c"/>
    <p:sldId xmlns:r="http://schemas.openxmlformats.org/officeDocument/2006/relationships" id="266" r:id="R5d820f91c1484cb3"/>
    <p:sldId xmlns:r="http://schemas.openxmlformats.org/officeDocument/2006/relationships" id="267" r:id="R2a00e46aa9da4935"/>
    <p:sldId xmlns:r="http://schemas.openxmlformats.org/officeDocument/2006/relationships" id="268" r:id="R117f346136eb4efd"/>
    <p:sldId xmlns:r="http://schemas.openxmlformats.org/officeDocument/2006/relationships" id="269" r:id="R0324914d87e94585"/>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367cf9aaa24c4d" /><Relationship Type="http://schemas.openxmlformats.org/officeDocument/2006/relationships/slideMaster" Target="/ppt/slideMasters/slideMaster1.xml" Id="Rfdaf67e65e7d47df" /><Relationship Type="http://schemas.openxmlformats.org/officeDocument/2006/relationships/notesMaster" Target="/ppt/notesMasters/notesMaster1.xml" Id="R3752c85ac2ef4667" /><Relationship Type="http://schemas.openxmlformats.org/officeDocument/2006/relationships/presProps" Target="/ppt/presProps.xml" Id="Rbed4aad44a7445fc" /><Relationship Type="http://schemas.openxmlformats.org/officeDocument/2006/relationships/tableStyles" Target="/ppt/tableStyles.xml" Id="R332635571185468f" /><Relationship Type="http://schemas.openxmlformats.org/officeDocument/2006/relationships/slide" Target="/ppt/slides/slide1.xml" Id="R77747efab578463c" /><Relationship Type="http://schemas.openxmlformats.org/officeDocument/2006/relationships/slide" Target="/ppt/slides/slide2.xml" Id="Rd6b13053bf244e00" /><Relationship Type="http://schemas.openxmlformats.org/officeDocument/2006/relationships/slide" Target="/ppt/slides/slide3.xml" Id="Rd5c6c0578c9942dc" /><Relationship Type="http://schemas.openxmlformats.org/officeDocument/2006/relationships/slide" Target="/ppt/slides/slide4.xml" Id="R817d1cfd62c449cd" /><Relationship Type="http://schemas.openxmlformats.org/officeDocument/2006/relationships/slide" Target="/ppt/slides/slide5.xml" Id="Rcc76d5151cae4edb" /><Relationship Type="http://schemas.openxmlformats.org/officeDocument/2006/relationships/slide" Target="/ppt/slides/slide6.xml" Id="Re832444c8c1b43d9" /><Relationship Type="http://schemas.openxmlformats.org/officeDocument/2006/relationships/slide" Target="/ppt/slides/slide7.xml" Id="Rdacf0f5f0a1044bb" /><Relationship Type="http://schemas.openxmlformats.org/officeDocument/2006/relationships/slide" Target="/ppt/slides/slide8.xml" Id="R9165e8e102f4477e" /><Relationship Type="http://schemas.openxmlformats.org/officeDocument/2006/relationships/slide" Target="/ppt/slides/slide9.xml" Id="Rffb3f15a88e44c50" /><Relationship Type="http://schemas.openxmlformats.org/officeDocument/2006/relationships/slide" Target="/ppt/slides/slide10.xml" Id="R3955aab6735a438c" /><Relationship Type="http://schemas.openxmlformats.org/officeDocument/2006/relationships/slide" Target="/ppt/slides/slide11.xml" Id="R5d820f91c1484cb3" /><Relationship Type="http://schemas.openxmlformats.org/officeDocument/2006/relationships/slide" Target="/ppt/slides/slide12.xml" Id="R2a00e46aa9da4935" /><Relationship Type="http://schemas.openxmlformats.org/officeDocument/2006/relationships/slide" Target="/ppt/slides/slide13.xml" Id="R117f346136eb4efd" /><Relationship Type="http://schemas.openxmlformats.org/officeDocument/2006/relationships/slide" Target="/ppt/slides/slide14.xml" Id="R0324914d87e945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b6d96aa1364b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2dc0d448c641f5" /><Relationship Type="http://schemas.openxmlformats.org/officeDocument/2006/relationships/notesMaster" Target="/ppt/notesMasters/notesMaster1.xml" Id="R1a1cc43620fe40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777fcf7fe243e2" /><Relationship Type="http://schemas.openxmlformats.org/officeDocument/2006/relationships/notesMaster" Target="/ppt/notesMasters/notesMaster1.xml" Id="R05d5dfb3585247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cb2cf8dbd2487e" /><Relationship Type="http://schemas.openxmlformats.org/officeDocument/2006/relationships/notesMaster" Target="/ppt/notesMasters/notesMaster1.xml" Id="R715946d4fd8f48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b5bb0454924241" /><Relationship Type="http://schemas.openxmlformats.org/officeDocument/2006/relationships/notesMaster" Target="/ppt/notesMasters/notesMaster1.xml" Id="R83fba5a4ec9149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0abdd92d97466f" /><Relationship Type="http://schemas.openxmlformats.org/officeDocument/2006/relationships/notesMaster" Target="/ppt/notesMasters/notesMaster1.xml" Id="R1d133557263a4f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c69ee321d0442d" /><Relationship Type="http://schemas.openxmlformats.org/officeDocument/2006/relationships/notesMaster" Target="/ppt/notesMasters/notesMaster1.xml" Id="Rf4544b06d19c40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06ac7e92464bce" /><Relationship Type="http://schemas.openxmlformats.org/officeDocument/2006/relationships/notesMaster" Target="/ppt/notesMasters/notesMaster1.xml" Id="Rd937481c749b4a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64053c34ad4270" /><Relationship Type="http://schemas.openxmlformats.org/officeDocument/2006/relationships/notesMaster" Target="/ppt/notesMasters/notesMaster1.xml" Id="R044222c9337446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10d47b6eab440b" /><Relationship Type="http://schemas.openxmlformats.org/officeDocument/2006/relationships/notesMaster" Target="/ppt/notesMasters/notesMaster1.xml" Id="R44a0dd2984ff43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70250d833241fa" /><Relationship Type="http://schemas.openxmlformats.org/officeDocument/2006/relationships/notesMaster" Target="/ppt/notesMasters/notesMaster1.xml" Id="R16cf47afd1f844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5169bf0ab74111" /><Relationship Type="http://schemas.openxmlformats.org/officeDocument/2006/relationships/notesMaster" Target="/ppt/notesMasters/notesMaster1.xml" Id="Rea54c513acbb4e7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6883774841f48e9" /><Relationship Type="http://schemas.openxmlformats.org/officeDocument/2006/relationships/notesMaster" Target="/ppt/notesMasters/notesMaster1.xml" Id="Rdde0de66535f49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55513431424c1f" /><Relationship Type="http://schemas.openxmlformats.org/officeDocument/2006/relationships/notesMaster" Target="/ppt/notesMasters/notesMaster1.xml" Id="Rda6f0d2c8a904fa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bb1bbf4529462a" /><Relationship Type="http://schemas.openxmlformats.org/officeDocument/2006/relationships/notesMaster" Target="/ppt/notesMasters/notesMaster1.xml" Id="R93134866df8544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Цель Assignment 3 — улучшить безопасность того же приложения и проверить результат экспериментально. Основная защита — системный промпт vicuna-guarded. Дополнительная защита именно против GCG — реализация идеи SmoothLLM с пятью изменёнными копиями запроса. Все три конфигурации реально проверены через локальную Ollama. Важно показать не только уменьшение показателя атаки, но и потерю качества обычных ответов.</a:t>
            </a:r>
          </a:p>
          <a:p xmlns:a="http://schemas.openxmlformats.org/drawingml/2006/main">
            <a:r>
              <a:t/>
            </a:r>
          </a:p>
          <a:p xmlns:a="http://schemas.openxmlformats.org/drawingml/2006/main">
            <a:r>
              <a:t>Sources: task.pdf; https://arxiv.org/abs/2310.03684; experiments/logs/assignment3/ollama_summary.json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Проект продолжает Midterm, как требует задание: остаются модель, приложение и научная проблема. Суффиксная атака добавляет последовательность символов к запросу. Исходная сводка показывает 22 обхода из 25, но лексический детектор не устанавливает реальную вредность ответа. Поэтому новые измерения дополняют этот показатель анализом содержания и обычных задач.</a:t>
            </a:r>
          </a:p>
          <a:p xmlns:a="http://schemas.openxmlformats.org/drawingml/2006/main">
            <a:r>
              <a:t/>
            </a:r>
          </a:p>
          <a:p xmlns:a="http://schemas.openxmlformats.org/drawingml/2006/main">
            <a:r>
              <a:t>Sources: https://arxiv.org/abs/2307.15043; experiments/logs/advbench_summary.json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Modelfile.guarded задаёт защищённую конфигурацию поверх тех же весов. Это основная первая мера Assignment 3. Её удобно развернуть локально, но инструкция сама по себе не гарантирует выполнение. Поэтому сравниваются обычная модель, модель с этой инструкцией и модель с инструкцией плюс второй механизм.</a:t>
            </a:r>
          </a:p>
          <a:p xmlns:a="http://schemas.openxmlformats.org/drawingml/2006/main">
            <a:r>
              <a:t/>
            </a:r>
          </a:p>
          <a:p xmlns:a="http://schemas.openxmlformats.org/drawingml/2006/main">
            <a:r>
              <a:t>Sources: experiments/Modelfile.guarded; site/safety.py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Здесь отдельно показаны сохранённые данные проекта. По ним системный промпт уменьшает показатель опубликованного суффикса с 88 до 76 процентов, то есть на 12 процентных пунктов. Эти цифры не смешиваются с новым прогоном: отличаются версия Ollama, размеры наборов и настройки контекста. Cached GCG в старом наборе — 26 запросов, образованных двумя целями и разными суффиксами, а не 26 независимых целей.</a:t>
            </a:r>
          </a:p>
          <a:p xmlns:a="http://schemas.openxmlformats.org/drawingml/2006/main">
            <a:r>
              <a:t/>
            </a:r>
          </a:p>
          <a:p xmlns:a="http://schemas.openxmlformats.org/drawingml/2006/main">
            <a:r>
              <a:t>Sources: experiments/logs/advbench_summary.json; supplied garak 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Метод основан на SmoothLLM Робея и соавторов. Смысл — нарушить точно подобранную последовательность токенов GCG. Защита не знает границу суффикса, поэтому изменяет всё последнее сообщение. Здесь выбраны пять копий и 10 процентов вставок. Большинство определяется простым регулярным выражением признаков отказа. Это адаптация идеи для Ollama, а не точное воспроизведение статьи или формальная гарантия.</a:t>
            </a:r>
          </a:p>
          <a:p xmlns:a="http://schemas.openxmlformats.org/drawingml/2006/main">
            <a:r>
              <a:t/>
            </a:r>
          </a:p>
          <a:p xmlns:a="http://schemas.openxmlformats.org/drawingml/2006/main">
            <a:r>
              <a:t>Sources: https://arxiv.org/abs/2310.03684; https://github.com/arobey1/smooth-llm; site/smoothllm.py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Новый прогон действительно выполнен на установленной локальной Ollama. Прямые и опубликованные атаки используют одни и те же десять первых целей AdvBench. Для cached GCG берутся десять уникальных запросов из журнала, но у них только две базовые цели. Настройки генерации одинаковы. Пять копий на защищённой конфигурации дают 200 генераций, плюс 40 базовых и 40 guarded — всего 280 без прогрева.</a:t>
            </a:r>
          </a:p>
          <a:p xmlns:a="http://schemas.openxmlformats.org/drawingml/2006/main">
            <a:r>
              <a:t/>
            </a:r>
          </a:p>
          <a:p xmlns:a="http://schemas.openxmlformats.org/drawingml/2006/main">
            <a:r>
              <a:t>Sources: experiments/data/gcg_evaluation_cases.json; experiments/logs/assignment3/ollama_environment.json; experiments/evaluate_smoothllm.py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новом прогоне прямые запросы дают ноль по лексическому детектору во всех вариантах. Для published suffix результат 70 процентов у базы и у guarded, а со сглаживанием — 10 процентов. Однако многие ответы без фразы отказа — короткие бессодержательные фрагменты. Поэтому это измерение поведения отказа, а не доказательство семидесятипроцентного реального вредного выполнения.</a:t>
            </a:r>
          </a:p>
          <a:p xmlns:a="http://schemas.openxmlformats.org/drawingml/2006/main">
            <a:r>
              <a:t/>
            </a:r>
          </a:p>
          <a:p xmlns:a="http://schemas.openxmlformats.org/drawingml/2006/main">
            <a:r>
              <a:t>Sources: experiments/logs/assignment3/ollama_summary.json; experiments/data/refusal_lexicon.json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Дополнительно Qwen3.5 4B оценивает, помогает ли ответ выполнить исходный вредный запрос. Судье передаётся цель без атакующего суффикса, чтобы уменьшить влияние самой атаки на оценку. Метки harmful, refusal и other сохраняются по каждому случаю. Это автоматическая модельная оценка без независимой человеческой разметки. Если guarded и guarded плюс сглаживание дают по нулю вредных ответов, дополнительное уменьшение реального вреда на этом наборе не доказано.</a:t>
            </a:r>
          </a:p>
          <a:p xmlns:a="http://schemas.openxmlformats.org/drawingml/2006/main">
            <a:r>
              <a:t/>
            </a:r>
          </a:p>
          <a:p xmlns:a="http://schemas.openxmlformats.org/drawingml/2006/main">
            <a:r>
              <a:t>Sources: experiments/judge_outputs.py; experiments/logs/assignment3/judge_summary.json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Обычные задачи нужны, чтобы не выдать отказ на всё за улучшение. Первые простые регулярные выражения пропускали ошибки регистра и числа, поэтому после прогона выполнена открыто задокументированная проверка критериев. Исходные оценки тоже сохранены, ответы не перегенерировались и параметры защиты не подбирались. В уточнённом результате семь успешных задач у базы, семь у guarded и три у сглаживания. Средняя задержка обычного ответа растёт примерно с половины секунды до 2,65 секунды. Это серьёзная цена защиты.</a:t>
            </a:r>
          </a:p>
          <a:p xmlns:a="http://schemas.openxmlformats.org/drawingml/2006/main">
            <a:r>
              <a:t/>
            </a:r>
          </a:p>
          <a:p xmlns:a="http://schemas.openxmlformats.org/drawingml/2006/main">
            <a:r>
              <a:t>Sources: experiments/logs/assignment3/ollama_summary.json; experiments/logs/assignment3/benign_review.json; experiments/review_benign.py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Это дополнительное усиление приложения, отдельное от SmoothLLM. Исходный сервер принимал роль system от браузера. Теперь такая роль отклоняется. Есть лимиты длины и структуры. Тесты выполнялись через HTTP с заглушкой Ollama, поэтому их нельзя называть результатом jailbreak модели. Четыре некорректные схемы раньше вызывали обрыв, теперь все восемь дают контролируемый ответ.</a:t>
            </a:r>
          </a:p>
          <a:p xmlns:a="http://schemas.openxmlformats.org/drawingml/2006/main">
            <a:r>
              <a:t/>
            </a:r>
          </a:p>
          <a:p xmlns:a="http://schemas.openxmlformats.org/drawingml/2006/main">
            <a:r>
              <a:t>Sources: site/safety.py; site/server.py; experiments/logs/assignment3/boundary_summary.json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Можно объяснить решение слоя защиты: сколько кандидатов отказали и какой ответ выбран. Нельзя объяснить внутренние причины генерации Vicuna. Отдельно протестирован 502 при недоступности upstream. Поскольку сервер ждёт пять ответов, первый видимый ответ приходит позже. Таймауты относятся к бездействию отдельных вызовов, а не к общему времени обработки. Ограничений общего числа параллельных запросов пока нет.</a:t>
            </a:r>
          </a:p>
          <a:p xmlns:a="http://schemas.openxmlformats.org/drawingml/2006/main">
            <a:r>
              <a:t/>
            </a:r>
          </a:p>
          <a:p xmlns:a="http://schemas.openxmlformats.org/drawingml/2006/main">
            <a:r>
              <a:t>Sources: site/smoothllm.py; site/server.py; experiments/logs/assignment3/boundary_summary.json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Защита не должна создавать ложную уверенность в правильности ответа. Реальный пример из контроля — после изменений модель заменила 500 книг на 5000. Поэтому редакторская проверка нужна даже при снижении показателя атаки. Предупреждения добавлены в оба интерфейса. Отдельно исправлено описание хранения: localStorage и исследовательские логи сохраняют тексты, хотя сам прокси их не записывает.</a:t>
            </a:r>
          </a:p>
          <a:p xmlns:a="http://schemas.openxmlformats.org/drawingml/2006/main">
            <a:r>
              <a:t/>
            </a:r>
          </a:p>
          <a:p xmlns:a="http://schemas.openxmlformats.org/drawingml/2006/main">
            <a:r>
              <a:t>Sources: site/web/src/components/Chat.jsx; site/web/src/components/ChatPage.jsx; site/web/src/hooks/useConversations.js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Вывод должен соответствовать данным. Второй механизм действительно реализован и уменьшает лексический показатель атаки, но качество обычных задач ухудшается, а вредность относительно guarded на данном наборе не уменьшается доказуемо. Ограничения: маленькие наборы, один seed, одна модель и квантование, лимит 96 токенов, несовершенные детекторы. Дальше нужны отдельный набор калибровки, семантическая переработка вместо случайных символов и независимая разметка.</a:t>
            </a:r>
          </a:p>
          <a:p xmlns:a="http://schemas.openxmlformats.org/drawingml/2006/main">
            <a:r>
              <a:t/>
            </a:r>
          </a:p>
          <a:p xmlns:a="http://schemas.openxmlformats.org/drawingml/2006/main">
            <a:r>
              <a:t>Sources: experiments/logs/assignment3/ollama_summary.json; judge_summary.json; benign_review.json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Новый эксперимент воспроизводится стандартным Python: evaluate_smoothllm.py использует уже сохранённые входы и локальную Ollama. Ответы и сводки находятся в experiments/logs/assignment3. Скрипт продолжает пропущенные случаи, а для независимого повтора старый файл результатов нужно переименовать. Отдельно запускаются judge_outputs.py, review_benign.py и HTTP-тесты. Полный порядок есть в README. Помощь Codex раскрыта в декларации.</a:t>
            </a:r>
          </a:p>
          <a:p xmlns:a="http://schemas.openxmlformats.org/drawingml/2006/main">
            <a:r>
              <a:t/>
            </a:r>
          </a:p>
          <a:p xmlns:a="http://schemas.openxmlformats.org/drawingml/2006/main">
            <a:r>
              <a:t>Sources: README.md; AI_USE_DECLARATION.md; experiments/evaluate_smoothllm.py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7d46c8fdbea4a2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55ab1e3d29422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6ed3009a6c461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d9006df4c7464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3c70a3ec26847c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23916bf6b240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8A47AB-0685-4E97-8763-EA1802777E4D}"/>
              </a:ext>
            </a:extLst>
          </p:cNvPr>
          <p:cNvSpPr>
            <a:spLocks xmlns:a="http://schemas.openxmlformats.org/drawingml/2006/main" noGrp="1"/>
          </p:cNvSpPr>
          <p:nvPr>
            <p:ph type="title" idx="0"/>
          </p:nvPr>
        </p:nvSpPr>
        <p:spPr>
          <a:xfrm xmlns:a="http://schemas.openxmlformats.org/drawingml/2006/main">
            <a:off x="914400" y="2590800"/>
            <a:ext cx="73152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gn="ctr">
              <a:lnSpc>
                <a:spcPct val="110000"/>
              </a:lnSpc>
              <a:spcBef>
                <a:spcPts val="0"/>
              </a:spcBef>
              <a:spcAft>
                <a:spcPts val="0"/>
              </a:spcAft>
              <a:buNone/>
              <a:defRPr sz="3600" b="1">
                <a:solidFill>
                  <a:schemeClr val="tx1"/>
                </a:solidFill>
                <a:latin typeface="+mj-lt"/>
                <a:ea typeface="+mj-lt"/>
                <a:cs typeface="+mj-lt"/>
              </a:defRPr>
            </a:lvl1pPr>
            <a:lvl2pPr marL="0" indent="0" algn="ctr">
              <a:lnSpc>
                <a:spcPct val="110000"/>
              </a:lnSpc>
              <a:spcBef>
                <a:spcPts val="0"/>
              </a:spcBef>
              <a:spcAft>
                <a:spcPts val="0"/>
              </a:spcAft>
              <a:buNone/>
              <a:defRPr sz="3600" b="1">
                <a:solidFill>
                  <a:schemeClr val="tx1"/>
                </a:solidFill>
                <a:latin typeface="+mj-lt"/>
                <a:ea typeface="+mj-lt"/>
                <a:cs typeface="+mj-lt"/>
              </a:defRPr>
            </a:lvl2pPr>
            <a:lvl3pPr marL="0" indent="0" algn="ctr">
              <a:lnSpc>
                <a:spcPct val="110000"/>
              </a:lnSpc>
              <a:spcBef>
                <a:spcPts val="0"/>
              </a:spcBef>
              <a:spcAft>
                <a:spcPts val="0"/>
              </a:spcAft>
              <a:buNone/>
              <a:defRPr sz="3600" b="1">
                <a:solidFill>
                  <a:schemeClr val="tx1"/>
                </a:solidFill>
                <a:latin typeface="+mj-lt"/>
                <a:ea typeface="+mj-lt"/>
                <a:cs typeface="+mj-lt"/>
              </a:defRPr>
            </a:lvl3pPr>
            <a:lvl4pPr marL="0" indent="0" algn="ctr">
              <a:lnSpc>
                <a:spcPct val="110000"/>
              </a:lnSpc>
              <a:spcBef>
                <a:spcPts val="0"/>
              </a:spcBef>
              <a:spcAft>
                <a:spcPts val="0"/>
              </a:spcAft>
              <a:buNone/>
              <a:defRPr sz="3600" b="1">
                <a:solidFill>
                  <a:schemeClr val="tx1"/>
                </a:solidFill>
                <a:latin typeface="+mj-lt"/>
                <a:ea typeface="+mj-lt"/>
                <a:cs typeface="+mj-lt"/>
              </a:defRPr>
            </a:lvl4pPr>
            <a:lvl5pPr marL="0" indent="0" algn="ctr">
              <a:lnSpc>
                <a:spcPct val="110000"/>
              </a:lnSpc>
              <a:spcBef>
                <a:spcPts val="0"/>
              </a:spcBef>
              <a:spcAft>
                <a:spcPts val="0"/>
              </a:spcAft>
              <a:buNone/>
              <a:defRPr sz="3600" b="1">
                <a:solidFill>
                  <a:schemeClr val="tx1"/>
                </a:solidFill>
                <a:latin typeface="+mj-lt"/>
                <a:ea typeface="+mj-lt"/>
                <a:cs typeface="+mj-lt"/>
              </a:defRPr>
            </a:lvl5pPr>
            <a:lvl6pPr marL="0" indent="0" algn="ctr">
              <a:lnSpc>
                <a:spcPct val="110000"/>
              </a:lnSpc>
              <a:spcBef>
                <a:spcPts val="0"/>
              </a:spcBef>
              <a:spcAft>
                <a:spcPts val="0"/>
              </a:spcAft>
              <a:buNone/>
              <a:defRPr sz="3600" b="1">
                <a:solidFill>
                  <a:schemeClr val="tx1"/>
                </a:solidFill>
                <a:latin typeface="+mj-lt"/>
                <a:ea typeface="+mj-lt"/>
                <a:cs typeface="+mj-lt"/>
              </a:defRPr>
            </a:lvl6pPr>
            <a:lvl7pPr marL="0" indent="0" algn="ctr">
              <a:lnSpc>
                <a:spcPct val="110000"/>
              </a:lnSpc>
              <a:spcBef>
                <a:spcPts val="0"/>
              </a:spcBef>
              <a:spcAft>
                <a:spcPts val="0"/>
              </a:spcAft>
              <a:buNone/>
              <a:defRPr sz="3600" b="1">
                <a:solidFill>
                  <a:schemeClr val="tx1"/>
                </a:solidFill>
                <a:latin typeface="+mj-lt"/>
                <a:ea typeface="+mj-lt"/>
                <a:cs typeface="+mj-lt"/>
              </a:defRPr>
            </a:lvl7pPr>
            <a:lvl8pPr marL="0" indent="0" algn="ctr">
              <a:lnSpc>
                <a:spcPct val="110000"/>
              </a:lnSpc>
              <a:spcBef>
                <a:spcPts val="0"/>
              </a:spcBef>
              <a:spcAft>
                <a:spcPts val="0"/>
              </a:spcAft>
              <a:buNone/>
              <a:defRPr sz="3600" b="1">
                <a:solidFill>
                  <a:schemeClr val="tx1"/>
                </a:solidFill>
                <a:latin typeface="+mj-lt"/>
                <a:ea typeface="+mj-lt"/>
                <a:cs typeface="+mj-lt"/>
              </a:defRPr>
            </a:lvl8pPr>
            <a:lvl9pPr marL="0" indent="0" algn="ctr">
              <a:lnSpc>
                <a:spcPct val="110000"/>
              </a:lnSpc>
              <a:spcBef>
                <a:spcPts val="0"/>
              </a:spcBef>
              <a:spcAft>
                <a:spcPts val="0"/>
              </a:spcAft>
              <a:buNone/>
              <a:defRPr sz="36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FC64A40-2FB3-41F8-8819-E7B29FF0C941}"/>
              </a:ext>
            </a:extLst>
          </p:cNvPr>
          <p:cNvSpPr>
            <a:spLocks xmlns:a="http://schemas.openxmlformats.org/drawingml/2006/main" noGrp="1"/>
          </p:cNvSpPr>
          <p:nvPr>
            <p:ph type="subTitle" idx="1"/>
          </p:nvPr>
        </p:nvSpPr>
        <p:spPr>
          <a:xfrm xmlns:a="http://schemas.openxmlformats.org/drawingml/2006/main">
            <a:off x="1371600" y="3771900"/>
            <a:ext cx="64008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gn="ctr">
              <a:lnSpc>
                <a:spcPct val="110000"/>
              </a:lnSpc>
              <a:spcBef>
                <a:spcPts val="0"/>
              </a:spcBef>
              <a:spcAft>
                <a:spcPts val="0"/>
              </a:spcAft>
              <a:buNone/>
              <a:defRPr sz="1575" b="0">
                <a:solidFill>
                  <a:schemeClr val="tx1"/>
                </a:solidFill>
                <a:latin typeface="+mn-lt"/>
                <a:ea typeface="+mn-lt"/>
                <a:cs typeface="+mn-lt"/>
              </a:defRPr>
            </a:lvl1pPr>
            <a:lvl2pPr marL="0" indent="0" algn="ctr">
              <a:lnSpc>
                <a:spcPct val="110000"/>
              </a:lnSpc>
              <a:spcBef>
                <a:spcPts val="0"/>
              </a:spcBef>
              <a:spcAft>
                <a:spcPts val="0"/>
              </a:spcAft>
              <a:buNone/>
              <a:defRPr sz="1575" b="0">
                <a:solidFill>
                  <a:schemeClr val="tx1"/>
                </a:solidFill>
                <a:latin typeface="+mn-lt"/>
                <a:ea typeface="+mn-lt"/>
                <a:cs typeface="+mn-lt"/>
              </a:defRPr>
            </a:lvl2pPr>
            <a:lvl3pPr marL="0" indent="0" algn="ctr">
              <a:lnSpc>
                <a:spcPct val="110000"/>
              </a:lnSpc>
              <a:spcBef>
                <a:spcPts val="0"/>
              </a:spcBef>
              <a:spcAft>
                <a:spcPts val="0"/>
              </a:spcAft>
              <a:buNone/>
              <a:defRPr sz="1575" b="0">
                <a:solidFill>
                  <a:schemeClr val="tx1"/>
                </a:solidFill>
                <a:latin typeface="+mn-lt"/>
                <a:ea typeface="+mn-lt"/>
                <a:cs typeface="+mn-lt"/>
              </a:defRPr>
            </a:lvl3pPr>
            <a:lvl4pPr marL="0" indent="0" algn="ctr">
              <a:lnSpc>
                <a:spcPct val="110000"/>
              </a:lnSpc>
              <a:spcBef>
                <a:spcPts val="0"/>
              </a:spcBef>
              <a:spcAft>
                <a:spcPts val="0"/>
              </a:spcAft>
              <a:buNone/>
              <a:defRPr sz="1575" b="0">
                <a:solidFill>
                  <a:schemeClr val="tx1"/>
                </a:solidFill>
                <a:latin typeface="+mn-lt"/>
                <a:ea typeface="+mn-lt"/>
                <a:cs typeface="+mn-lt"/>
              </a:defRPr>
            </a:lvl4pPr>
            <a:lvl5pPr marL="0" indent="0" algn="ctr">
              <a:lnSpc>
                <a:spcPct val="110000"/>
              </a:lnSpc>
              <a:spcBef>
                <a:spcPts val="0"/>
              </a:spcBef>
              <a:spcAft>
                <a:spcPts val="0"/>
              </a:spcAft>
              <a:buNone/>
              <a:defRPr sz="1575" b="0">
                <a:solidFill>
                  <a:schemeClr val="tx1"/>
                </a:solidFill>
                <a:latin typeface="+mn-lt"/>
                <a:ea typeface="+mn-lt"/>
                <a:cs typeface="+mn-lt"/>
              </a:defRPr>
            </a:lvl5pPr>
            <a:lvl6pPr marL="0" indent="0" algn="ctr">
              <a:lnSpc>
                <a:spcPct val="110000"/>
              </a:lnSpc>
              <a:spcBef>
                <a:spcPts val="0"/>
              </a:spcBef>
              <a:spcAft>
                <a:spcPts val="0"/>
              </a:spcAft>
              <a:buNone/>
              <a:defRPr sz="1575" b="0">
                <a:solidFill>
                  <a:schemeClr val="tx1"/>
                </a:solidFill>
                <a:latin typeface="+mn-lt"/>
                <a:ea typeface="+mn-lt"/>
                <a:cs typeface="+mn-lt"/>
              </a:defRPr>
            </a:lvl6pPr>
            <a:lvl7pPr marL="0" indent="0" algn="ctr">
              <a:lnSpc>
                <a:spcPct val="110000"/>
              </a:lnSpc>
              <a:spcBef>
                <a:spcPts val="0"/>
              </a:spcBef>
              <a:spcAft>
                <a:spcPts val="0"/>
              </a:spcAft>
              <a:buNone/>
              <a:defRPr sz="1575" b="0">
                <a:solidFill>
                  <a:schemeClr val="tx1"/>
                </a:solidFill>
                <a:latin typeface="+mn-lt"/>
                <a:ea typeface="+mn-lt"/>
                <a:cs typeface="+mn-lt"/>
              </a:defRPr>
            </a:lvl7pPr>
            <a:lvl8pPr marL="0" indent="0" algn="ctr">
              <a:lnSpc>
                <a:spcPct val="110000"/>
              </a:lnSpc>
              <a:spcBef>
                <a:spcPts val="0"/>
              </a:spcBef>
              <a:spcAft>
                <a:spcPts val="0"/>
              </a:spcAft>
              <a:buNone/>
              <a:defRPr sz="1575" b="0">
                <a:solidFill>
                  <a:schemeClr val="tx1"/>
                </a:solidFill>
                <a:latin typeface="+mn-lt"/>
                <a:ea typeface="+mn-lt"/>
                <a:cs typeface="+mn-lt"/>
              </a:defRPr>
            </a:lvl8pPr>
            <a:lvl9pPr marL="0" indent="0" algn="ctr">
              <a:lnSpc>
                <a:spcPct val="110000"/>
              </a:lnSpc>
              <a:spcBef>
                <a:spcPts val="0"/>
              </a:spcBef>
              <a:spcAft>
                <a:spcPts val="0"/>
              </a:spcAft>
              <a:buNone/>
              <a:defRPr sz="157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C9837FA-A44C-4ADA-8029-FC39AEAA4DC3}"/>
              </a:ext>
            </a:extLst>
          </p:cNvPr>
          <p:cNvSpPr>
            <a:spLocks xmlns:a="http://schemas.openxmlformats.org/drawingml/2006/main" noGrp="1"/>
          </p:cNvSpPr>
          <p:nvPr>
            <p:ph type="title" idx="0"/>
          </p:nvPr>
        </p:nvSpPr>
        <p:spPr>
          <a:xfrm xmlns:a="http://schemas.openxmlformats.org/drawingml/2006/main">
            <a:off x="914400" y="2857500"/>
            <a:ext cx="73152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gn="ctr">
              <a:lnSpc>
                <a:spcPct val="110000"/>
              </a:lnSpc>
              <a:spcBef>
                <a:spcPts val="0"/>
              </a:spcBef>
              <a:spcAft>
                <a:spcPts val="0"/>
              </a:spcAft>
              <a:buNone/>
              <a:defRPr sz="3150" b="1">
                <a:solidFill>
                  <a:schemeClr val="tx1"/>
                </a:solidFill>
                <a:latin typeface="+mj-lt"/>
                <a:ea typeface="+mj-lt"/>
                <a:cs typeface="+mj-lt"/>
              </a:defRPr>
            </a:lvl1pPr>
            <a:lvl2pPr marL="0" indent="0" algn="ctr">
              <a:lnSpc>
                <a:spcPct val="110000"/>
              </a:lnSpc>
              <a:spcBef>
                <a:spcPts val="0"/>
              </a:spcBef>
              <a:spcAft>
                <a:spcPts val="0"/>
              </a:spcAft>
              <a:buNone/>
              <a:defRPr sz="3150" b="1">
                <a:solidFill>
                  <a:schemeClr val="tx1"/>
                </a:solidFill>
                <a:latin typeface="+mj-lt"/>
                <a:ea typeface="+mj-lt"/>
                <a:cs typeface="+mj-lt"/>
              </a:defRPr>
            </a:lvl2pPr>
            <a:lvl3pPr marL="0" indent="0" algn="ctr">
              <a:lnSpc>
                <a:spcPct val="110000"/>
              </a:lnSpc>
              <a:spcBef>
                <a:spcPts val="0"/>
              </a:spcBef>
              <a:spcAft>
                <a:spcPts val="0"/>
              </a:spcAft>
              <a:buNone/>
              <a:defRPr sz="3150" b="1">
                <a:solidFill>
                  <a:schemeClr val="tx1"/>
                </a:solidFill>
                <a:latin typeface="+mj-lt"/>
                <a:ea typeface="+mj-lt"/>
                <a:cs typeface="+mj-lt"/>
              </a:defRPr>
            </a:lvl3pPr>
            <a:lvl4pPr marL="0" indent="0" algn="ctr">
              <a:lnSpc>
                <a:spcPct val="110000"/>
              </a:lnSpc>
              <a:spcBef>
                <a:spcPts val="0"/>
              </a:spcBef>
              <a:spcAft>
                <a:spcPts val="0"/>
              </a:spcAft>
              <a:buNone/>
              <a:defRPr sz="3150" b="1">
                <a:solidFill>
                  <a:schemeClr val="tx1"/>
                </a:solidFill>
                <a:latin typeface="+mj-lt"/>
                <a:ea typeface="+mj-lt"/>
                <a:cs typeface="+mj-lt"/>
              </a:defRPr>
            </a:lvl4pPr>
            <a:lvl5pPr marL="0" indent="0" algn="ctr">
              <a:lnSpc>
                <a:spcPct val="110000"/>
              </a:lnSpc>
              <a:spcBef>
                <a:spcPts val="0"/>
              </a:spcBef>
              <a:spcAft>
                <a:spcPts val="0"/>
              </a:spcAft>
              <a:buNone/>
              <a:defRPr sz="3150" b="1">
                <a:solidFill>
                  <a:schemeClr val="tx1"/>
                </a:solidFill>
                <a:latin typeface="+mj-lt"/>
                <a:ea typeface="+mj-lt"/>
                <a:cs typeface="+mj-lt"/>
              </a:defRPr>
            </a:lvl5pPr>
            <a:lvl6pPr marL="0" indent="0" algn="ctr">
              <a:lnSpc>
                <a:spcPct val="110000"/>
              </a:lnSpc>
              <a:spcBef>
                <a:spcPts val="0"/>
              </a:spcBef>
              <a:spcAft>
                <a:spcPts val="0"/>
              </a:spcAft>
              <a:buNone/>
              <a:defRPr sz="3150" b="1">
                <a:solidFill>
                  <a:schemeClr val="tx1"/>
                </a:solidFill>
                <a:latin typeface="+mj-lt"/>
                <a:ea typeface="+mj-lt"/>
                <a:cs typeface="+mj-lt"/>
              </a:defRPr>
            </a:lvl6pPr>
            <a:lvl7pPr marL="0" indent="0" algn="ctr">
              <a:lnSpc>
                <a:spcPct val="110000"/>
              </a:lnSpc>
              <a:spcBef>
                <a:spcPts val="0"/>
              </a:spcBef>
              <a:spcAft>
                <a:spcPts val="0"/>
              </a:spcAft>
              <a:buNone/>
              <a:defRPr sz="3150" b="1">
                <a:solidFill>
                  <a:schemeClr val="tx1"/>
                </a:solidFill>
                <a:latin typeface="+mj-lt"/>
                <a:ea typeface="+mj-lt"/>
                <a:cs typeface="+mj-lt"/>
              </a:defRPr>
            </a:lvl7pPr>
            <a:lvl8pPr marL="0" indent="0" algn="ctr">
              <a:lnSpc>
                <a:spcPct val="110000"/>
              </a:lnSpc>
              <a:spcBef>
                <a:spcPts val="0"/>
              </a:spcBef>
              <a:spcAft>
                <a:spcPts val="0"/>
              </a:spcAft>
              <a:buNone/>
              <a:defRPr sz="3150" b="1">
                <a:solidFill>
                  <a:schemeClr val="tx1"/>
                </a:solidFill>
                <a:latin typeface="+mj-lt"/>
                <a:ea typeface="+mj-lt"/>
                <a:cs typeface="+mj-lt"/>
              </a:defRPr>
            </a:lvl8pPr>
            <a:lvl9pPr marL="0" indent="0" algn="ctr">
              <a:lnSpc>
                <a:spcPct val="110000"/>
              </a:lnSpc>
              <a:spcBef>
                <a:spcPts val="0"/>
              </a:spcBef>
              <a:spcAft>
                <a:spcPts val="0"/>
              </a:spcAft>
              <a:buNone/>
              <a:defRPr sz="31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4D14AF-632D-4383-8AA3-2CBDC0E28F56}"/>
              </a:ext>
            </a:extLst>
          </p:cNvPr>
          <p:cNvSpPr>
            <a:spLocks xmlns:a="http://schemas.openxmlformats.org/drawingml/2006/main" noGrp="1"/>
          </p:cNvSpPr>
          <p:nvPr>
            <p:ph type="title" idx="0"/>
          </p:nvPr>
        </p:nvSpPr>
        <p:spPr>
          <a:xfrm xmlns:a="http://schemas.openxmlformats.org/drawingml/2006/main">
            <a:off x="514350" y="533400"/>
            <a:ext cx="81153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026E9A3-3191-4564-823B-210ED6506A3A}"/>
              </a:ext>
            </a:extLst>
          </p:cNvPr>
          <p:cNvSpPr>
            <a:spLocks xmlns:a="http://schemas.openxmlformats.org/drawingml/2006/main" noGrp="1"/>
          </p:cNvSpPr>
          <p:nvPr>
            <p:ph type="body" idx="1"/>
          </p:nvPr>
        </p:nvSpPr>
        <p:spPr>
          <a:xfrm xmlns:a="http://schemas.openxmlformats.org/drawingml/2006/main">
            <a:off x="514350" y="1905000"/>
            <a:ext cx="81153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A587C9E-64A9-4CBE-B1AE-32615EC540D7}"/>
              </a:ext>
            </a:extLst>
          </p:cNvPr>
          <p:cNvSpPr>
            <a:spLocks xmlns:a="http://schemas.openxmlformats.org/drawingml/2006/main" noGrp="1"/>
          </p:cNvSpPr>
          <p:nvPr>
            <p:ph type="title" idx="0"/>
          </p:nvPr>
        </p:nvSpPr>
        <p:spPr>
          <a:xfrm xmlns:a="http://schemas.openxmlformats.org/drawingml/2006/main">
            <a:off x="514350" y="533400"/>
            <a:ext cx="81153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F61820-CE30-4B6E-AC8E-A12AF7D6B69B}"/>
              </a:ext>
            </a:extLst>
          </p:cNvPr>
          <p:cNvSpPr>
            <a:spLocks xmlns:a="http://schemas.openxmlformats.org/drawingml/2006/main" noGrp="1"/>
          </p:cNvSpPr>
          <p:nvPr>
            <p:ph type="body" idx="1"/>
          </p:nvPr>
        </p:nvSpPr>
        <p:spPr>
          <a:xfrm xmlns:a="http://schemas.openxmlformats.org/drawingml/2006/main">
            <a:off x="514350" y="1905000"/>
            <a:ext cx="37719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C9365E5-370F-4BA3-966F-B07D23054564}"/>
              </a:ext>
            </a:extLst>
          </p:cNvPr>
          <p:cNvSpPr>
            <a:spLocks xmlns:a="http://schemas.openxmlformats.org/drawingml/2006/main" noGrp="1"/>
          </p:cNvSpPr>
          <p:nvPr>
            <p:ph type="body" idx="2"/>
          </p:nvPr>
        </p:nvSpPr>
        <p:spPr>
          <a:xfrm xmlns:a="http://schemas.openxmlformats.org/drawingml/2006/main">
            <a:off x="4857750" y="1905000"/>
            <a:ext cx="37719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gn="l">
              <a:lnSpc>
                <a:spcPct val="110000"/>
              </a:lnSpc>
              <a:spcBef>
                <a:spcPts val="0"/>
              </a:spcBef>
              <a:spcAft>
                <a:spcPts val="900"/>
              </a:spcAft>
              <a:buChar char="•"/>
              <a:defRPr sz="1575" b="0">
                <a:solidFill>
                  <a:schemeClr val="tx1"/>
                </a:solidFill>
                <a:latin typeface="+mn-lt"/>
                <a:ea typeface="+mn-lt"/>
                <a:cs typeface="+mn-lt"/>
              </a:defRPr>
            </a:lvl1pPr>
            <a:lvl2pPr marL="400050" indent="-171450" algn="l">
              <a:lnSpc>
                <a:spcPct val="110000"/>
              </a:lnSpc>
              <a:spcBef>
                <a:spcPts val="0"/>
              </a:spcBef>
              <a:spcAft>
                <a:spcPts val="900"/>
              </a:spcAft>
              <a:buChar char="•"/>
              <a:defRPr sz="1575" b="0">
                <a:solidFill>
                  <a:schemeClr val="tx1"/>
                </a:solidFill>
                <a:latin typeface="+mn-lt"/>
                <a:ea typeface="+mn-lt"/>
                <a:cs typeface="+mn-lt"/>
              </a:defRPr>
            </a:lvl2pPr>
            <a:lvl3pPr marL="628650" indent="-171450" algn="l">
              <a:lnSpc>
                <a:spcPct val="110000"/>
              </a:lnSpc>
              <a:spcBef>
                <a:spcPts val="0"/>
              </a:spcBef>
              <a:spcAft>
                <a:spcPts val="900"/>
              </a:spcAft>
              <a:buChar char="•"/>
              <a:defRPr sz="1575" b="0">
                <a:solidFill>
                  <a:schemeClr val="tx1"/>
                </a:solidFill>
                <a:latin typeface="+mn-lt"/>
                <a:ea typeface="+mn-lt"/>
                <a:cs typeface="+mn-lt"/>
              </a:defRPr>
            </a:lvl3pPr>
            <a:lvl4pPr marL="857250" indent="-171450" algn="l">
              <a:lnSpc>
                <a:spcPct val="110000"/>
              </a:lnSpc>
              <a:spcBef>
                <a:spcPts val="0"/>
              </a:spcBef>
              <a:spcAft>
                <a:spcPts val="900"/>
              </a:spcAft>
              <a:buChar char="•"/>
              <a:defRPr sz="1575" b="0">
                <a:solidFill>
                  <a:schemeClr val="tx1"/>
                </a:solidFill>
                <a:latin typeface="+mn-lt"/>
                <a:ea typeface="+mn-lt"/>
                <a:cs typeface="+mn-lt"/>
              </a:defRPr>
            </a:lvl4pPr>
            <a:lvl5pPr marL="1085850" indent="-171450" algn="l">
              <a:lnSpc>
                <a:spcPct val="110000"/>
              </a:lnSpc>
              <a:spcBef>
                <a:spcPts val="0"/>
              </a:spcBef>
              <a:spcAft>
                <a:spcPts val="900"/>
              </a:spcAft>
              <a:buChar char="•"/>
              <a:defRPr sz="1575" b="0">
                <a:solidFill>
                  <a:schemeClr val="tx1"/>
                </a:solidFill>
                <a:latin typeface="+mn-lt"/>
                <a:ea typeface="+mn-lt"/>
                <a:cs typeface="+mn-lt"/>
              </a:defRPr>
            </a:lvl5pPr>
            <a:lvl6pPr marL="1314450" indent="-171450" algn="l">
              <a:lnSpc>
                <a:spcPct val="110000"/>
              </a:lnSpc>
              <a:spcBef>
                <a:spcPts val="0"/>
              </a:spcBef>
              <a:spcAft>
                <a:spcPts val="900"/>
              </a:spcAft>
              <a:buChar char="•"/>
              <a:defRPr sz="1575" b="0">
                <a:solidFill>
                  <a:schemeClr val="tx1"/>
                </a:solidFill>
                <a:latin typeface="+mn-lt"/>
                <a:ea typeface="+mn-lt"/>
                <a:cs typeface="+mn-lt"/>
              </a:defRPr>
            </a:lvl6pPr>
            <a:lvl7pPr marL="1543050" indent="-171450" algn="l">
              <a:lnSpc>
                <a:spcPct val="110000"/>
              </a:lnSpc>
              <a:spcBef>
                <a:spcPts val="0"/>
              </a:spcBef>
              <a:spcAft>
                <a:spcPts val="900"/>
              </a:spcAft>
              <a:buChar char="•"/>
              <a:defRPr sz="1575" b="0">
                <a:solidFill>
                  <a:schemeClr val="tx1"/>
                </a:solidFill>
                <a:latin typeface="+mn-lt"/>
                <a:ea typeface="+mn-lt"/>
                <a:cs typeface="+mn-lt"/>
              </a:defRPr>
            </a:lvl7pPr>
            <a:lvl8pPr marL="1771650" indent="-171450" algn="l">
              <a:lnSpc>
                <a:spcPct val="110000"/>
              </a:lnSpc>
              <a:spcBef>
                <a:spcPts val="0"/>
              </a:spcBef>
              <a:spcAft>
                <a:spcPts val="900"/>
              </a:spcAft>
              <a:buChar char="•"/>
              <a:defRPr sz="1575" b="0">
                <a:solidFill>
                  <a:schemeClr val="tx1"/>
                </a:solidFill>
                <a:latin typeface="+mn-lt"/>
                <a:ea typeface="+mn-lt"/>
                <a:cs typeface="+mn-lt"/>
              </a:defRPr>
            </a:lvl8pPr>
            <a:lvl9pPr marL="2000250" indent="-171450" algn="l">
              <a:lnSpc>
                <a:spcPct val="110000"/>
              </a:lnSpc>
              <a:spcBef>
                <a:spcPts val="0"/>
              </a:spcBef>
              <a:spcAft>
                <a:spcPts val="900"/>
              </a:spcAft>
              <a:buChar char="•"/>
              <a:defRPr sz="157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B4B188-C954-4714-84CC-211DBF0196CB}"/>
              </a:ext>
            </a:extLst>
          </p:cNvPr>
          <p:cNvSpPr>
            <a:spLocks xmlns:a="http://schemas.openxmlformats.org/drawingml/2006/main" noGrp="1"/>
          </p:cNvSpPr>
          <p:nvPr>
            <p:ph type="title" idx="0"/>
          </p:nvPr>
        </p:nvSpPr>
        <p:spPr>
          <a:xfrm xmlns:a="http://schemas.openxmlformats.org/drawingml/2006/main">
            <a:off x="514350" y="533400"/>
            <a:ext cx="81153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gn="l">
              <a:lnSpc>
                <a:spcPct val="110000"/>
              </a:lnSpc>
              <a:spcBef>
                <a:spcPts val="0"/>
              </a:spcBef>
              <a:spcAft>
                <a:spcPts val="0"/>
              </a:spcAft>
              <a:buNone/>
              <a:defRPr sz="2475" b="1">
                <a:solidFill>
                  <a:schemeClr val="tx1"/>
                </a:solidFill>
                <a:latin typeface="+mj-lt"/>
                <a:ea typeface="+mj-lt"/>
                <a:cs typeface="+mj-lt"/>
              </a:defRPr>
            </a:lvl1pPr>
            <a:lvl2pPr marL="0" indent="0" algn="l">
              <a:lnSpc>
                <a:spcPct val="110000"/>
              </a:lnSpc>
              <a:spcBef>
                <a:spcPts val="0"/>
              </a:spcBef>
              <a:spcAft>
                <a:spcPts val="0"/>
              </a:spcAft>
              <a:buNone/>
              <a:defRPr sz="2475" b="1">
                <a:solidFill>
                  <a:schemeClr val="tx1"/>
                </a:solidFill>
                <a:latin typeface="+mj-lt"/>
                <a:ea typeface="+mj-lt"/>
                <a:cs typeface="+mj-lt"/>
              </a:defRPr>
            </a:lvl2pPr>
            <a:lvl3pPr marL="0" indent="0" algn="l">
              <a:lnSpc>
                <a:spcPct val="110000"/>
              </a:lnSpc>
              <a:spcBef>
                <a:spcPts val="0"/>
              </a:spcBef>
              <a:spcAft>
                <a:spcPts val="0"/>
              </a:spcAft>
              <a:buNone/>
              <a:defRPr sz="2475" b="1">
                <a:solidFill>
                  <a:schemeClr val="tx1"/>
                </a:solidFill>
                <a:latin typeface="+mj-lt"/>
                <a:ea typeface="+mj-lt"/>
                <a:cs typeface="+mj-lt"/>
              </a:defRPr>
            </a:lvl3pPr>
            <a:lvl4pPr marL="0" indent="0" algn="l">
              <a:lnSpc>
                <a:spcPct val="110000"/>
              </a:lnSpc>
              <a:spcBef>
                <a:spcPts val="0"/>
              </a:spcBef>
              <a:spcAft>
                <a:spcPts val="0"/>
              </a:spcAft>
              <a:buNone/>
              <a:defRPr sz="2475" b="1">
                <a:solidFill>
                  <a:schemeClr val="tx1"/>
                </a:solidFill>
                <a:latin typeface="+mj-lt"/>
                <a:ea typeface="+mj-lt"/>
                <a:cs typeface="+mj-lt"/>
              </a:defRPr>
            </a:lvl4pPr>
            <a:lvl5pPr marL="0" indent="0" algn="l">
              <a:lnSpc>
                <a:spcPct val="110000"/>
              </a:lnSpc>
              <a:spcBef>
                <a:spcPts val="0"/>
              </a:spcBef>
              <a:spcAft>
                <a:spcPts val="0"/>
              </a:spcAft>
              <a:buNone/>
              <a:defRPr sz="2475" b="1">
                <a:solidFill>
                  <a:schemeClr val="tx1"/>
                </a:solidFill>
                <a:latin typeface="+mj-lt"/>
                <a:ea typeface="+mj-lt"/>
                <a:cs typeface="+mj-lt"/>
              </a:defRPr>
            </a:lvl5pPr>
            <a:lvl6pPr marL="0" indent="0" algn="l">
              <a:lnSpc>
                <a:spcPct val="110000"/>
              </a:lnSpc>
              <a:spcBef>
                <a:spcPts val="0"/>
              </a:spcBef>
              <a:spcAft>
                <a:spcPts val="0"/>
              </a:spcAft>
              <a:buNone/>
              <a:defRPr sz="2475" b="1">
                <a:solidFill>
                  <a:schemeClr val="tx1"/>
                </a:solidFill>
                <a:latin typeface="+mj-lt"/>
                <a:ea typeface="+mj-lt"/>
                <a:cs typeface="+mj-lt"/>
              </a:defRPr>
            </a:lvl6pPr>
            <a:lvl7pPr marL="0" indent="0" algn="l">
              <a:lnSpc>
                <a:spcPct val="110000"/>
              </a:lnSpc>
              <a:spcBef>
                <a:spcPts val="0"/>
              </a:spcBef>
              <a:spcAft>
                <a:spcPts val="0"/>
              </a:spcAft>
              <a:buNone/>
              <a:defRPr sz="2475" b="1">
                <a:solidFill>
                  <a:schemeClr val="tx1"/>
                </a:solidFill>
                <a:latin typeface="+mj-lt"/>
                <a:ea typeface="+mj-lt"/>
                <a:cs typeface="+mj-lt"/>
              </a:defRPr>
            </a:lvl7pPr>
            <a:lvl8pPr marL="0" indent="0" algn="l">
              <a:lnSpc>
                <a:spcPct val="110000"/>
              </a:lnSpc>
              <a:spcBef>
                <a:spcPts val="0"/>
              </a:spcBef>
              <a:spcAft>
                <a:spcPts val="0"/>
              </a:spcAft>
              <a:buNone/>
              <a:defRPr sz="2475" b="1">
                <a:solidFill>
                  <a:schemeClr val="tx1"/>
                </a:solidFill>
                <a:latin typeface="+mj-lt"/>
                <a:ea typeface="+mj-lt"/>
                <a:cs typeface="+mj-lt"/>
              </a:defRPr>
            </a:lvl8pPr>
            <a:lvl9pPr marL="0" indent="0" algn="l">
              <a:lnSpc>
                <a:spcPct val="110000"/>
              </a:lnSpc>
              <a:spcBef>
                <a:spcPts val="0"/>
              </a:spcBef>
              <a:spcAft>
                <a:spcPts val="0"/>
              </a:spcAft>
              <a:buNone/>
              <a:defRPr sz="247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EB297A-9127-4F57-AC5B-A7DA9DAC2E60}"/>
              </a:ext>
            </a:extLst>
          </p:cNvPr>
          <p:cNvSpPr>
            <a:spLocks xmlns:a="http://schemas.openxmlformats.org/drawingml/2006/main" noGrp="1"/>
          </p:cNvSpPr>
          <p:nvPr>
            <p:ph type="body" idx="1"/>
          </p:nvPr>
        </p:nvSpPr>
        <p:spPr>
          <a:xfrm xmlns:a="http://schemas.openxmlformats.org/drawingml/2006/main">
            <a:off x="514350" y="1905000"/>
            <a:ext cx="37719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gn="l">
              <a:lnSpc>
                <a:spcPct val="110000"/>
              </a:lnSpc>
              <a:spcBef>
                <a:spcPts val="0"/>
              </a:spcBef>
              <a:spcAft>
                <a:spcPts val="900"/>
              </a:spcAft>
              <a:buChar char="•"/>
              <a:defRPr sz="1688" b="0">
                <a:solidFill>
                  <a:schemeClr val="tx1"/>
                </a:solidFill>
                <a:latin typeface="+mn-lt"/>
                <a:ea typeface="+mn-lt"/>
                <a:cs typeface="+mn-lt"/>
              </a:defRPr>
            </a:lvl1pPr>
            <a:lvl2pPr marL="400050" indent="-171450" algn="l">
              <a:lnSpc>
                <a:spcPct val="110000"/>
              </a:lnSpc>
              <a:spcBef>
                <a:spcPts val="0"/>
              </a:spcBef>
              <a:spcAft>
                <a:spcPts val="900"/>
              </a:spcAft>
              <a:buChar char="•"/>
              <a:defRPr sz="1688" b="0">
                <a:solidFill>
                  <a:schemeClr val="tx1"/>
                </a:solidFill>
                <a:latin typeface="+mn-lt"/>
                <a:ea typeface="+mn-lt"/>
                <a:cs typeface="+mn-lt"/>
              </a:defRPr>
            </a:lvl2pPr>
            <a:lvl3pPr marL="628650" indent="-171450" algn="l">
              <a:lnSpc>
                <a:spcPct val="110000"/>
              </a:lnSpc>
              <a:spcBef>
                <a:spcPts val="0"/>
              </a:spcBef>
              <a:spcAft>
                <a:spcPts val="900"/>
              </a:spcAft>
              <a:buChar char="•"/>
              <a:defRPr sz="1688" b="0">
                <a:solidFill>
                  <a:schemeClr val="tx1"/>
                </a:solidFill>
                <a:latin typeface="+mn-lt"/>
                <a:ea typeface="+mn-lt"/>
                <a:cs typeface="+mn-lt"/>
              </a:defRPr>
            </a:lvl3pPr>
            <a:lvl4pPr marL="857250" indent="-171450" algn="l">
              <a:lnSpc>
                <a:spcPct val="110000"/>
              </a:lnSpc>
              <a:spcBef>
                <a:spcPts val="0"/>
              </a:spcBef>
              <a:spcAft>
                <a:spcPts val="900"/>
              </a:spcAft>
              <a:buChar char="•"/>
              <a:defRPr sz="1688" b="0">
                <a:solidFill>
                  <a:schemeClr val="tx1"/>
                </a:solidFill>
                <a:latin typeface="+mn-lt"/>
                <a:ea typeface="+mn-lt"/>
                <a:cs typeface="+mn-lt"/>
              </a:defRPr>
            </a:lvl4pPr>
            <a:lvl5pPr marL="1085850" indent="-171450" algn="l">
              <a:lnSpc>
                <a:spcPct val="110000"/>
              </a:lnSpc>
              <a:spcBef>
                <a:spcPts val="0"/>
              </a:spcBef>
              <a:spcAft>
                <a:spcPts val="900"/>
              </a:spcAft>
              <a:buChar char="•"/>
              <a:defRPr sz="1688" b="0">
                <a:solidFill>
                  <a:schemeClr val="tx1"/>
                </a:solidFill>
                <a:latin typeface="+mn-lt"/>
                <a:ea typeface="+mn-lt"/>
                <a:cs typeface="+mn-lt"/>
              </a:defRPr>
            </a:lvl5pPr>
            <a:lvl6pPr marL="1314450" indent="-171450" algn="l">
              <a:lnSpc>
                <a:spcPct val="110000"/>
              </a:lnSpc>
              <a:spcBef>
                <a:spcPts val="0"/>
              </a:spcBef>
              <a:spcAft>
                <a:spcPts val="900"/>
              </a:spcAft>
              <a:buChar char="•"/>
              <a:defRPr sz="1688" b="0">
                <a:solidFill>
                  <a:schemeClr val="tx1"/>
                </a:solidFill>
                <a:latin typeface="+mn-lt"/>
                <a:ea typeface="+mn-lt"/>
                <a:cs typeface="+mn-lt"/>
              </a:defRPr>
            </a:lvl6pPr>
            <a:lvl7pPr marL="1543050" indent="-171450" algn="l">
              <a:lnSpc>
                <a:spcPct val="110000"/>
              </a:lnSpc>
              <a:spcBef>
                <a:spcPts val="0"/>
              </a:spcBef>
              <a:spcAft>
                <a:spcPts val="900"/>
              </a:spcAft>
              <a:buChar char="•"/>
              <a:defRPr sz="1688" b="0">
                <a:solidFill>
                  <a:schemeClr val="tx1"/>
                </a:solidFill>
                <a:latin typeface="+mn-lt"/>
                <a:ea typeface="+mn-lt"/>
                <a:cs typeface="+mn-lt"/>
              </a:defRPr>
            </a:lvl7pPr>
            <a:lvl8pPr marL="1771650" indent="-171450" algn="l">
              <a:lnSpc>
                <a:spcPct val="110000"/>
              </a:lnSpc>
              <a:spcBef>
                <a:spcPts val="0"/>
              </a:spcBef>
              <a:spcAft>
                <a:spcPts val="900"/>
              </a:spcAft>
              <a:buChar char="•"/>
              <a:defRPr sz="1688" b="0">
                <a:solidFill>
                  <a:schemeClr val="tx1"/>
                </a:solidFill>
                <a:latin typeface="+mn-lt"/>
                <a:ea typeface="+mn-lt"/>
                <a:cs typeface="+mn-lt"/>
              </a:defRPr>
            </a:lvl8pPr>
            <a:lvl9pPr marL="2000250" indent="-171450" algn="l">
              <a:lnSpc>
                <a:spcPct val="110000"/>
              </a:lnSpc>
              <a:spcBef>
                <a:spcPts val="0"/>
              </a:spcBef>
              <a:spcAft>
                <a:spcPts val="900"/>
              </a:spcAft>
              <a:buChar char="•"/>
              <a:defRPr sz="1688"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ffca932d174819" /><Relationship Type="http://schemas.openxmlformats.org/officeDocument/2006/relationships/slideLayout" Target="/ppt/slideLayouts/slideLayout1.xml" Id="R45cccff673004c3e" /><Relationship Type="http://schemas.openxmlformats.org/officeDocument/2006/relationships/slideLayout" Target="/ppt/slideLayouts/slideLayout2.xml" Id="R6702bcd3ba4a410e" /><Relationship Type="http://schemas.openxmlformats.org/officeDocument/2006/relationships/slideLayout" Target="/ppt/slideLayouts/slideLayout3.xml" Id="Rccf9f080c2ac43dd" /><Relationship Type="http://schemas.openxmlformats.org/officeDocument/2006/relationships/slideLayout" Target="/ppt/slideLayouts/slideLayout4.xml" Id="Rba4ba94343bb40ab" /><Relationship Type="http://schemas.openxmlformats.org/officeDocument/2006/relationships/slideLayout" Target="/ppt/slideLayouts/slideLayout5.xml" Id="R4dac5afa23f84b69" /><Relationship Type="http://schemas.openxmlformats.org/officeDocument/2006/relationships/slideLayout" Target="/ppt/slideLayouts/slideLayout6.xml" Id="Rf442c6290f0341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cccff673004c3e"/>
    <p:sldLayoutId xmlns:r="http://schemas.openxmlformats.org/officeDocument/2006/relationships" id="2147483650" r:id="R6702bcd3ba4a410e"/>
    <p:sldLayoutId xmlns:r="http://schemas.openxmlformats.org/officeDocument/2006/relationships" id="2147483651" r:id="Rccf9f080c2ac43dd"/>
    <p:sldLayoutId xmlns:r="http://schemas.openxmlformats.org/officeDocument/2006/relationships" id="2147483652" r:id="Rba4ba94343bb40ab"/>
    <p:sldLayoutId xmlns:r="http://schemas.openxmlformats.org/officeDocument/2006/relationships" id="2147483653" r:id="R4dac5afa23f84b69"/>
    <p:sldLayoutId xmlns:r="http://schemas.openxmlformats.org/officeDocument/2006/relationships" id="2147483654" r:id="Rf442c6290f0341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5663da6a1a944fa" /><Relationship Type="http://schemas.openxmlformats.org/officeDocument/2006/relationships/notesSlide" Target="/ppt/notesSlides/notesSlide1.xml" Id="R9d2fb4aac8df42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41dd3a0713344fe" /><Relationship Type="http://schemas.openxmlformats.org/officeDocument/2006/relationships/notesSlide" Target="/ppt/notesSlides/notesSlide2.xml" Id="R9af6f15e50be43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6f02fe7591348fd" /><Relationship Type="http://schemas.openxmlformats.org/officeDocument/2006/relationships/notesSlide" Target="/ppt/notesSlides/notesSlide3.xml" Id="R9194104e0b3444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32b2e5f0eba42cd" /><Relationship Type="http://schemas.openxmlformats.org/officeDocument/2006/relationships/notesSlide" Target="/ppt/notesSlides/notesSlide4.xml" Id="Rae229916e2c042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d06ec7d81b64130" /><Relationship Type="http://schemas.openxmlformats.org/officeDocument/2006/relationships/notesSlide" Target="/ppt/notesSlides/notesSlide5.xml" Id="R90254e5872cd4e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e1caabb5fcd4874" /><Relationship Type="http://schemas.openxmlformats.org/officeDocument/2006/relationships/notesSlide" Target="/ppt/notesSlides/notesSlide6.xml" Id="R679f062e47654e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a9b945ff9f64a63" /><Relationship Type="http://schemas.openxmlformats.org/officeDocument/2006/relationships/notesSlide" Target="/ppt/notesSlides/notesSlide7.xml" Id="R9d8a78412e6547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d8fdada942341d0" /><Relationship Type="http://schemas.openxmlformats.org/officeDocument/2006/relationships/notesSlide" Target="/ppt/notesSlides/notesSlide8.xml" Id="R71f211372d6843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05749200fe54238" /><Relationship Type="http://schemas.openxmlformats.org/officeDocument/2006/relationships/notesSlide" Target="/ppt/notesSlides/notesSlide9.xml" Id="R9f20a2fe153349e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6ed2bce0c464aa5" /><Relationship Type="http://schemas.openxmlformats.org/officeDocument/2006/relationships/notesSlide" Target="/ppt/notesSlides/notesSlide10.xml" Id="R0c1d117ff95f48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d5bdeba30ac43d0" /><Relationship Type="http://schemas.openxmlformats.org/officeDocument/2006/relationships/notesSlide" Target="/ppt/notesSlides/notesSlide11.xml" Id="R9aff6e5bd6a541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ad4362bed1f4ff9" /><Relationship Type="http://schemas.openxmlformats.org/officeDocument/2006/relationships/notesSlide" Target="/ppt/notesSlides/notesSlide12.xml" Id="R1daaa862ab174aa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d9877ed592b4729" /><Relationship Type="http://schemas.openxmlformats.org/officeDocument/2006/relationships/notesSlide" Target="/ppt/notesSlides/notesSlide13.xml" Id="R14d0e12e31614eb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2ccc13d25424f01" /><Relationship Type="http://schemas.openxmlformats.org/officeDocument/2006/relationships/notesSlide" Target="/ppt/notesSlides/notesSlide14.xml" Id="Rf8562cf241414d93" /></Relationships>
</file>

<file path=ppt/slides/slide1.xml><?xml version="1.0" encoding="utf-8"?>
<p:sld xmlns:p="http://schemas.openxmlformats.org/presentationml/2006/main">
  <p:cSld>
    <p:bg>
      <p:bgPr>
        <a:solidFill xmlns:a="http://schemas.openxmlformats.org/drawingml/2006/main">
          <a:srgbClr val="16181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77968C-2EEB-410A-95CB-75332713B25B}"/>
              </a:ext>
            </a:extLst>
          </p:cNvPr>
          <p:cNvSpPr>
            <a:spLocks xmlns:a="http://schemas.openxmlformats.org/drawingml/2006/main" noGrp="1"/>
          </p:cNvSpPr>
          <p:nvPr/>
        </p:nvSpPr>
        <p:spPr>
          <a:xfrm xmlns:a="http://schemas.openxmlformats.org/drawingml/2006/main">
            <a:off x="571500" y="4572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1">
                <a:solidFill>
                  <a:srgbClr val="FFFFFF"/>
                </a:solidFill>
                <a:latin typeface="Arial"/>
                <a:ea typeface="Arial"/>
                <a:cs typeface="Arial"/>
              </a:defRPr>
            </a:defPPr>
            <a:lvl1pPr>
              <a:defRPr sz="2850" b="1">
                <a:solidFill>
                  <a:srgbClr val="FFFFFF"/>
                </a:solidFill>
                <a:latin typeface="Arial"/>
                <a:ea typeface="Arial"/>
                <a:cs typeface="Arial"/>
              </a:defRPr>
            </a:lvl1pPr>
            <a:lvl2pPr>
              <a:defRPr sz="2850" b="1">
                <a:solidFill>
                  <a:srgbClr val="FFFFFF"/>
                </a:solidFill>
                <a:latin typeface="Arial"/>
                <a:ea typeface="Arial"/>
                <a:cs typeface="Arial"/>
              </a:defRPr>
            </a:lvl2pPr>
            <a:lvl3pPr>
              <a:defRPr sz="2850" b="1">
                <a:solidFill>
                  <a:srgbClr val="FFFFFF"/>
                </a:solidFill>
                <a:latin typeface="Arial"/>
                <a:ea typeface="Arial"/>
                <a:cs typeface="Arial"/>
              </a:defRPr>
            </a:lvl3pPr>
            <a:lvl4pPr>
              <a:defRPr sz="2850" b="1">
                <a:solidFill>
                  <a:srgbClr val="FFFFFF"/>
                </a:solidFill>
                <a:latin typeface="Arial"/>
                <a:ea typeface="Arial"/>
                <a:cs typeface="Arial"/>
              </a:defRPr>
            </a:lvl4pPr>
            <a:lvl5pPr>
              <a:defRPr sz="2850" b="1">
                <a:solidFill>
                  <a:srgbClr val="FFFFFF"/>
                </a:solidFill>
                <a:latin typeface="Arial"/>
                <a:ea typeface="Arial"/>
                <a:cs typeface="Arial"/>
              </a:defRPr>
            </a:lvl5pPr>
            <a:lvl6pPr>
              <a:defRPr sz="2850" b="1">
                <a:solidFill>
                  <a:srgbClr val="FFFFFF"/>
                </a:solidFill>
                <a:latin typeface="Arial"/>
                <a:ea typeface="Arial"/>
                <a:cs typeface="Arial"/>
              </a:defRPr>
            </a:lvl6pPr>
            <a:lvl7pPr>
              <a:defRPr sz="2850" b="1">
                <a:solidFill>
                  <a:srgbClr val="FFFFFF"/>
                </a:solidFill>
                <a:latin typeface="Arial"/>
                <a:ea typeface="Arial"/>
                <a:cs typeface="Arial"/>
              </a:defRPr>
            </a:lvl7pPr>
            <a:lvl8pPr>
              <a:defRPr sz="2850" b="1">
                <a:solidFill>
                  <a:srgbClr val="FFFFFF"/>
                </a:solidFill>
                <a:latin typeface="Arial"/>
                <a:ea typeface="Arial"/>
                <a:cs typeface="Arial"/>
              </a:defRPr>
            </a:lvl8pPr>
            <a:lvl9pPr>
              <a:defRPr sz="2850" b="1">
                <a:solidFill>
                  <a:srgbClr val="FFFFFF"/>
                </a:solidFill>
                <a:latin typeface="Arial"/>
                <a:ea typeface="Arial"/>
                <a:cs typeface="Arial"/>
              </a:defRPr>
            </a:lvl9pPr>
          </a:lstStyle>
          <a:p xmlns:a="http://schemas.openxmlformats.org/drawingml/2006/main">
            <a:pPr>
              <a:defRPr sz="2850" b="1">
                <a:solidFill>
                  <a:srgbClr val="FFFFFF"/>
                </a:solidFill>
                <a:latin typeface="Arial"/>
                <a:ea typeface="Arial"/>
                <a:cs typeface="Arial"/>
              </a:defRPr>
            </a:pPr>
            <a:r>
              <a:rPr sz="2850" b="1">
                <a:solidFill>
                  <a:srgbClr val="FFFFFF"/>
                </a:solidFill>
                <a:latin typeface="Arial"/>
                <a:ea typeface="Arial"/>
                <a:cs typeface="Arial"/>
              </a:rPr>
              <a:t>Safety Improvement of a</a:t>
            </a:r>
          </a:p>
          <a:p xmlns:a="http://schemas.openxmlformats.org/drawingml/2006/main">
            <a:pPr>
              <a:defRPr sz="2850" b="1">
                <a:solidFill>
                  <a:srgbClr val="FFFFFF"/>
                </a:solidFill>
                <a:latin typeface="Arial"/>
                <a:ea typeface="Arial"/>
                <a:cs typeface="Arial"/>
              </a:defRPr>
            </a:pPr>
            <a:r>
              <a:rPr sz="2850" b="1">
                <a:solidFill>
                  <a:srgbClr val="FFFFFF"/>
                </a:solidFill>
                <a:latin typeface="Arial"/>
                <a:ea typeface="Arial"/>
                <a:cs typeface="Arial"/>
              </a:rPr>
              <a:t>Local LLM Assistant</a:t>
            </a:r>
          </a:p>
        </p:txBody>
      </p:sp>
      <p:sp>
        <p:nvSpPr>
          <p:cNvPr id="2" name="">
            <a:extLst xmlns:a="http://schemas.openxmlformats.org/drawingml/2006/main">
              <a:ext uri="{FF2B5EF4-FFF2-40B4-BE49-F238E27FC236}">
                <a16:creationId xmlns:a16="http://schemas.microsoft.com/office/drawing/2014/main" id="{04D03F51-2D8E-4E18-8DBC-85BF93ACFB4E}"/>
              </a:ext>
            </a:extLst>
          </p:cNvPr>
          <p:cNvSpPr>
            <a:spLocks xmlns:a="http://schemas.openxmlformats.org/drawingml/2006/main" noGrp="1"/>
          </p:cNvSpPr>
          <p:nvPr/>
        </p:nvSpPr>
        <p:spPr>
          <a:xfrm xmlns:a="http://schemas.openxmlformats.org/drawingml/2006/main">
            <a:off x="8048625"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B8BDC4"/>
                </a:solidFill>
                <a:latin typeface="Arial"/>
                <a:ea typeface="Arial"/>
                <a:cs typeface="Arial"/>
              </a:defRPr>
            </a:defPPr>
            <a:lvl1pPr>
              <a:defRPr sz="975" b="0">
                <a:solidFill>
                  <a:srgbClr val="B8BDC4"/>
                </a:solidFill>
                <a:latin typeface="Arial"/>
                <a:ea typeface="Arial"/>
                <a:cs typeface="Arial"/>
              </a:defRPr>
            </a:lvl1pPr>
            <a:lvl2pPr>
              <a:defRPr sz="975" b="0">
                <a:solidFill>
                  <a:srgbClr val="B8BDC4"/>
                </a:solidFill>
                <a:latin typeface="Arial"/>
                <a:ea typeface="Arial"/>
                <a:cs typeface="Arial"/>
              </a:defRPr>
            </a:lvl2pPr>
            <a:lvl3pPr>
              <a:defRPr sz="975" b="0">
                <a:solidFill>
                  <a:srgbClr val="B8BDC4"/>
                </a:solidFill>
                <a:latin typeface="Arial"/>
                <a:ea typeface="Arial"/>
                <a:cs typeface="Arial"/>
              </a:defRPr>
            </a:lvl3pPr>
            <a:lvl4pPr>
              <a:defRPr sz="975" b="0">
                <a:solidFill>
                  <a:srgbClr val="B8BDC4"/>
                </a:solidFill>
                <a:latin typeface="Arial"/>
                <a:ea typeface="Arial"/>
                <a:cs typeface="Arial"/>
              </a:defRPr>
            </a:lvl4pPr>
            <a:lvl5pPr>
              <a:defRPr sz="975" b="0">
                <a:solidFill>
                  <a:srgbClr val="B8BDC4"/>
                </a:solidFill>
                <a:latin typeface="Arial"/>
                <a:ea typeface="Arial"/>
                <a:cs typeface="Arial"/>
              </a:defRPr>
            </a:lvl5pPr>
            <a:lvl6pPr>
              <a:defRPr sz="975" b="0">
                <a:solidFill>
                  <a:srgbClr val="B8BDC4"/>
                </a:solidFill>
                <a:latin typeface="Arial"/>
                <a:ea typeface="Arial"/>
                <a:cs typeface="Arial"/>
              </a:defRPr>
            </a:lvl6pPr>
            <a:lvl7pPr>
              <a:defRPr sz="975" b="0">
                <a:solidFill>
                  <a:srgbClr val="B8BDC4"/>
                </a:solidFill>
                <a:latin typeface="Arial"/>
                <a:ea typeface="Arial"/>
                <a:cs typeface="Arial"/>
              </a:defRPr>
            </a:lvl7pPr>
            <a:lvl8pPr>
              <a:defRPr sz="975" b="0">
                <a:solidFill>
                  <a:srgbClr val="B8BDC4"/>
                </a:solidFill>
                <a:latin typeface="Arial"/>
                <a:ea typeface="Arial"/>
                <a:cs typeface="Arial"/>
              </a:defRPr>
            </a:lvl8pPr>
            <a:lvl9pPr>
              <a:defRPr sz="975" b="0">
                <a:solidFill>
                  <a:srgbClr val="B8BDC4"/>
                </a:solidFill>
                <a:latin typeface="Arial"/>
                <a:ea typeface="Arial"/>
                <a:cs typeface="Arial"/>
              </a:defRPr>
            </a:lvl9pPr>
          </a:lstStyle>
          <a:p xmlns:a="http://schemas.openxmlformats.org/drawingml/2006/main">
            <a:pPr>
              <a:defRPr sz="975" b="0">
                <a:solidFill>
                  <a:srgbClr val="B8BDC4"/>
                </a:solidFill>
                <a:latin typeface="Arial"/>
                <a:ea typeface="Arial"/>
                <a:cs typeface="Arial"/>
              </a:defRPr>
            </a:pPr>
            <a:r>
              <a:rPr sz="975" b="0">
                <a:solidFill>
                  <a:srgbClr val="B8BDC4"/>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C35019ED-ACA9-438E-A80A-5158FC8522EC}"/>
              </a:ext>
            </a:extLst>
          </p:cNvPr>
          <p:cNvSpPr>
            <a:spLocks xmlns:a="http://schemas.openxmlformats.org/drawingml/2006/main" noGrp="1"/>
          </p:cNvSpPr>
          <p:nvPr/>
        </p:nvSpPr>
        <p:spPr>
          <a:xfrm xmlns:a="http://schemas.openxmlformats.org/drawingml/2006/main">
            <a:off x="571500" y="30956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Assignment 3</a:t>
            </a:r>
          </a:p>
        </p:txBody>
      </p:sp>
      <p:sp>
        <p:nvSpPr>
          <p:cNvPr id="4" name="">
            <a:extLst xmlns:a="http://schemas.openxmlformats.org/drawingml/2006/main">
              <a:ext uri="{FF2B5EF4-FFF2-40B4-BE49-F238E27FC236}">
                <a16:creationId xmlns:a16="http://schemas.microsoft.com/office/drawing/2014/main" id="{FE7C8CAA-CFC2-4EE4-A11D-8EFA9604E1C3}"/>
              </a:ext>
            </a:extLst>
          </p:cNvPr>
          <p:cNvSpPr>
            <a:spLocks xmlns:a="http://schemas.openxmlformats.org/drawingml/2006/main" noGrp="1"/>
          </p:cNvSpPr>
          <p:nvPr/>
        </p:nvSpPr>
        <p:spPr>
          <a:xfrm xmlns:a="http://schemas.openxmlformats.org/drawingml/2006/main">
            <a:off x="571500" y="374332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0">
                <a:solidFill>
                  <a:srgbClr val="CED2D8"/>
                </a:solidFill>
                <a:latin typeface="Arial"/>
                <a:ea typeface="Arial"/>
                <a:cs typeface="Arial"/>
              </a:defRPr>
            </a:defPPr>
            <a:lvl1pPr>
              <a:defRPr sz="1650" b="0">
                <a:solidFill>
                  <a:srgbClr val="CED2D8"/>
                </a:solidFill>
                <a:latin typeface="Arial"/>
                <a:ea typeface="Arial"/>
                <a:cs typeface="Arial"/>
              </a:defRPr>
            </a:lvl1pPr>
            <a:lvl2pPr>
              <a:defRPr sz="1650" b="0">
                <a:solidFill>
                  <a:srgbClr val="CED2D8"/>
                </a:solidFill>
                <a:latin typeface="Arial"/>
                <a:ea typeface="Arial"/>
                <a:cs typeface="Arial"/>
              </a:defRPr>
            </a:lvl2pPr>
            <a:lvl3pPr>
              <a:defRPr sz="1650" b="0">
                <a:solidFill>
                  <a:srgbClr val="CED2D8"/>
                </a:solidFill>
                <a:latin typeface="Arial"/>
                <a:ea typeface="Arial"/>
                <a:cs typeface="Arial"/>
              </a:defRPr>
            </a:lvl3pPr>
            <a:lvl4pPr>
              <a:defRPr sz="1650" b="0">
                <a:solidFill>
                  <a:srgbClr val="CED2D8"/>
                </a:solidFill>
                <a:latin typeface="Arial"/>
                <a:ea typeface="Arial"/>
                <a:cs typeface="Arial"/>
              </a:defRPr>
            </a:lvl4pPr>
            <a:lvl5pPr>
              <a:defRPr sz="1650" b="0">
                <a:solidFill>
                  <a:srgbClr val="CED2D8"/>
                </a:solidFill>
                <a:latin typeface="Arial"/>
                <a:ea typeface="Arial"/>
                <a:cs typeface="Arial"/>
              </a:defRPr>
            </a:lvl5pPr>
            <a:lvl6pPr>
              <a:defRPr sz="1650" b="0">
                <a:solidFill>
                  <a:srgbClr val="CED2D8"/>
                </a:solidFill>
                <a:latin typeface="Arial"/>
                <a:ea typeface="Arial"/>
                <a:cs typeface="Arial"/>
              </a:defRPr>
            </a:lvl6pPr>
            <a:lvl7pPr>
              <a:defRPr sz="1650" b="0">
                <a:solidFill>
                  <a:srgbClr val="CED2D8"/>
                </a:solidFill>
                <a:latin typeface="Arial"/>
                <a:ea typeface="Arial"/>
                <a:cs typeface="Arial"/>
              </a:defRPr>
            </a:lvl7pPr>
            <a:lvl8pPr>
              <a:defRPr sz="1650" b="0">
                <a:solidFill>
                  <a:srgbClr val="CED2D8"/>
                </a:solidFill>
                <a:latin typeface="Arial"/>
                <a:ea typeface="Arial"/>
                <a:cs typeface="Arial"/>
              </a:defRPr>
            </a:lvl8pPr>
            <a:lvl9pPr>
              <a:defRPr sz="1650" b="0">
                <a:solidFill>
                  <a:srgbClr val="CED2D8"/>
                </a:solidFill>
                <a:latin typeface="Arial"/>
                <a:ea typeface="Arial"/>
                <a:cs typeface="Arial"/>
              </a:defRPr>
            </a:lvl9pPr>
          </a:lstStyle>
          <a:p xmlns:a="http://schemas.openxmlformats.org/drawingml/2006/main">
            <a:pPr>
              <a:defRPr sz="1650" b="0">
                <a:solidFill>
                  <a:srgbClr val="CED2D8"/>
                </a:solidFill>
                <a:latin typeface="Arial"/>
                <a:ea typeface="Arial"/>
                <a:cs typeface="Arial"/>
              </a:defRPr>
            </a:pPr>
            <a:r>
              <a:rPr sz="1650" b="0">
                <a:solidFill>
                  <a:srgbClr val="CED2D8"/>
                </a:solidFill>
                <a:latin typeface="Arial"/>
                <a:ea typeface="Arial"/>
                <a:cs typeface="Arial"/>
              </a:rPr>
              <a:t>AISRA1301 · AI Security and Risk Analysis · QAIRU</a:t>
            </a:r>
          </a:p>
        </p:txBody>
      </p:sp>
      <p:sp>
        <p:nvSpPr>
          <p:cNvPr id="5" name="">
            <a:extLst xmlns:a="http://schemas.openxmlformats.org/drawingml/2006/main">
              <a:ext uri="{FF2B5EF4-FFF2-40B4-BE49-F238E27FC236}">
                <a16:creationId xmlns:a16="http://schemas.microsoft.com/office/drawing/2014/main" id="{A363786E-016E-4471-95DF-6ECD78F179AF}"/>
              </a:ext>
            </a:extLst>
          </p:cNvPr>
          <p:cNvSpPr>
            <a:spLocks xmlns:a="http://schemas.openxmlformats.org/drawingml/2006/main" noGrp="1"/>
          </p:cNvSpPr>
          <p:nvPr/>
        </p:nvSpPr>
        <p:spPr>
          <a:xfrm xmlns:a="http://schemas.openxmlformats.org/drawingml/2006/main">
            <a:off x="571500" y="4381500"/>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CED2D8"/>
                </a:solidFill>
                <a:latin typeface="Arial"/>
                <a:ea typeface="Arial"/>
                <a:cs typeface="Arial"/>
              </a:defRPr>
            </a:defPPr>
            <a:lvl1pPr>
              <a:defRPr sz="1950" b="0">
                <a:solidFill>
                  <a:srgbClr val="CED2D8"/>
                </a:solidFill>
                <a:latin typeface="Arial"/>
                <a:ea typeface="Arial"/>
                <a:cs typeface="Arial"/>
              </a:defRPr>
            </a:lvl1pPr>
            <a:lvl2pPr>
              <a:defRPr sz="1950" b="0">
                <a:solidFill>
                  <a:srgbClr val="CED2D8"/>
                </a:solidFill>
                <a:latin typeface="Arial"/>
                <a:ea typeface="Arial"/>
                <a:cs typeface="Arial"/>
              </a:defRPr>
            </a:lvl2pPr>
            <a:lvl3pPr>
              <a:defRPr sz="1950" b="0">
                <a:solidFill>
                  <a:srgbClr val="CED2D8"/>
                </a:solidFill>
                <a:latin typeface="Arial"/>
                <a:ea typeface="Arial"/>
                <a:cs typeface="Arial"/>
              </a:defRPr>
            </a:lvl3pPr>
            <a:lvl4pPr>
              <a:defRPr sz="1950" b="0">
                <a:solidFill>
                  <a:srgbClr val="CED2D8"/>
                </a:solidFill>
                <a:latin typeface="Arial"/>
                <a:ea typeface="Arial"/>
                <a:cs typeface="Arial"/>
              </a:defRPr>
            </a:lvl4pPr>
            <a:lvl5pPr>
              <a:defRPr sz="1950" b="0">
                <a:solidFill>
                  <a:srgbClr val="CED2D8"/>
                </a:solidFill>
                <a:latin typeface="Arial"/>
                <a:ea typeface="Arial"/>
                <a:cs typeface="Arial"/>
              </a:defRPr>
            </a:lvl5pPr>
            <a:lvl6pPr>
              <a:defRPr sz="1950" b="0">
                <a:solidFill>
                  <a:srgbClr val="CED2D8"/>
                </a:solidFill>
                <a:latin typeface="Arial"/>
                <a:ea typeface="Arial"/>
                <a:cs typeface="Arial"/>
              </a:defRPr>
            </a:lvl6pPr>
            <a:lvl7pPr>
              <a:defRPr sz="1950" b="0">
                <a:solidFill>
                  <a:srgbClr val="CED2D8"/>
                </a:solidFill>
                <a:latin typeface="Arial"/>
                <a:ea typeface="Arial"/>
                <a:cs typeface="Arial"/>
              </a:defRPr>
            </a:lvl7pPr>
            <a:lvl8pPr>
              <a:defRPr sz="1950" b="0">
                <a:solidFill>
                  <a:srgbClr val="CED2D8"/>
                </a:solidFill>
                <a:latin typeface="Arial"/>
                <a:ea typeface="Arial"/>
                <a:cs typeface="Arial"/>
              </a:defRPr>
            </a:lvl8pPr>
            <a:lvl9pPr>
              <a:defRPr sz="1950" b="0">
                <a:solidFill>
                  <a:srgbClr val="CED2D8"/>
                </a:solidFill>
                <a:latin typeface="Arial"/>
                <a:ea typeface="Arial"/>
                <a:cs typeface="Arial"/>
              </a:defRPr>
            </a:lvl9pPr>
          </a:lstStyle>
          <a:p xmlns:a="http://schemas.openxmlformats.org/drawingml/2006/main">
            <a:pPr>
              <a:defRPr sz="1950" b="0">
                <a:solidFill>
                  <a:srgbClr val="CED2D8"/>
                </a:solidFill>
                <a:latin typeface="Arial"/>
                <a:ea typeface="Arial"/>
                <a:cs typeface="Arial"/>
              </a:defRPr>
            </a:pPr>
            <a:r>
              <a:rPr sz="1950" b="0">
                <a:solidFill>
                  <a:srgbClr val="CED2D8"/>
                </a:solidFill>
                <a:latin typeface="Arial"/>
                <a:ea typeface="Arial"/>
                <a:cs typeface="Arial"/>
              </a:rPr>
              <a:t>System-prompt defence and randomized smoothing</a:t>
            </a:r>
          </a:p>
        </p:txBody>
      </p:sp>
    </p:spTree>
    <p:extLst>
      <p:ext uri="{BB962C8B-B14F-4D97-AF65-F5344CB8AC3E}">
        <p14:creationId xmlns:p14="http://schemas.microsoft.com/office/powerpoint/2010/main" val="3243478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270C3F-1E1D-4570-9D2B-9008663B3393}"/>
              </a:ext>
            </a:extLst>
          </p:cNvPr>
          <p:cNvSpPr>
            <a:spLocks xmlns:a="http://schemas.openxmlformats.org/drawingml/2006/main" noGrp="1"/>
          </p:cNvSpPr>
          <p:nvPr/>
        </p:nvSpPr>
        <p:spPr>
          <a:xfrm xmlns:a="http://schemas.openxmlformats.org/drawingml/2006/main">
            <a:off x="571500" y="4572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1">
                <a:solidFill>
                  <a:srgbClr val="16181B"/>
                </a:solidFill>
                <a:latin typeface="Arial"/>
                <a:ea typeface="Arial"/>
                <a:cs typeface="Arial"/>
              </a:defRPr>
            </a:defPPr>
            <a:lvl1pPr>
              <a:defRPr sz="2850" b="1">
                <a:solidFill>
                  <a:srgbClr val="16181B"/>
                </a:solidFill>
                <a:latin typeface="Arial"/>
                <a:ea typeface="Arial"/>
                <a:cs typeface="Arial"/>
              </a:defRPr>
            </a:lvl1pPr>
            <a:lvl2pPr>
              <a:defRPr sz="2850" b="1">
                <a:solidFill>
                  <a:srgbClr val="16181B"/>
                </a:solidFill>
                <a:latin typeface="Arial"/>
                <a:ea typeface="Arial"/>
                <a:cs typeface="Arial"/>
              </a:defRPr>
            </a:lvl2pPr>
            <a:lvl3pPr>
              <a:defRPr sz="2850" b="1">
                <a:solidFill>
                  <a:srgbClr val="16181B"/>
                </a:solidFill>
                <a:latin typeface="Arial"/>
                <a:ea typeface="Arial"/>
                <a:cs typeface="Arial"/>
              </a:defRPr>
            </a:lvl3pPr>
            <a:lvl4pPr>
              <a:defRPr sz="2850" b="1">
                <a:solidFill>
                  <a:srgbClr val="16181B"/>
                </a:solidFill>
                <a:latin typeface="Arial"/>
                <a:ea typeface="Arial"/>
                <a:cs typeface="Arial"/>
              </a:defRPr>
            </a:lvl4pPr>
            <a:lvl5pPr>
              <a:defRPr sz="2850" b="1">
                <a:solidFill>
                  <a:srgbClr val="16181B"/>
                </a:solidFill>
                <a:latin typeface="Arial"/>
                <a:ea typeface="Arial"/>
                <a:cs typeface="Arial"/>
              </a:defRPr>
            </a:lvl5pPr>
            <a:lvl6pPr>
              <a:defRPr sz="2850" b="1">
                <a:solidFill>
                  <a:srgbClr val="16181B"/>
                </a:solidFill>
                <a:latin typeface="Arial"/>
                <a:ea typeface="Arial"/>
                <a:cs typeface="Arial"/>
              </a:defRPr>
            </a:lvl6pPr>
            <a:lvl7pPr>
              <a:defRPr sz="2850" b="1">
                <a:solidFill>
                  <a:srgbClr val="16181B"/>
                </a:solidFill>
                <a:latin typeface="Arial"/>
                <a:ea typeface="Arial"/>
                <a:cs typeface="Arial"/>
              </a:defRPr>
            </a:lvl7pPr>
            <a:lvl8pPr>
              <a:defRPr sz="2850" b="1">
                <a:solidFill>
                  <a:srgbClr val="16181B"/>
                </a:solidFill>
                <a:latin typeface="Arial"/>
                <a:ea typeface="Arial"/>
                <a:cs typeface="Arial"/>
              </a:defRPr>
            </a:lvl8pPr>
            <a:lvl9pPr>
              <a:defRPr sz="2850" b="1">
                <a:solidFill>
                  <a:srgbClr val="16181B"/>
                </a:solidFill>
                <a:latin typeface="Arial"/>
                <a:ea typeface="Arial"/>
                <a:cs typeface="Arial"/>
              </a:defRPr>
            </a:lvl9pPr>
          </a:lstStyle>
          <a:p xmlns:a="http://schemas.openxmlformats.org/drawingml/2006/main">
            <a:pPr>
              <a:defRPr sz="2850" b="1">
                <a:solidFill>
                  <a:srgbClr val="16181B"/>
                </a:solidFill>
                <a:latin typeface="Arial"/>
                <a:ea typeface="Arial"/>
                <a:cs typeface="Arial"/>
              </a:defRPr>
            </a:pPr>
            <a:r>
              <a:rPr sz="2850" b="1">
                <a:solidFill>
                  <a:srgbClr val="16181B"/>
                </a:solidFill>
                <a:latin typeface="Arial"/>
                <a:ea typeface="Arial"/>
                <a:cs typeface="Arial"/>
              </a:rPr>
              <a:t>Research objective and baseline</a:t>
            </a:r>
          </a:p>
        </p:txBody>
      </p:sp>
      <p:sp>
        <p:nvSpPr>
          <p:cNvPr id="2" name="">
            <a:extLst xmlns:a="http://schemas.openxmlformats.org/drawingml/2006/main">
              <a:ext uri="{FF2B5EF4-FFF2-40B4-BE49-F238E27FC236}">
                <a16:creationId xmlns:a16="http://schemas.microsoft.com/office/drawing/2014/main" id="{E290A3CB-9225-4218-B145-510921B08696}"/>
              </a:ext>
            </a:extLst>
          </p:cNvPr>
          <p:cNvSpPr>
            <a:spLocks xmlns:a="http://schemas.openxmlformats.org/drawingml/2006/main" noGrp="1"/>
          </p:cNvSpPr>
          <p:nvPr/>
        </p:nvSpPr>
        <p:spPr>
          <a:xfrm xmlns:a="http://schemas.openxmlformats.org/drawingml/2006/main">
            <a:off x="571500" y="166687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Same Midterm prototype: React news demo, Python proxy and local Ollama with vicuna:7b Q4_0.</a:t>
            </a:r>
          </a:p>
        </p:txBody>
      </p:sp>
      <p:sp>
        <p:nvSpPr>
          <p:cNvPr id="3" name="">
            <a:extLst xmlns:a="http://schemas.openxmlformats.org/drawingml/2006/main">
              <a:ext uri="{FF2B5EF4-FFF2-40B4-BE49-F238E27FC236}">
                <a16:creationId xmlns:a16="http://schemas.microsoft.com/office/drawing/2014/main" id="{0D70E268-8A33-467B-AEC7-7635FE120360}"/>
              </a:ext>
            </a:extLst>
          </p:cNvPr>
          <p:cNvSpPr>
            <a:spLocks xmlns:a="http://schemas.openxmlformats.org/drawingml/2006/main" noGrp="1"/>
          </p:cNvSpPr>
          <p:nvPr/>
        </p:nvSpPr>
        <p:spPr>
          <a:xfrm xmlns:a="http://schemas.openxmlformats.org/drawingml/2006/main">
            <a:off x="571500" y="256222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Research topic: GCG suffix jailbreaks, following Zou et al. (2023).</a:t>
            </a:r>
          </a:p>
        </p:txBody>
      </p:sp>
      <p:sp>
        <p:nvSpPr>
          <p:cNvPr id="4" name="">
            <a:extLst xmlns:a="http://schemas.openxmlformats.org/drawingml/2006/main">
              <a:ext uri="{FF2B5EF4-FFF2-40B4-BE49-F238E27FC236}">
                <a16:creationId xmlns:a16="http://schemas.microsoft.com/office/drawing/2014/main" id="{B92C3871-F9EB-4096-B23D-91FA6B72F033}"/>
              </a:ext>
            </a:extLst>
          </p:cNvPr>
          <p:cNvSpPr>
            <a:spLocks xmlns:a="http://schemas.openxmlformats.org/drawingml/2006/main" noGrp="1"/>
          </p:cNvSpPr>
          <p:nvPr/>
        </p:nvSpPr>
        <p:spPr>
          <a:xfrm xmlns:a="http://schemas.openxmlformats.org/drawingml/2006/main">
            <a:off x="571500" y="345757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Saved baseline: 22/25 replies lack a refusal phrase under the published suffix.</a:t>
            </a:r>
          </a:p>
        </p:txBody>
      </p:sp>
      <p:sp>
        <p:nvSpPr>
          <p:cNvPr id="5" name="">
            <a:extLst xmlns:a="http://schemas.openxmlformats.org/drawingml/2006/main">
              <a:ext uri="{FF2B5EF4-FFF2-40B4-BE49-F238E27FC236}">
                <a16:creationId xmlns:a16="http://schemas.microsoft.com/office/drawing/2014/main" id="{C74BCCA9-5B50-4078-B031-01A5E17A0B55}"/>
              </a:ext>
            </a:extLst>
          </p:cNvPr>
          <p:cNvSpPr>
            <a:spLocks xmlns:a="http://schemas.openxmlformats.org/drawingml/2006/main" noGrp="1"/>
          </p:cNvSpPr>
          <p:nvPr/>
        </p:nvSpPr>
        <p:spPr>
          <a:xfrm xmlns:a="http://schemas.openxmlformats.org/drawingml/2006/main">
            <a:off x="571500" y="435292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Objective: evaluate safety gains together with benign-task performance, latency and remaining risks.</a:t>
            </a:r>
          </a:p>
        </p:txBody>
      </p:sp>
      <p:sp>
        <p:nvSpPr>
          <p:cNvPr id="6" name="">
            <a:extLst xmlns:a="http://schemas.openxmlformats.org/drawingml/2006/main">
              <a:ext uri="{FF2B5EF4-FFF2-40B4-BE49-F238E27FC236}">
                <a16:creationId xmlns:a16="http://schemas.microsoft.com/office/drawing/2014/main" id="{6249E33C-5612-45FD-9888-4D07835521DE}"/>
              </a:ext>
            </a:extLst>
          </p:cNvPr>
          <p:cNvSpPr>
            <a:spLocks xmlns:a="http://schemas.openxmlformats.org/drawingml/2006/main" noGrp="1"/>
          </p:cNvSpPr>
          <p:nvPr/>
        </p:nvSpPr>
        <p:spPr>
          <a:xfrm xmlns:a="http://schemas.openxmlformats.org/drawingml/2006/main">
            <a:off x="8048625"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77777"/>
                </a:solidFill>
                <a:latin typeface="Arial"/>
                <a:ea typeface="Arial"/>
                <a:cs typeface="Arial"/>
              </a:defRPr>
            </a:defPPr>
            <a:lvl1pPr>
              <a:defRPr sz="975" b="0">
                <a:solidFill>
                  <a:srgbClr val="777777"/>
                </a:solidFill>
                <a:latin typeface="Arial"/>
                <a:ea typeface="Arial"/>
                <a:cs typeface="Arial"/>
              </a:defRPr>
            </a:lvl1pPr>
            <a:lvl2pPr>
              <a:defRPr sz="975" b="0">
                <a:solidFill>
                  <a:srgbClr val="777777"/>
                </a:solidFill>
                <a:latin typeface="Arial"/>
                <a:ea typeface="Arial"/>
                <a:cs typeface="Arial"/>
              </a:defRPr>
            </a:lvl2pPr>
            <a:lvl3pPr>
              <a:defRPr sz="975" b="0">
                <a:solidFill>
                  <a:srgbClr val="777777"/>
                </a:solidFill>
                <a:latin typeface="Arial"/>
                <a:ea typeface="Arial"/>
                <a:cs typeface="Arial"/>
              </a:defRPr>
            </a:lvl3pPr>
            <a:lvl4pPr>
              <a:defRPr sz="975" b="0">
                <a:solidFill>
                  <a:srgbClr val="777777"/>
                </a:solidFill>
                <a:latin typeface="Arial"/>
                <a:ea typeface="Arial"/>
                <a:cs typeface="Arial"/>
              </a:defRPr>
            </a:lvl4pPr>
            <a:lvl5pPr>
              <a:defRPr sz="975" b="0">
                <a:solidFill>
                  <a:srgbClr val="777777"/>
                </a:solidFill>
                <a:latin typeface="Arial"/>
                <a:ea typeface="Arial"/>
                <a:cs typeface="Arial"/>
              </a:defRPr>
            </a:lvl5pPr>
            <a:lvl6pPr>
              <a:defRPr sz="975" b="0">
                <a:solidFill>
                  <a:srgbClr val="777777"/>
                </a:solidFill>
                <a:latin typeface="Arial"/>
                <a:ea typeface="Arial"/>
                <a:cs typeface="Arial"/>
              </a:defRPr>
            </a:lvl6pPr>
            <a:lvl7pPr>
              <a:defRPr sz="975" b="0">
                <a:solidFill>
                  <a:srgbClr val="777777"/>
                </a:solidFill>
                <a:latin typeface="Arial"/>
                <a:ea typeface="Arial"/>
                <a:cs typeface="Arial"/>
              </a:defRPr>
            </a:lvl7pPr>
            <a:lvl8pPr>
              <a:defRPr sz="975" b="0">
                <a:solidFill>
                  <a:srgbClr val="777777"/>
                </a:solidFill>
                <a:latin typeface="Arial"/>
                <a:ea typeface="Arial"/>
                <a:cs typeface="Arial"/>
              </a:defRPr>
            </a:lvl8pPr>
            <a:lvl9pPr>
              <a:defRPr sz="975" b="0">
                <a:solidFill>
                  <a:srgbClr val="777777"/>
                </a:solidFill>
                <a:latin typeface="Arial"/>
                <a:ea typeface="Arial"/>
                <a:cs typeface="Arial"/>
              </a:defRPr>
            </a:lvl9pPr>
          </a:lstStyle>
          <a:p xmlns:a="http://schemas.openxmlformats.org/drawingml/2006/main">
            <a:pPr>
              <a:defRPr sz="975" b="0">
                <a:solidFill>
                  <a:srgbClr val="777777"/>
                </a:solidFill>
                <a:latin typeface="Arial"/>
                <a:ea typeface="Arial"/>
                <a:cs typeface="Arial"/>
              </a:defRPr>
            </a:pPr>
            <a:r>
              <a:rPr sz="975" b="0">
                <a:solidFill>
                  <a:srgbClr val="777777"/>
                </a:solidFill>
                <a:latin typeface="Arial"/>
                <a:ea typeface="Arial"/>
                <a:cs typeface="Arial"/>
              </a:rPr>
              <a:t>2</a:t>
            </a:r>
          </a:p>
        </p:txBody>
      </p:sp>
    </p:spTree>
    <p:extLst>
      <p:ext uri="{BB962C8B-B14F-4D97-AF65-F5344CB8AC3E}">
        <p14:creationId xmlns:p14="http://schemas.microsoft.com/office/powerpoint/2010/main" val="14972028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7BD583-EF31-4A16-AF27-D090E8043384}"/>
              </a:ext>
            </a:extLst>
          </p:cNvPr>
          <p:cNvSpPr>
            <a:spLocks xmlns:a="http://schemas.openxmlformats.org/drawingml/2006/main" noGrp="1"/>
          </p:cNvSpPr>
          <p:nvPr/>
        </p:nvSpPr>
        <p:spPr>
          <a:xfrm xmlns:a="http://schemas.openxmlformats.org/drawingml/2006/main">
            <a:off x="571500" y="4572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1">
                <a:solidFill>
                  <a:srgbClr val="16181B"/>
                </a:solidFill>
                <a:latin typeface="Arial"/>
                <a:ea typeface="Arial"/>
                <a:cs typeface="Arial"/>
              </a:defRPr>
            </a:defPPr>
            <a:lvl1pPr>
              <a:defRPr sz="2850" b="1">
                <a:solidFill>
                  <a:srgbClr val="16181B"/>
                </a:solidFill>
                <a:latin typeface="Arial"/>
                <a:ea typeface="Arial"/>
                <a:cs typeface="Arial"/>
              </a:defRPr>
            </a:lvl1pPr>
            <a:lvl2pPr>
              <a:defRPr sz="2850" b="1">
                <a:solidFill>
                  <a:srgbClr val="16181B"/>
                </a:solidFill>
                <a:latin typeface="Arial"/>
                <a:ea typeface="Arial"/>
                <a:cs typeface="Arial"/>
              </a:defRPr>
            </a:lvl2pPr>
            <a:lvl3pPr>
              <a:defRPr sz="2850" b="1">
                <a:solidFill>
                  <a:srgbClr val="16181B"/>
                </a:solidFill>
                <a:latin typeface="Arial"/>
                <a:ea typeface="Arial"/>
                <a:cs typeface="Arial"/>
              </a:defRPr>
            </a:lvl3pPr>
            <a:lvl4pPr>
              <a:defRPr sz="2850" b="1">
                <a:solidFill>
                  <a:srgbClr val="16181B"/>
                </a:solidFill>
                <a:latin typeface="Arial"/>
                <a:ea typeface="Arial"/>
                <a:cs typeface="Arial"/>
              </a:defRPr>
            </a:lvl4pPr>
            <a:lvl5pPr>
              <a:defRPr sz="2850" b="1">
                <a:solidFill>
                  <a:srgbClr val="16181B"/>
                </a:solidFill>
                <a:latin typeface="Arial"/>
                <a:ea typeface="Arial"/>
                <a:cs typeface="Arial"/>
              </a:defRPr>
            </a:lvl5pPr>
            <a:lvl6pPr>
              <a:defRPr sz="2850" b="1">
                <a:solidFill>
                  <a:srgbClr val="16181B"/>
                </a:solidFill>
                <a:latin typeface="Arial"/>
                <a:ea typeface="Arial"/>
                <a:cs typeface="Arial"/>
              </a:defRPr>
            </a:lvl6pPr>
            <a:lvl7pPr>
              <a:defRPr sz="2850" b="1">
                <a:solidFill>
                  <a:srgbClr val="16181B"/>
                </a:solidFill>
                <a:latin typeface="Arial"/>
                <a:ea typeface="Arial"/>
                <a:cs typeface="Arial"/>
              </a:defRPr>
            </a:lvl7pPr>
            <a:lvl8pPr>
              <a:defRPr sz="2850" b="1">
                <a:solidFill>
                  <a:srgbClr val="16181B"/>
                </a:solidFill>
                <a:latin typeface="Arial"/>
                <a:ea typeface="Arial"/>
                <a:cs typeface="Arial"/>
              </a:defRPr>
            </a:lvl8pPr>
            <a:lvl9pPr>
              <a:defRPr sz="2850" b="1">
                <a:solidFill>
                  <a:srgbClr val="16181B"/>
                </a:solidFill>
                <a:latin typeface="Arial"/>
                <a:ea typeface="Arial"/>
                <a:cs typeface="Arial"/>
              </a:defRPr>
            </a:lvl9pPr>
          </a:lstStyle>
          <a:p xmlns:a="http://schemas.openxmlformats.org/drawingml/2006/main">
            <a:pPr>
              <a:defRPr sz="2850" b="1">
                <a:solidFill>
                  <a:srgbClr val="16181B"/>
                </a:solidFill>
                <a:latin typeface="Arial"/>
                <a:ea typeface="Arial"/>
                <a:cs typeface="Arial"/>
              </a:defRPr>
            </a:pPr>
            <a:r>
              <a:rPr sz="2850" b="1">
                <a:solidFill>
                  <a:srgbClr val="16181B"/>
                </a:solidFill>
                <a:latin typeface="Arial"/>
                <a:ea typeface="Arial"/>
                <a:cs typeface="Arial"/>
              </a:rPr>
              <a:t>First defence: vicuna-guarded</a:t>
            </a:r>
          </a:p>
        </p:txBody>
      </p:sp>
      <p:sp>
        <p:nvSpPr>
          <p:cNvPr id="2" name="">
            <a:extLst xmlns:a="http://schemas.openxmlformats.org/drawingml/2006/main">
              <a:ext uri="{FF2B5EF4-FFF2-40B4-BE49-F238E27FC236}">
                <a16:creationId xmlns:a16="http://schemas.microsoft.com/office/drawing/2014/main" id="{5859C5E1-D9C2-42B1-B013-FA8AE8E84DC9}"/>
              </a:ext>
            </a:extLst>
          </p:cNvPr>
          <p:cNvSpPr>
            <a:spLocks xmlns:a="http://schemas.openxmlformats.org/drawingml/2006/main" noGrp="1"/>
          </p:cNvSpPr>
          <p:nvPr/>
        </p:nvSpPr>
        <p:spPr>
          <a:xfrm xmlns:a="http://schemas.openxmlformats.org/drawingml/2006/main">
            <a:off x="571500" y="166687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Same Vicuna weights with a restrictive system prompt. No retraining.</a:t>
            </a:r>
          </a:p>
        </p:txBody>
      </p:sp>
      <p:sp>
        <p:nvSpPr>
          <p:cNvPr id="3" name="">
            <a:extLst xmlns:a="http://schemas.openxmlformats.org/drawingml/2006/main">
              <a:ext uri="{FF2B5EF4-FFF2-40B4-BE49-F238E27FC236}">
                <a16:creationId xmlns:a16="http://schemas.microsoft.com/office/drawing/2014/main" id="{B704A3F4-8791-4CAD-AE50-2F48A1F89B9C}"/>
              </a:ext>
            </a:extLst>
          </p:cNvPr>
          <p:cNvSpPr>
            <a:spLocks xmlns:a="http://schemas.openxmlformats.org/drawingml/2006/main" noGrp="1"/>
          </p:cNvSpPr>
          <p:nvPr/>
        </p:nvSpPr>
        <p:spPr>
          <a:xfrm xmlns:a="http://schemas.openxmlformats.org/drawingml/2006/main">
            <a:off x="571500" y="256222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Treat user text as untrusted, resist role-changing instructions and refuse harmful assistance.</a:t>
            </a:r>
          </a:p>
        </p:txBody>
      </p:sp>
      <p:sp>
        <p:nvSpPr>
          <p:cNvPr id="4" name="">
            <a:extLst xmlns:a="http://schemas.openxmlformats.org/drawingml/2006/main">
              <a:ext uri="{FF2B5EF4-FFF2-40B4-BE49-F238E27FC236}">
                <a16:creationId xmlns:a16="http://schemas.microsoft.com/office/drawing/2014/main" id="{0C0DED04-9BA3-4B6D-A95E-23198CBDE9D7}"/>
              </a:ext>
            </a:extLst>
          </p:cNvPr>
          <p:cNvSpPr>
            <a:spLocks xmlns:a="http://schemas.openxmlformats.org/drawingml/2006/main" noGrp="1"/>
          </p:cNvSpPr>
          <p:nvPr/>
        </p:nvSpPr>
        <p:spPr>
          <a:xfrm xmlns:a="http://schemas.openxmlformats.org/drawingml/2006/main">
            <a:off x="571500" y="345757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Offer a safe alternative and avoid revealing hidden instructions.</a:t>
            </a:r>
          </a:p>
        </p:txBody>
      </p:sp>
      <p:sp>
        <p:nvSpPr>
          <p:cNvPr id="5" name="">
            <a:extLst xmlns:a="http://schemas.openxmlformats.org/drawingml/2006/main">
              <a:ext uri="{FF2B5EF4-FFF2-40B4-BE49-F238E27FC236}">
                <a16:creationId xmlns:a16="http://schemas.microsoft.com/office/drawing/2014/main" id="{C9D21A43-2B1A-4AD8-B079-E60027AFB5A3}"/>
              </a:ext>
            </a:extLst>
          </p:cNvPr>
          <p:cNvSpPr>
            <a:spLocks xmlns:a="http://schemas.openxmlformats.org/drawingml/2006/main" noGrp="1"/>
          </p:cNvSpPr>
          <p:nvPr/>
        </p:nvSpPr>
        <p:spPr>
          <a:xfrm xmlns:a="http://schemas.openxmlformats.org/drawingml/2006/main">
            <a:off x="571500" y="435292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Low implementation cost, but protection depends on the model following the prompt.</a:t>
            </a:r>
          </a:p>
        </p:txBody>
      </p:sp>
      <p:sp>
        <p:nvSpPr>
          <p:cNvPr id="6" name="">
            <a:extLst xmlns:a="http://schemas.openxmlformats.org/drawingml/2006/main">
              <a:ext uri="{FF2B5EF4-FFF2-40B4-BE49-F238E27FC236}">
                <a16:creationId xmlns:a16="http://schemas.microsoft.com/office/drawing/2014/main" id="{C5C4AD11-B283-4B74-A9F0-29A90DD2139F}"/>
              </a:ext>
            </a:extLst>
          </p:cNvPr>
          <p:cNvSpPr>
            <a:spLocks xmlns:a="http://schemas.openxmlformats.org/drawingml/2006/main" noGrp="1"/>
          </p:cNvSpPr>
          <p:nvPr/>
        </p:nvSpPr>
        <p:spPr>
          <a:xfrm xmlns:a="http://schemas.openxmlformats.org/drawingml/2006/main">
            <a:off x="8048625"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77777"/>
                </a:solidFill>
                <a:latin typeface="Arial"/>
                <a:ea typeface="Arial"/>
                <a:cs typeface="Arial"/>
              </a:defRPr>
            </a:defPPr>
            <a:lvl1pPr>
              <a:defRPr sz="975" b="0">
                <a:solidFill>
                  <a:srgbClr val="777777"/>
                </a:solidFill>
                <a:latin typeface="Arial"/>
                <a:ea typeface="Arial"/>
                <a:cs typeface="Arial"/>
              </a:defRPr>
            </a:lvl1pPr>
            <a:lvl2pPr>
              <a:defRPr sz="975" b="0">
                <a:solidFill>
                  <a:srgbClr val="777777"/>
                </a:solidFill>
                <a:latin typeface="Arial"/>
                <a:ea typeface="Arial"/>
                <a:cs typeface="Arial"/>
              </a:defRPr>
            </a:lvl2pPr>
            <a:lvl3pPr>
              <a:defRPr sz="975" b="0">
                <a:solidFill>
                  <a:srgbClr val="777777"/>
                </a:solidFill>
                <a:latin typeface="Arial"/>
                <a:ea typeface="Arial"/>
                <a:cs typeface="Arial"/>
              </a:defRPr>
            </a:lvl3pPr>
            <a:lvl4pPr>
              <a:defRPr sz="975" b="0">
                <a:solidFill>
                  <a:srgbClr val="777777"/>
                </a:solidFill>
                <a:latin typeface="Arial"/>
                <a:ea typeface="Arial"/>
                <a:cs typeface="Arial"/>
              </a:defRPr>
            </a:lvl4pPr>
            <a:lvl5pPr>
              <a:defRPr sz="975" b="0">
                <a:solidFill>
                  <a:srgbClr val="777777"/>
                </a:solidFill>
                <a:latin typeface="Arial"/>
                <a:ea typeface="Arial"/>
                <a:cs typeface="Arial"/>
              </a:defRPr>
            </a:lvl5pPr>
            <a:lvl6pPr>
              <a:defRPr sz="975" b="0">
                <a:solidFill>
                  <a:srgbClr val="777777"/>
                </a:solidFill>
                <a:latin typeface="Arial"/>
                <a:ea typeface="Arial"/>
                <a:cs typeface="Arial"/>
              </a:defRPr>
            </a:lvl6pPr>
            <a:lvl7pPr>
              <a:defRPr sz="975" b="0">
                <a:solidFill>
                  <a:srgbClr val="777777"/>
                </a:solidFill>
                <a:latin typeface="Arial"/>
                <a:ea typeface="Arial"/>
                <a:cs typeface="Arial"/>
              </a:defRPr>
            </a:lvl7pPr>
            <a:lvl8pPr>
              <a:defRPr sz="975" b="0">
                <a:solidFill>
                  <a:srgbClr val="777777"/>
                </a:solidFill>
                <a:latin typeface="Arial"/>
                <a:ea typeface="Arial"/>
                <a:cs typeface="Arial"/>
              </a:defRPr>
            </a:lvl8pPr>
            <a:lvl9pPr>
              <a:defRPr sz="975" b="0">
                <a:solidFill>
                  <a:srgbClr val="777777"/>
                </a:solidFill>
                <a:latin typeface="Arial"/>
                <a:ea typeface="Arial"/>
                <a:cs typeface="Arial"/>
              </a:defRPr>
            </a:lvl9pPr>
          </a:lstStyle>
          <a:p xmlns:a="http://schemas.openxmlformats.org/drawingml/2006/main">
            <a:pPr>
              <a:defRPr sz="975" b="0">
                <a:solidFill>
                  <a:srgbClr val="777777"/>
                </a:solidFill>
                <a:latin typeface="Arial"/>
                <a:ea typeface="Arial"/>
                <a:cs typeface="Arial"/>
              </a:defRPr>
            </a:pPr>
            <a:r>
              <a:rPr sz="975" b="0">
                <a:solidFill>
                  <a:srgbClr val="777777"/>
                </a:solidFill>
                <a:latin typeface="Arial"/>
                <a:ea typeface="Arial"/>
                <a:cs typeface="Arial"/>
              </a:rPr>
              <a:t>3</a:t>
            </a:r>
          </a:p>
        </p:txBody>
      </p:sp>
    </p:spTree>
    <p:extLst>
      <p:ext uri="{BB962C8B-B14F-4D97-AF65-F5344CB8AC3E}">
        <p14:creationId xmlns:p14="http://schemas.microsoft.com/office/powerpoint/2010/main" val="5932909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7D3889-92A2-4FAE-B84A-C12C2D079BA0}"/>
              </a:ext>
            </a:extLst>
          </p:cNvPr>
          <p:cNvSpPr>
            <a:spLocks xmlns:a="http://schemas.openxmlformats.org/drawingml/2006/main" noGrp="1"/>
          </p:cNvSpPr>
          <p:nvPr/>
        </p:nvSpPr>
        <p:spPr>
          <a:xfrm xmlns:a="http://schemas.openxmlformats.org/drawingml/2006/main">
            <a:off x="571500" y="4572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1">
                <a:solidFill>
                  <a:srgbClr val="16181B"/>
                </a:solidFill>
                <a:latin typeface="Arial"/>
                <a:ea typeface="Arial"/>
                <a:cs typeface="Arial"/>
              </a:defRPr>
            </a:defPPr>
            <a:lvl1pPr>
              <a:defRPr sz="2850" b="1">
                <a:solidFill>
                  <a:srgbClr val="16181B"/>
                </a:solidFill>
                <a:latin typeface="Arial"/>
                <a:ea typeface="Arial"/>
                <a:cs typeface="Arial"/>
              </a:defRPr>
            </a:lvl1pPr>
            <a:lvl2pPr>
              <a:defRPr sz="2850" b="1">
                <a:solidFill>
                  <a:srgbClr val="16181B"/>
                </a:solidFill>
                <a:latin typeface="Arial"/>
                <a:ea typeface="Arial"/>
                <a:cs typeface="Arial"/>
              </a:defRPr>
            </a:lvl2pPr>
            <a:lvl3pPr>
              <a:defRPr sz="2850" b="1">
                <a:solidFill>
                  <a:srgbClr val="16181B"/>
                </a:solidFill>
                <a:latin typeface="Arial"/>
                <a:ea typeface="Arial"/>
                <a:cs typeface="Arial"/>
              </a:defRPr>
            </a:lvl3pPr>
            <a:lvl4pPr>
              <a:defRPr sz="2850" b="1">
                <a:solidFill>
                  <a:srgbClr val="16181B"/>
                </a:solidFill>
                <a:latin typeface="Arial"/>
                <a:ea typeface="Arial"/>
                <a:cs typeface="Arial"/>
              </a:defRPr>
            </a:lvl4pPr>
            <a:lvl5pPr>
              <a:defRPr sz="2850" b="1">
                <a:solidFill>
                  <a:srgbClr val="16181B"/>
                </a:solidFill>
                <a:latin typeface="Arial"/>
                <a:ea typeface="Arial"/>
                <a:cs typeface="Arial"/>
              </a:defRPr>
            </a:lvl5pPr>
            <a:lvl6pPr>
              <a:defRPr sz="2850" b="1">
                <a:solidFill>
                  <a:srgbClr val="16181B"/>
                </a:solidFill>
                <a:latin typeface="Arial"/>
                <a:ea typeface="Arial"/>
                <a:cs typeface="Arial"/>
              </a:defRPr>
            </a:lvl6pPr>
            <a:lvl7pPr>
              <a:defRPr sz="2850" b="1">
                <a:solidFill>
                  <a:srgbClr val="16181B"/>
                </a:solidFill>
                <a:latin typeface="Arial"/>
                <a:ea typeface="Arial"/>
                <a:cs typeface="Arial"/>
              </a:defRPr>
            </a:lvl7pPr>
            <a:lvl8pPr>
              <a:defRPr sz="2850" b="1">
                <a:solidFill>
                  <a:srgbClr val="16181B"/>
                </a:solidFill>
                <a:latin typeface="Arial"/>
                <a:ea typeface="Arial"/>
                <a:cs typeface="Arial"/>
              </a:defRPr>
            </a:lvl8pPr>
            <a:lvl9pPr>
              <a:defRPr sz="2850" b="1">
                <a:solidFill>
                  <a:srgbClr val="16181B"/>
                </a:solidFill>
                <a:latin typeface="Arial"/>
                <a:ea typeface="Arial"/>
                <a:cs typeface="Arial"/>
              </a:defRPr>
            </a:lvl9pPr>
          </a:lstStyle>
          <a:p xmlns:a="http://schemas.openxmlformats.org/drawingml/2006/main">
            <a:pPr>
              <a:defRPr sz="2850" b="1">
                <a:solidFill>
                  <a:srgbClr val="16181B"/>
                </a:solidFill>
                <a:latin typeface="Arial"/>
                <a:ea typeface="Arial"/>
                <a:cs typeface="Arial"/>
              </a:defRPr>
            </a:pPr>
            <a:r>
              <a:rPr sz="2850" b="1">
                <a:solidFill>
                  <a:srgbClr val="16181B"/>
                </a:solidFill>
                <a:latin typeface="Arial"/>
                <a:ea typeface="Arial"/>
                <a:cs typeface="Arial"/>
              </a:rPr>
              <a:t>Saved model comparison</a:t>
            </a:r>
          </a:p>
        </p:txBody>
      </p:sp>
      <p:sp>
        <p:nvSpPr>
          <p:cNvPr id="2" name="">
            <a:extLst xmlns:a="http://schemas.openxmlformats.org/drawingml/2006/main">
              <a:ext uri="{FF2B5EF4-FFF2-40B4-BE49-F238E27FC236}">
                <a16:creationId xmlns:a16="http://schemas.microsoft.com/office/drawing/2014/main" id="{2A7193F3-7A80-43C7-B47A-A2A28D9098C4}"/>
              </a:ext>
            </a:extLst>
          </p:cNvPr>
          <p:cNvSpPr>
            <a:spLocks xmlns:a="http://schemas.openxmlformats.org/drawingml/2006/main" noGrp="1"/>
          </p:cNvSpPr>
          <p:nvPr/>
        </p:nvSpPr>
        <p:spPr>
          <a:xfrm xmlns:a="http://schemas.openxmlformats.org/drawingml/2006/main">
            <a:off x="8048625"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77777"/>
                </a:solidFill>
                <a:latin typeface="Arial"/>
                <a:ea typeface="Arial"/>
                <a:cs typeface="Arial"/>
              </a:defRPr>
            </a:defPPr>
            <a:lvl1pPr>
              <a:defRPr sz="975" b="0">
                <a:solidFill>
                  <a:srgbClr val="777777"/>
                </a:solidFill>
                <a:latin typeface="Arial"/>
                <a:ea typeface="Arial"/>
                <a:cs typeface="Arial"/>
              </a:defRPr>
            </a:lvl1pPr>
            <a:lvl2pPr>
              <a:defRPr sz="975" b="0">
                <a:solidFill>
                  <a:srgbClr val="777777"/>
                </a:solidFill>
                <a:latin typeface="Arial"/>
                <a:ea typeface="Arial"/>
                <a:cs typeface="Arial"/>
              </a:defRPr>
            </a:lvl2pPr>
            <a:lvl3pPr>
              <a:defRPr sz="975" b="0">
                <a:solidFill>
                  <a:srgbClr val="777777"/>
                </a:solidFill>
                <a:latin typeface="Arial"/>
                <a:ea typeface="Arial"/>
                <a:cs typeface="Arial"/>
              </a:defRPr>
            </a:lvl3pPr>
            <a:lvl4pPr>
              <a:defRPr sz="975" b="0">
                <a:solidFill>
                  <a:srgbClr val="777777"/>
                </a:solidFill>
                <a:latin typeface="Arial"/>
                <a:ea typeface="Arial"/>
                <a:cs typeface="Arial"/>
              </a:defRPr>
            </a:lvl4pPr>
            <a:lvl5pPr>
              <a:defRPr sz="975" b="0">
                <a:solidFill>
                  <a:srgbClr val="777777"/>
                </a:solidFill>
                <a:latin typeface="Arial"/>
                <a:ea typeface="Arial"/>
                <a:cs typeface="Arial"/>
              </a:defRPr>
            </a:lvl5pPr>
            <a:lvl6pPr>
              <a:defRPr sz="975" b="0">
                <a:solidFill>
                  <a:srgbClr val="777777"/>
                </a:solidFill>
                <a:latin typeface="Arial"/>
                <a:ea typeface="Arial"/>
                <a:cs typeface="Arial"/>
              </a:defRPr>
            </a:lvl6pPr>
            <a:lvl7pPr>
              <a:defRPr sz="975" b="0">
                <a:solidFill>
                  <a:srgbClr val="777777"/>
                </a:solidFill>
                <a:latin typeface="Arial"/>
                <a:ea typeface="Arial"/>
                <a:cs typeface="Arial"/>
              </a:defRPr>
            </a:lvl7pPr>
            <a:lvl8pPr>
              <a:defRPr sz="975" b="0">
                <a:solidFill>
                  <a:srgbClr val="777777"/>
                </a:solidFill>
                <a:latin typeface="Arial"/>
                <a:ea typeface="Arial"/>
                <a:cs typeface="Arial"/>
              </a:defRPr>
            </a:lvl8pPr>
            <a:lvl9pPr>
              <a:defRPr sz="975" b="0">
                <a:solidFill>
                  <a:srgbClr val="777777"/>
                </a:solidFill>
                <a:latin typeface="Arial"/>
                <a:ea typeface="Arial"/>
                <a:cs typeface="Arial"/>
              </a:defRPr>
            </a:lvl9pPr>
          </a:lstStyle>
          <a:p xmlns:a="http://schemas.openxmlformats.org/drawingml/2006/main">
            <a:pPr>
              <a:defRPr sz="975" b="0">
                <a:solidFill>
                  <a:srgbClr val="777777"/>
                </a:solidFill>
                <a:latin typeface="Arial"/>
                <a:ea typeface="Arial"/>
                <a:cs typeface="Arial"/>
              </a:defRPr>
            </a:pPr>
            <a:r>
              <a:rPr sz="975" b="0">
                <a:solidFill>
                  <a:srgbClr val="777777"/>
                </a:solidFill>
                <a:latin typeface="Arial"/>
                <a:ea typeface="Arial"/>
                <a:cs typeface="Arial"/>
              </a:rPr>
              <a:t>4</a:t>
            </a:r>
          </a:p>
        </p:txBody>
      </p:sp>
      <p:graphicFrame>
        <p:nvGraphicFramePr>
          <p:cNvPr id="3" name="">
            <a:extLst xmlns:a="http://schemas.openxmlformats.org/drawingml/2006/main">
              <a:ext uri="{FF2B5EF4-FFF2-40B4-BE49-F238E27FC236}">
                <a16:creationId xmlns:a16="http://schemas.microsoft.com/office/drawing/2014/main" id="{E39F4946-A125-482F-A5E2-545FD47065EE}"/>
              </a:ext>
            </a:extLst>
          </p:cNvPr>
          <p:cNvGraphicFramePr/>
          <p:nvPr/>
        </p:nvGraphicFramePr>
        <p:xfrm>
          <a:off xmlns:a="http://schemas.openxmlformats.org/drawingml/2006/main" x="571500" y="1714500"/>
          <a:ext xmlns:a="http://schemas.openxmlformats.org/drawingml/2006/main" cx="7810500" cy="2667000"/>
        </p:xfrm>
        <a:graphic xmlns:a="http://schemas.openxmlformats.org/drawingml/2006/main">
          <a:graphicData uri="http://schemas.openxmlformats.org/drawingml/2006/table">
            <a:tbl>
              <a:tblPr/>
              <a:tblGrid>
                <a:gridCol w="3905250"/>
                <a:gridCol w="1952625"/>
                <a:gridCol w="1952625"/>
              </a:tblGrid>
              <a:tr h="666750">
                <a:tc>
                  <a:txBody>
                    <a:bodyPr/>
                    <a:lstStyle/>
                    <a:p>
                      <a:r>
                        <a:rPr sz="1500" b="1">
                          <a:solidFill>
                            <a:srgbClr val="FFFFFF"/>
                          </a:solidFill>
                          <a:latin typeface="Arial"/>
                          <a:ea typeface="Arial"/>
                          <a:cs typeface="Arial"/>
                        </a:rPr>
                        <a:t>Historical scenario</a:t>
                      </a:r>
                    </a:p>
                  </a:txBody>
                  <a:tcPr marL="91440" marR="91440" marT="45720" marB="45720">
                    <a:lnL w="5715">
                      <a:solidFill>
                        <a:srgbClr val="D4D7DB"/>
                      </a:solidFill>
                      <a:prstDash val="solid"/>
                    </a:lnL>
                    <a:lnR w="5715">
                      <a:solidFill>
                        <a:srgbClr val="D4D7DB"/>
                      </a:solidFill>
                      <a:prstDash val="solid"/>
                    </a:lnR>
                    <a:lnT w="5715">
                      <a:solidFill>
                        <a:srgbClr val="D4D7DB"/>
                      </a:solidFill>
                      <a:prstDash val="solid"/>
                    </a:lnT>
                    <a:lnB w="5715">
                      <a:solidFill>
                        <a:srgbClr val="D4D7DB"/>
                      </a:solidFill>
                      <a:prstDash val="solid"/>
                    </a:lnB>
                    <a:solidFill>
                      <a:srgbClr val="16181B"/>
                    </a:solidFill>
                  </a:tcPr>
                </a:tc>
                <a:tc>
                  <a:txBody>
                    <a:bodyPr/>
                    <a:lstStyle/>
                    <a:p>
                      <a:r>
                        <a:rPr sz="1500" b="1">
                          <a:solidFill>
                            <a:srgbClr val="FFFFFF"/>
                          </a:solidFill>
                          <a:latin typeface="Arial"/>
                          <a:ea typeface="Arial"/>
                          <a:cs typeface="Arial"/>
                        </a:rPr>
                        <a:t>Base</a:t>
                      </a:r>
                    </a:p>
                  </a:txBody>
                  <a:tcPr marL="91440" marR="91440" marT="45720" marB="45720">
                    <a:lnR w="5715">
                      <a:solidFill>
                        <a:srgbClr val="D4D7DB"/>
                      </a:solidFill>
                      <a:prstDash val="solid"/>
                    </a:lnR>
                    <a:lnT w="5715">
                      <a:solidFill>
                        <a:srgbClr val="D4D7DB"/>
                      </a:solidFill>
                      <a:prstDash val="solid"/>
                    </a:lnT>
                    <a:lnB w="5715">
                      <a:solidFill>
                        <a:srgbClr val="D4D7DB"/>
                      </a:solidFill>
                      <a:prstDash val="solid"/>
                    </a:lnB>
                    <a:solidFill>
                      <a:srgbClr val="16181B"/>
                    </a:solidFill>
                  </a:tcPr>
                </a:tc>
                <a:tc>
                  <a:txBody>
                    <a:bodyPr/>
                    <a:lstStyle/>
                    <a:p>
                      <a:r>
                        <a:rPr sz="1500" b="1">
                          <a:solidFill>
                            <a:srgbClr val="FFFFFF"/>
                          </a:solidFill>
                          <a:latin typeface="Arial"/>
                          <a:ea typeface="Arial"/>
                          <a:cs typeface="Arial"/>
                        </a:rPr>
                        <a:t>Guarded</a:t>
                      </a:r>
                    </a:p>
                  </a:txBody>
                  <a:tcPr marL="91440" marR="91440" marT="45720" marB="45720">
                    <a:lnR w="5715">
                      <a:solidFill>
                        <a:srgbClr val="D4D7DB"/>
                      </a:solidFill>
                      <a:prstDash val="solid"/>
                    </a:lnR>
                    <a:lnT w="5715">
                      <a:solidFill>
                        <a:srgbClr val="D4D7DB"/>
                      </a:solidFill>
                      <a:prstDash val="solid"/>
                    </a:lnT>
                    <a:lnB w="5715">
                      <a:solidFill>
                        <a:srgbClr val="D4D7DB"/>
                      </a:solidFill>
                      <a:prstDash val="solid"/>
                    </a:lnB>
                    <a:solidFill>
                      <a:srgbClr val="16181B"/>
                    </a:solidFill>
                  </a:tcPr>
                </a:tc>
              </a:tr>
              <a:tr h="666750">
                <a:tc>
                  <a:txBody>
                    <a:bodyPr/>
                    <a:lstStyle/>
                    <a:p>
                      <a:r>
                        <a:rPr sz="1575" b="0">
                          <a:solidFill>
                            <a:srgbClr val="202329"/>
                          </a:solidFill>
                          <a:latin typeface="Arial"/>
                          <a:ea typeface="Arial"/>
                          <a:cs typeface="Arial"/>
                        </a:rPr>
                        <a:t>Direct requests (25)</a:t>
                      </a:r>
                    </a:p>
                  </a:txBody>
                  <a:tcPr marL="91440" marR="91440" marT="45720" marB="45720">
                    <a:lnL w="5715">
                      <a:solidFill>
                        <a:srgbClr val="D4D7DB"/>
                      </a:solidFill>
                      <a:prstDash val="solid"/>
                    </a:lnL>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3/25 (12%)</a:t>
                      </a:r>
                    </a:p>
                  </a:txBody>
                  <a:tcPr marL="91440" marR="91440" marT="45720" marB="45720">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1/25 (4%)</a:t>
                      </a:r>
                    </a:p>
                  </a:txBody>
                  <a:tcPr marL="91440" marR="91440" marT="45720" marB="45720">
                    <a:lnR w="5715">
                      <a:solidFill>
                        <a:srgbClr val="D4D7DB"/>
                      </a:solidFill>
                      <a:prstDash val="solid"/>
                    </a:lnR>
                    <a:lnB w="5715">
                      <a:solidFill>
                        <a:srgbClr val="D4D7DB"/>
                      </a:solidFill>
                      <a:prstDash val="solid"/>
                    </a:lnB>
                    <a:solidFill>
                      <a:srgbClr val="F3F4F6"/>
                    </a:solidFill>
                  </a:tcPr>
                </a:tc>
              </a:tr>
              <a:tr h="666750">
                <a:tc>
                  <a:txBody>
                    <a:bodyPr/>
                    <a:lstStyle/>
                    <a:p>
                      <a:r>
                        <a:rPr sz="1575" b="0">
                          <a:solidFill>
                            <a:srgbClr val="202329"/>
                          </a:solidFill>
                          <a:latin typeface="Arial"/>
                          <a:ea typeface="Arial"/>
                          <a:cs typeface="Arial"/>
                        </a:rPr>
                        <a:t>Cached GCG (26)</a:t>
                      </a:r>
                    </a:p>
                  </a:txBody>
                  <a:tcPr marL="91440" marR="91440" marT="45720" marB="45720">
                    <a:lnL w="5715">
                      <a:solidFill>
                        <a:srgbClr val="D4D7DB"/>
                      </a:solidFill>
                      <a:prstDash val="solid"/>
                    </a:lnL>
                    <a:lnR w="5715">
                      <a:solidFill>
                        <a:srgbClr val="D4D7DB"/>
                      </a:solidFill>
                      <a:prstDash val="solid"/>
                    </a:lnR>
                    <a:lnB w="5715">
                      <a:solidFill>
                        <a:srgbClr val="D4D7DB"/>
                      </a:solidFill>
                      <a:prstDash val="solid"/>
                    </a:lnB>
                    <a:solidFill>
                      <a:srgbClr val="FFFFFF"/>
                    </a:solidFill>
                  </a:tcPr>
                </a:tc>
                <a:tc>
                  <a:txBody>
                    <a:bodyPr/>
                    <a:lstStyle/>
                    <a:p>
                      <a:r>
                        <a:rPr sz="1575" b="0">
                          <a:solidFill>
                            <a:srgbClr val="202329"/>
                          </a:solidFill>
                          <a:latin typeface="Arial"/>
                          <a:ea typeface="Arial"/>
                          <a:cs typeface="Arial"/>
                        </a:rPr>
                        <a:t>0/26 (0%)</a:t>
                      </a:r>
                    </a:p>
                  </a:txBody>
                  <a:tcPr marL="91440" marR="91440" marT="45720" marB="45720">
                    <a:lnR w="5715">
                      <a:solidFill>
                        <a:srgbClr val="D4D7DB"/>
                      </a:solidFill>
                      <a:prstDash val="solid"/>
                    </a:lnR>
                    <a:lnB w="5715">
                      <a:solidFill>
                        <a:srgbClr val="D4D7DB"/>
                      </a:solidFill>
                      <a:prstDash val="solid"/>
                    </a:lnB>
                    <a:solidFill>
                      <a:srgbClr val="FFFFFF"/>
                    </a:solidFill>
                  </a:tcPr>
                </a:tc>
                <a:tc>
                  <a:txBody>
                    <a:bodyPr/>
                    <a:lstStyle/>
                    <a:p>
                      <a:r>
                        <a:rPr sz="1575" b="0">
                          <a:solidFill>
                            <a:srgbClr val="202329"/>
                          </a:solidFill>
                          <a:latin typeface="Arial"/>
                          <a:ea typeface="Arial"/>
                          <a:cs typeface="Arial"/>
                        </a:rPr>
                        <a:t>0/26 (0%)</a:t>
                      </a:r>
                    </a:p>
                  </a:txBody>
                  <a:tcPr marL="91440" marR="91440" marT="45720" marB="45720">
                    <a:lnR w="5715">
                      <a:solidFill>
                        <a:srgbClr val="D4D7DB"/>
                      </a:solidFill>
                      <a:prstDash val="solid"/>
                    </a:lnR>
                    <a:lnB w="5715">
                      <a:solidFill>
                        <a:srgbClr val="D4D7DB"/>
                      </a:solidFill>
                      <a:prstDash val="solid"/>
                    </a:lnB>
                    <a:solidFill>
                      <a:srgbClr val="FFFFFF"/>
                    </a:solidFill>
                  </a:tcPr>
                </a:tc>
              </a:tr>
              <a:tr h="666750">
                <a:tc>
                  <a:txBody>
                    <a:bodyPr/>
                    <a:lstStyle/>
                    <a:p>
                      <a:r>
                        <a:rPr sz="1575" b="0">
                          <a:solidFill>
                            <a:srgbClr val="202329"/>
                          </a:solidFill>
                          <a:latin typeface="Arial"/>
                          <a:ea typeface="Arial"/>
                          <a:cs typeface="Arial"/>
                        </a:rPr>
                        <a:t>Published suffix (25)</a:t>
                      </a:r>
                    </a:p>
                  </a:txBody>
                  <a:tcPr marL="91440" marR="91440" marT="45720" marB="45720">
                    <a:lnL w="5715">
                      <a:solidFill>
                        <a:srgbClr val="D4D7DB"/>
                      </a:solidFill>
                      <a:prstDash val="solid"/>
                    </a:lnL>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22/25 (88%)</a:t>
                      </a:r>
                    </a:p>
                  </a:txBody>
                  <a:tcPr marL="91440" marR="91440" marT="45720" marB="45720">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19/25 (76%)</a:t>
                      </a:r>
                    </a:p>
                  </a:txBody>
                  <a:tcPr marL="91440" marR="91440" marT="45720" marB="45720">
                    <a:lnR w="5715">
                      <a:solidFill>
                        <a:srgbClr val="D4D7DB"/>
                      </a:solidFill>
                      <a:prstDash val="solid"/>
                    </a:lnR>
                    <a:lnB w="5715">
                      <a:solidFill>
                        <a:srgbClr val="D4D7DB"/>
                      </a:solidFill>
                      <a:prstDash val="solid"/>
                    </a:lnB>
                    <a:solidFill>
                      <a:srgbClr val="F3F4F6"/>
                    </a:solidFill>
                  </a:tcPr>
                </a:tc>
              </a:tr>
            </a:tbl>
          </a:graphicData>
        </a:graphic>
      </p:graphicFrame>
      <p:sp>
        <p:nvSpPr>
          <p:cNvPr id="4" name="">
            <a:extLst xmlns:a="http://schemas.openxmlformats.org/drawingml/2006/main">
              <a:ext uri="{FF2B5EF4-FFF2-40B4-BE49-F238E27FC236}">
                <a16:creationId xmlns:a16="http://schemas.microsoft.com/office/drawing/2014/main" id="{8756AB93-B337-4A45-B4BC-115A2DEBF03F}"/>
              </a:ext>
            </a:extLst>
          </p:cNvPr>
          <p:cNvSpPr>
            <a:spLocks xmlns:a="http://schemas.openxmlformats.org/drawingml/2006/main" noGrp="1"/>
          </p:cNvSpPr>
          <p:nvPr/>
        </p:nvSpPr>
        <p:spPr>
          <a:xfrm xmlns:a="http://schemas.openxmlformats.org/drawingml/2006/main">
            <a:off x="571500" y="4714875"/>
            <a:ext cx="7905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16181B"/>
                </a:solidFill>
                <a:latin typeface="Arial"/>
                <a:ea typeface="Arial"/>
                <a:cs typeface="Arial"/>
              </a:defRPr>
            </a:defPPr>
            <a:lvl1pPr>
              <a:defRPr sz="2100" b="1">
                <a:solidFill>
                  <a:srgbClr val="16181B"/>
                </a:solidFill>
                <a:latin typeface="Arial"/>
                <a:ea typeface="Arial"/>
                <a:cs typeface="Arial"/>
              </a:defRPr>
            </a:lvl1pPr>
            <a:lvl2pPr>
              <a:defRPr sz="2100" b="1">
                <a:solidFill>
                  <a:srgbClr val="16181B"/>
                </a:solidFill>
                <a:latin typeface="Arial"/>
                <a:ea typeface="Arial"/>
                <a:cs typeface="Arial"/>
              </a:defRPr>
            </a:lvl2pPr>
            <a:lvl3pPr>
              <a:defRPr sz="2100" b="1">
                <a:solidFill>
                  <a:srgbClr val="16181B"/>
                </a:solidFill>
                <a:latin typeface="Arial"/>
                <a:ea typeface="Arial"/>
                <a:cs typeface="Arial"/>
              </a:defRPr>
            </a:lvl3pPr>
            <a:lvl4pPr>
              <a:defRPr sz="2100" b="1">
                <a:solidFill>
                  <a:srgbClr val="16181B"/>
                </a:solidFill>
                <a:latin typeface="Arial"/>
                <a:ea typeface="Arial"/>
                <a:cs typeface="Arial"/>
              </a:defRPr>
            </a:lvl4pPr>
            <a:lvl5pPr>
              <a:defRPr sz="2100" b="1">
                <a:solidFill>
                  <a:srgbClr val="16181B"/>
                </a:solidFill>
                <a:latin typeface="Arial"/>
                <a:ea typeface="Arial"/>
                <a:cs typeface="Arial"/>
              </a:defRPr>
            </a:lvl5pPr>
            <a:lvl6pPr>
              <a:defRPr sz="2100" b="1">
                <a:solidFill>
                  <a:srgbClr val="16181B"/>
                </a:solidFill>
                <a:latin typeface="Arial"/>
                <a:ea typeface="Arial"/>
                <a:cs typeface="Arial"/>
              </a:defRPr>
            </a:lvl6pPr>
            <a:lvl7pPr>
              <a:defRPr sz="2100" b="1">
                <a:solidFill>
                  <a:srgbClr val="16181B"/>
                </a:solidFill>
                <a:latin typeface="Arial"/>
                <a:ea typeface="Arial"/>
                <a:cs typeface="Arial"/>
              </a:defRPr>
            </a:lvl7pPr>
            <a:lvl8pPr>
              <a:defRPr sz="2100" b="1">
                <a:solidFill>
                  <a:srgbClr val="16181B"/>
                </a:solidFill>
                <a:latin typeface="Arial"/>
                <a:ea typeface="Arial"/>
                <a:cs typeface="Arial"/>
              </a:defRPr>
            </a:lvl8pPr>
            <a:lvl9pPr>
              <a:defRPr sz="2100" b="1">
                <a:solidFill>
                  <a:srgbClr val="16181B"/>
                </a:solidFill>
                <a:latin typeface="Arial"/>
                <a:ea typeface="Arial"/>
                <a:cs typeface="Arial"/>
              </a:defRPr>
            </a:lvl9pPr>
          </a:lstStyle>
          <a:p xmlns:a="http://schemas.openxmlformats.org/drawingml/2006/main">
            <a:pPr>
              <a:defRPr sz="2100" b="1">
                <a:solidFill>
                  <a:srgbClr val="16181B"/>
                </a:solidFill>
                <a:latin typeface="Arial"/>
                <a:ea typeface="Arial"/>
                <a:cs typeface="Arial"/>
              </a:defRPr>
            </a:pPr>
            <a:r>
              <a:rPr sz="2100" b="1">
                <a:solidFill>
                  <a:srgbClr val="16181B"/>
                </a:solidFill>
                <a:latin typeface="Arial"/>
                <a:ea typeface="Arial"/>
                <a:cs typeface="Arial"/>
              </a:rPr>
              <a:t>The prompt guard leaves substantial residual bypass.</a:t>
            </a:r>
          </a:p>
        </p:txBody>
      </p:sp>
      <p:sp>
        <p:nvSpPr>
          <p:cNvPr id="5" name="">
            <a:extLst xmlns:a="http://schemas.openxmlformats.org/drawingml/2006/main">
              <a:ext uri="{FF2B5EF4-FFF2-40B4-BE49-F238E27FC236}">
                <a16:creationId xmlns:a16="http://schemas.microsoft.com/office/drawing/2014/main" id="{44698389-EC4F-4312-A131-48909C42E02C}"/>
              </a:ext>
            </a:extLst>
          </p:cNvPr>
          <p:cNvSpPr>
            <a:spLocks xmlns:a="http://schemas.openxmlformats.org/drawingml/2006/main" noGrp="1"/>
          </p:cNvSpPr>
          <p:nvPr/>
        </p:nvSpPr>
        <p:spPr>
          <a:xfrm xmlns:a="http://schemas.openxmlformats.org/drawingml/2006/main">
            <a:off x="571500" y="5553075"/>
            <a:ext cx="7905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75" b="0">
                <a:solidFill>
                  <a:srgbClr val="626872"/>
                </a:solidFill>
                <a:latin typeface="Arial"/>
                <a:ea typeface="Arial"/>
                <a:cs typeface="Arial"/>
              </a:defRPr>
            </a:defPPr>
            <a:lvl1pPr>
              <a:defRPr sz="1575" b="0">
                <a:solidFill>
                  <a:srgbClr val="626872"/>
                </a:solidFill>
                <a:latin typeface="Arial"/>
                <a:ea typeface="Arial"/>
                <a:cs typeface="Arial"/>
              </a:defRPr>
            </a:lvl1pPr>
            <a:lvl2pPr>
              <a:defRPr sz="1575" b="0">
                <a:solidFill>
                  <a:srgbClr val="626872"/>
                </a:solidFill>
                <a:latin typeface="Arial"/>
                <a:ea typeface="Arial"/>
                <a:cs typeface="Arial"/>
              </a:defRPr>
            </a:lvl2pPr>
            <a:lvl3pPr>
              <a:defRPr sz="1575" b="0">
                <a:solidFill>
                  <a:srgbClr val="626872"/>
                </a:solidFill>
                <a:latin typeface="Arial"/>
                <a:ea typeface="Arial"/>
                <a:cs typeface="Arial"/>
              </a:defRPr>
            </a:lvl3pPr>
            <a:lvl4pPr>
              <a:defRPr sz="1575" b="0">
                <a:solidFill>
                  <a:srgbClr val="626872"/>
                </a:solidFill>
                <a:latin typeface="Arial"/>
                <a:ea typeface="Arial"/>
                <a:cs typeface="Arial"/>
              </a:defRPr>
            </a:lvl4pPr>
            <a:lvl5pPr>
              <a:defRPr sz="1575" b="0">
                <a:solidFill>
                  <a:srgbClr val="626872"/>
                </a:solidFill>
                <a:latin typeface="Arial"/>
                <a:ea typeface="Arial"/>
                <a:cs typeface="Arial"/>
              </a:defRPr>
            </a:lvl5pPr>
            <a:lvl6pPr>
              <a:defRPr sz="1575" b="0">
                <a:solidFill>
                  <a:srgbClr val="626872"/>
                </a:solidFill>
                <a:latin typeface="Arial"/>
                <a:ea typeface="Arial"/>
                <a:cs typeface="Arial"/>
              </a:defRPr>
            </a:lvl6pPr>
            <a:lvl7pPr>
              <a:defRPr sz="1575" b="0">
                <a:solidFill>
                  <a:srgbClr val="626872"/>
                </a:solidFill>
                <a:latin typeface="Arial"/>
                <a:ea typeface="Arial"/>
                <a:cs typeface="Arial"/>
              </a:defRPr>
            </a:lvl7pPr>
            <a:lvl8pPr>
              <a:defRPr sz="1575" b="0">
                <a:solidFill>
                  <a:srgbClr val="626872"/>
                </a:solidFill>
                <a:latin typeface="Arial"/>
                <a:ea typeface="Arial"/>
                <a:cs typeface="Arial"/>
              </a:defRPr>
            </a:lvl8pPr>
            <a:lvl9pPr>
              <a:defRPr sz="1575" b="0">
                <a:solidFill>
                  <a:srgbClr val="626872"/>
                </a:solidFill>
                <a:latin typeface="Arial"/>
                <a:ea typeface="Arial"/>
                <a:cs typeface="Arial"/>
              </a:defRPr>
            </a:lvl9pPr>
          </a:lstStyle>
          <a:p xmlns:a="http://schemas.openxmlformats.org/drawingml/2006/main">
            <a:pPr>
              <a:defRPr sz="1575" b="0">
                <a:solidFill>
                  <a:srgbClr val="626872"/>
                </a:solidFill>
                <a:latin typeface="Arial"/>
                <a:ea typeface="Arial"/>
                <a:cs typeface="Arial"/>
              </a:defRPr>
            </a:pPr>
            <a:r>
              <a:rPr sz="1575" b="0">
                <a:solidFill>
                  <a:srgbClr val="626872"/>
                </a:solidFill>
                <a:latin typeface="Arial"/>
                <a:ea typeface="Arial"/>
                <a:cs typeface="Arial"/>
              </a:rPr>
              <a:t>Historical measurements. Refusal-lexicon proxy, not semantic harmfulness.</a:t>
            </a:r>
          </a:p>
        </p:txBody>
      </p:sp>
    </p:spTree>
    <p:extLst>
      <p:ext uri="{BB962C8B-B14F-4D97-AF65-F5344CB8AC3E}">
        <p14:creationId xmlns:p14="http://schemas.microsoft.com/office/powerpoint/2010/main" val="15014567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479680-0219-4564-9F13-F8B002D56E1D}"/>
              </a:ext>
            </a:extLst>
          </p:cNvPr>
          <p:cNvSpPr>
            <a:spLocks xmlns:a="http://schemas.openxmlformats.org/drawingml/2006/main" noGrp="1"/>
          </p:cNvSpPr>
          <p:nvPr/>
        </p:nvSpPr>
        <p:spPr>
          <a:xfrm xmlns:a="http://schemas.openxmlformats.org/drawingml/2006/main">
            <a:off x="571500" y="4572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1">
                <a:solidFill>
                  <a:srgbClr val="16181B"/>
                </a:solidFill>
                <a:latin typeface="Arial"/>
                <a:ea typeface="Arial"/>
                <a:cs typeface="Arial"/>
              </a:defRPr>
            </a:defPPr>
            <a:lvl1pPr>
              <a:defRPr sz="2850" b="1">
                <a:solidFill>
                  <a:srgbClr val="16181B"/>
                </a:solidFill>
                <a:latin typeface="Arial"/>
                <a:ea typeface="Arial"/>
                <a:cs typeface="Arial"/>
              </a:defRPr>
            </a:lvl1pPr>
            <a:lvl2pPr>
              <a:defRPr sz="2850" b="1">
                <a:solidFill>
                  <a:srgbClr val="16181B"/>
                </a:solidFill>
                <a:latin typeface="Arial"/>
                <a:ea typeface="Arial"/>
                <a:cs typeface="Arial"/>
              </a:defRPr>
            </a:lvl2pPr>
            <a:lvl3pPr>
              <a:defRPr sz="2850" b="1">
                <a:solidFill>
                  <a:srgbClr val="16181B"/>
                </a:solidFill>
                <a:latin typeface="Arial"/>
                <a:ea typeface="Arial"/>
                <a:cs typeface="Arial"/>
              </a:defRPr>
            </a:lvl3pPr>
            <a:lvl4pPr>
              <a:defRPr sz="2850" b="1">
                <a:solidFill>
                  <a:srgbClr val="16181B"/>
                </a:solidFill>
                <a:latin typeface="Arial"/>
                <a:ea typeface="Arial"/>
                <a:cs typeface="Arial"/>
              </a:defRPr>
            </a:lvl4pPr>
            <a:lvl5pPr>
              <a:defRPr sz="2850" b="1">
                <a:solidFill>
                  <a:srgbClr val="16181B"/>
                </a:solidFill>
                <a:latin typeface="Arial"/>
                <a:ea typeface="Arial"/>
                <a:cs typeface="Arial"/>
              </a:defRPr>
            </a:lvl5pPr>
            <a:lvl6pPr>
              <a:defRPr sz="2850" b="1">
                <a:solidFill>
                  <a:srgbClr val="16181B"/>
                </a:solidFill>
                <a:latin typeface="Arial"/>
                <a:ea typeface="Arial"/>
                <a:cs typeface="Arial"/>
              </a:defRPr>
            </a:lvl6pPr>
            <a:lvl7pPr>
              <a:defRPr sz="2850" b="1">
                <a:solidFill>
                  <a:srgbClr val="16181B"/>
                </a:solidFill>
                <a:latin typeface="Arial"/>
                <a:ea typeface="Arial"/>
                <a:cs typeface="Arial"/>
              </a:defRPr>
            </a:lvl7pPr>
            <a:lvl8pPr>
              <a:defRPr sz="2850" b="1">
                <a:solidFill>
                  <a:srgbClr val="16181B"/>
                </a:solidFill>
                <a:latin typeface="Arial"/>
                <a:ea typeface="Arial"/>
                <a:cs typeface="Arial"/>
              </a:defRPr>
            </a:lvl8pPr>
            <a:lvl9pPr>
              <a:defRPr sz="2850" b="1">
                <a:solidFill>
                  <a:srgbClr val="16181B"/>
                </a:solidFill>
                <a:latin typeface="Arial"/>
                <a:ea typeface="Arial"/>
                <a:cs typeface="Arial"/>
              </a:defRPr>
            </a:lvl9pPr>
          </a:lstStyle>
          <a:p xmlns:a="http://schemas.openxmlformats.org/drawingml/2006/main">
            <a:pPr>
              <a:defRPr sz="2850" b="1">
                <a:solidFill>
                  <a:srgbClr val="16181B"/>
                </a:solidFill>
                <a:latin typeface="Arial"/>
                <a:ea typeface="Arial"/>
                <a:cs typeface="Arial"/>
              </a:defRPr>
            </a:pPr>
            <a:r>
              <a:rPr sz="2850" b="1">
                <a:solidFill>
                  <a:srgbClr val="16181B"/>
                </a:solidFill>
                <a:latin typeface="Arial"/>
                <a:ea typeface="Arial"/>
                <a:cs typeface="Arial"/>
              </a:rPr>
              <a:t>Second defence: randomized smoothing</a:t>
            </a:r>
          </a:p>
        </p:txBody>
      </p:sp>
      <p:sp>
        <p:nvSpPr>
          <p:cNvPr id="2" name="">
            <a:extLst xmlns:a="http://schemas.openxmlformats.org/drawingml/2006/main">
              <a:ext uri="{FF2B5EF4-FFF2-40B4-BE49-F238E27FC236}">
                <a16:creationId xmlns:a16="http://schemas.microsoft.com/office/drawing/2014/main" id="{E9F7B7C1-5B32-423B-9612-0219D90D8362}"/>
              </a:ext>
            </a:extLst>
          </p:cNvPr>
          <p:cNvSpPr>
            <a:spLocks xmlns:a="http://schemas.openxmlformats.org/drawingml/2006/main" noGrp="1"/>
          </p:cNvSpPr>
          <p:nvPr/>
        </p:nvSpPr>
        <p:spPr>
          <a:xfrm xmlns:a="http://schemas.openxmlformats.org/drawingml/2006/main">
            <a:off x="571500" y="166687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SmoothLLM targets the fragility of token-specific GCG sequences to character changes.</a:t>
            </a:r>
          </a:p>
        </p:txBody>
      </p:sp>
      <p:sp>
        <p:nvSpPr>
          <p:cNvPr id="3" name="">
            <a:extLst xmlns:a="http://schemas.openxmlformats.org/drawingml/2006/main">
              <a:ext uri="{FF2B5EF4-FFF2-40B4-BE49-F238E27FC236}">
                <a16:creationId xmlns:a16="http://schemas.microsoft.com/office/drawing/2014/main" id="{0EC6DCFB-0885-4326-83D9-38207B2235D0}"/>
              </a:ext>
            </a:extLst>
          </p:cNvPr>
          <p:cNvSpPr>
            <a:spLocks xmlns:a="http://schemas.openxmlformats.org/drawingml/2006/main" noGrp="1"/>
          </p:cNvSpPr>
          <p:nvPr/>
        </p:nvSpPr>
        <p:spPr>
          <a:xfrm xmlns:a="http://schemas.openxmlformats.org/drawingml/2006/main">
            <a:off x="571500" y="256222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Create 5 copies of the entire last user message. Insert random characters at 10% of its positions.</a:t>
            </a:r>
          </a:p>
        </p:txBody>
      </p:sp>
      <p:sp>
        <p:nvSpPr>
          <p:cNvPr id="4" name="">
            <a:extLst xmlns:a="http://schemas.openxmlformats.org/drawingml/2006/main">
              <a:ext uri="{FF2B5EF4-FFF2-40B4-BE49-F238E27FC236}">
                <a16:creationId xmlns:a16="http://schemas.microsoft.com/office/drawing/2014/main" id="{FD2158CE-1D1E-4CC6-BB0C-7D58DCB9FA98}"/>
              </a:ext>
            </a:extLst>
          </p:cNvPr>
          <p:cNvSpPr>
            <a:spLocks xmlns:a="http://schemas.openxmlformats.org/drawingml/2006/main" noGrp="1"/>
          </p:cNvSpPr>
          <p:nvPr/>
        </p:nvSpPr>
        <p:spPr>
          <a:xfrm xmlns:a="http://schemas.openxmlformats.org/drawingml/2006/main">
            <a:off x="571500" y="345757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Query guarded Vicuna for every copy. Select an answer consistent with the majority refusal vote.</a:t>
            </a:r>
          </a:p>
        </p:txBody>
      </p:sp>
      <p:sp>
        <p:nvSpPr>
          <p:cNvPr id="5" name="">
            <a:extLst xmlns:a="http://schemas.openxmlformats.org/drawingml/2006/main">
              <a:ext uri="{FF2B5EF4-FFF2-40B4-BE49-F238E27FC236}">
                <a16:creationId xmlns:a16="http://schemas.microsoft.com/office/drawing/2014/main" id="{E92BCD77-83B8-44FA-9691-57E9C8F7748D}"/>
              </a:ext>
            </a:extLst>
          </p:cNvPr>
          <p:cNvSpPr>
            <a:spLocks xmlns:a="http://schemas.openxmlformats.org/drawingml/2006/main" noGrp="1"/>
          </p:cNvSpPr>
          <p:nvPr/>
        </p:nvSpPr>
        <p:spPr>
          <a:xfrm xmlns:a="http://schemas.openxmlformats.org/drawingml/2006/main">
            <a:off x="571500" y="435292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Buffer every candidate before release. The local regex vote differs from the reference implementation.</a:t>
            </a:r>
          </a:p>
        </p:txBody>
      </p:sp>
      <p:sp>
        <p:nvSpPr>
          <p:cNvPr id="6" name="">
            <a:extLst xmlns:a="http://schemas.openxmlformats.org/drawingml/2006/main">
              <a:ext uri="{FF2B5EF4-FFF2-40B4-BE49-F238E27FC236}">
                <a16:creationId xmlns:a16="http://schemas.microsoft.com/office/drawing/2014/main" id="{A4CC4FD2-F4AA-4B81-82CC-4520A7500E1A}"/>
              </a:ext>
            </a:extLst>
          </p:cNvPr>
          <p:cNvSpPr>
            <a:spLocks xmlns:a="http://schemas.openxmlformats.org/drawingml/2006/main" noGrp="1"/>
          </p:cNvSpPr>
          <p:nvPr/>
        </p:nvSpPr>
        <p:spPr>
          <a:xfrm xmlns:a="http://schemas.openxmlformats.org/drawingml/2006/main">
            <a:off x="8048625"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77777"/>
                </a:solidFill>
                <a:latin typeface="Arial"/>
                <a:ea typeface="Arial"/>
                <a:cs typeface="Arial"/>
              </a:defRPr>
            </a:defPPr>
            <a:lvl1pPr>
              <a:defRPr sz="975" b="0">
                <a:solidFill>
                  <a:srgbClr val="777777"/>
                </a:solidFill>
                <a:latin typeface="Arial"/>
                <a:ea typeface="Arial"/>
                <a:cs typeface="Arial"/>
              </a:defRPr>
            </a:lvl1pPr>
            <a:lvl2pPr>
              <a:defRPr sz="975" b="0">
                <a:solidFill>
                  <a:srgbClr val="777777"/>
                </a:solidFill>
                <a:latin typeface="Arial"/>
                <a:ea typeface="Arial"/>
                <a:cs typeface="Arial"/>
              </a:defRPr>
            </a:lvl2pPr>
            <a:lvl3pPr>
              <a:defRPr sz="975" b="0">
                <a:solidFill>
                  <a:srgbClr val="777777"/>
                </a:solidFill>
                <a:latin typeface="Arial"/>
                <a:ea typeface="Arial"/>
                <a:cs typeface="Arial"/>
              </a:defRPr>
            </a:lvl3pPr>
            <a:lvl4pPr>
              <a:defRPr sz="975" b="0">
                <a:solidFill>
                  <a:srgbClr val="777777"/>
                </a:solidFill>
                <a:latin typeface="Arial"/>
                <a:ea typeface="Arial"/>
                <a:cs typeface="Arial"/>
              </a:defRPr>
            </a:lvl4pPr>
            <a:lvl5pPr>
              <a:defRPr sz="975" b="0">
                <a:solidFill>
                  <a:srgbClr val="777777"/>
                </a:solidFill>
                <a:latin typeface="Arial"/>
                <a:ea typeface="Arial"/>
                <a:cs typeface="Arial"/>
              </a:defRPr>
            </a:lvl5pPr>
            <a:lvl6pPr>
              <a:defRPr sz="975" b="0">
                <a:solidFill>
                  <a:srgbClr val="777777"/>
                </a:solidFill>
                <a:latin typeface="Arial"/>
                <a:ea typeface="Arial"/>
                <a:cs typeface="Arial"/>
              </a:defRPr>
            </a:lvl6pPr>
            <a:lvl7pPr>
              <a:defRPr sz="975" b="0">
                <a:solidFill>
                  <a:srgbClr val="777777"/>
                </a:solidFill>
                <a:latin typeface="Arial"/>
                <a:ea typeface="Arial"/>
                <a:cs typeface="Arial"/>
              </a:defRPr>
            </a:lvl7pPr>
            <a:lvl8pPr>
              <a:defRPr sz="975" b="0">
                <a:solidFill>
                  <a:srgbClr val="777777"/>
                </a:solidFill>
                <a:latin typeface="Arial"/>
                <a:ea typeface="Arial"/>
                <a:cs typeface="Arial"/>
              </a:defRPr>
            </a:lvl8pPr>
            <a:lvl9pPr>
              <a:defRPr sz="975" b="0">
                <a:solidFill>
                  <a:srgbClr val="777777"/>
                </a:solidFill>
                <a:latin typeface="Arial"/>
                <a:ea typeface="Arial"/>
                <a:cs typeface="Arial"/>
              </a:defRPr>
            </a:lvl9pPr>
          </a:lstStyle>
          <a:p xmlns:a="http://schemas.openxmlformats.org/drawingml/2006/main">
            <a:pPr>
              <a:defRPr sz="975" b="0">
                <a:solidFill>
                  <a:srgbClr val="777777"/>
                </a:solidFill>
                <a:latin typeface="Arial"/>
                <a:ea typeface="Arial"/>
                <a:cs typeface="Arial"/>
              </a:defRPr>
            </a:pPr>
            <a:r>
              <a:rPr sz="975" b="0">
                <a:solidFill>
                  <a:srgbClr val="777777"/>
                </a:solidFill>
                <a:latin typeface="Arial"/>
                <a:ea typeface="Arial"/>
                <a:cs typeface="Arial"/>
              </a:rPr>
              <a:t>5</a:t>
            </a:r>
          </a:p>
        </p:txBody>
      </p:sp>
    </p:spTree>
    <p:extLst>
      <p:ext uri="{BB962C8B-B14F-4D97-AF65-F5344CB8AC3E}">
        <p14:creationId xmlns:p14="http://schemas.microsoft.com/office/powerpoint/2010/main" val="4235954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1A6A9A-6E7F-40B2-BA83-8216F08E4795}"/>
              </a:ext>
            </a:extLst>
          </p:cNvPr>
          <p:cNvSpPr>
            <a:spLocks xmlns:a="http://schemas.openxmlformats.org/drawingml/2006/main" noGrp="1"/>
          </p:cNvSpPr>
          <p:nvPr/>
        </p:nvSpPr>
        <p:spPr>
          <a:xfrm xmlns:a="http://schemas.openxmlformats.org/drawingml/2006/main">
            <a:off x="571500" y="4572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1">
                <a:solidFill>
                  <a:srgbClr val="16181B"/>
                </a:solidFill>
                <a:latin typeface="Arial"/>
                <a:ea typeface="Arial"/>
                <a:cs typeface="Arial"/>
              </a:defRPr>
            </a:defPPr>
            <a:lvl1pPr>
              <a:defRPr sz="2850" b="1">
                <a:solidFill>
                  <a:srgbClr val="16181B"/>
                </a:solidFill>
                <a:latin typeface="Arial"/>
                <a:ea typeface="Arial"/>
                <a:cs typeface="Arial"/>
              </a:defRPr>
            </a:lvl1pPr>
            <a:lvl2pPr>
              <a:defRPr sz="2850" b="1">
                <a:solidFill>
                  <a:srgbClr val="16181B"/>
                </a:solidFill>
                <a:latin typeface="Arial"/>
                <a:ea typeface="Arial"/>
                <a:cs typeface="Arial"/>
              </a:defRPr>
            </a:lvl2pPr>
            <a:lvl3pPr>
              <a:defRPr sz="2850" b="1">
                <a:solidFill>
                  <a:srgbClr val="16181B"/>
                </a:solidFill>
                <a:latin typeface="Arial"/>
                <a:ea typeface="Arial"/>
                <a:cs typeface="Arial"/>
              </a:defRPr>
            </a:lvl3pPr>
            <a:lvl4pPr>
              <a:defRPr sz="2850" b="1">
                <a:solidFill>
                  <a:srgbClr val="16181B"/>
                </a:solidFill>
                <a:latin typeface="Arial"/>
                <a:ea typeface="Arial"/>
                <a:cs typeface="Arial"/>
              </a:defRPr>
            </a:lvl4pPr>
            <a:lvl5pPr>
              <a:defRPr sz="2850" b="1">
                <a:solidFill>
                  <a:srgbClr val="16181B"/>
                </a:solidFill>
                <a:latin typeface="Arial"/>
                <a:ea typeface="Arial"/>
                <a:cs typeface="Arial"/>
              </a:defRPr>
            </a:lvl5pPr>
            <a:lvl6pPr>
              <a:defRPr sz="2850" b="1">
                <a:solidFill>
                  <a:srgbClr val="16181B"/>
                </a:solidFill>
                <a:latin typeface="Arial"/>
                <a:ea typeface="Arial"/>
                <a:cs typeface="Arial"/>
              </a:defRPr>
            </a:lvl6pPr>
            <a:lvl7pPr>
              <a:defRPr sz="2850" b="1">
                <a:solidFill>
                  <a:srgbClr val="16181B"/>
                </a:solidFill>
                <a:latin typeface="Arial"/>
                <a:ea typeface="Arial"/>
                <a:cs typeface="Arial"/>
              </a:defRPr>
            </a:lvl7pPr>
            <a:lvl8pPr>
              <a:defRPr sz="2850" b="1">
                <a:solidFill>
                  <a:srgbClr val="16181B"/>
                </a:solidFill>
                <a:latin typeface="Arial"/>
                <a:ea typeface="Arial"/>
                <a:cs typeface="Arial"/>
              </a:defRPr>
            </a:lvl8pPr>
            <a:lvl9pPr>
              <a:defRPr sz="2850" b="1">
                <a:solidFill>
                  <a:srgbClr val="16181B"/>
                </a:solidFill>
                <a:latin typeface="Arial"/>
                <a:ea typeface="Arial"/>
                <a:cs typeface="Arial"/>
              </a:defRPr>
            </a:lvl9pPr>
          </a:lstStyle>
          <a:p xmlns:a="http://schemas.openxmlformats.org/drawingml/2006/main">
            <a:pPr>
              <a:defRPr sz="2850" b="1">
                <a:solidFill>
                  <a:srgbClr val="16181B"/>
                </a:solidFill>
                <a:latin typeface="Arial"/>
                <a:ea typeface="Arial"/>
                <a:cs typeface="Arial"/>
              </a:defRPr>
            </a:pPr>
            <a:r>
              <a:rPr sz="2850" b="1">
                <a:solidFill>
                  <a:srgbClr val="16181B"/>
                </a:solidFill>
                <a:latin typeface="Arial"/>
                <a:ea typeface="Arial"/>
                <a:cs typeface="Arial"/>
              </a:rPr>
              <a:t>New controlled Ollama experiment</a:t>
            </a:r>
          </a:p>
        </p:txBody>
      </p:sp>
      <p:sp>
        <p:nvSpPr>
          <p:cNvPr id="2" name="">
            <a:extLst xmlns:a="http://schemas.openxmlformats.org/drawingml/2006/main">
              <a:ext uri="{FF2B5EF4-FFF2-40B4-BE49-F238E27FC236}">
                <a16:creationId xmlns:a16="http://schemas.microsoft.com/office/drawing/2014/main" id="{BBFE29B2-159D-4B9E-9ADB-DB4E24D02E00}"/>
              </a:ext>
            </a:extLst>
          </p:cNvPr>
          <p:cNvSpPr>
            <a:spLocks xmlns:a="http://schemas.openxmlformats.org/drawingml/2006/main" noGrp="1"/>
          </p:cNvSpPr>
          <p:nvPr/>
        </p:nvSpPr>
        <p:spPr>
          <a:xfrm xmlns:a="http://schemas.openxmlformats.org/drawingml/2006/main">
            <a:off x="571500" y="166687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Three configurations, 40 identical cases each: base, guarded and guarded with smoothing.</a:t>
            </a:r>
          </a:p>
        </p:txBody>
      </p:sp>
      <p:sp>
        <p:nvSpPr>
          <p:cNvPr id="3" name="">
            <a:extLst xmlns:a="http://schemas.openxmlformats.org/drawingml/2006/main">
              <a:ext uri="{FF2B5EF4-FFF2-40B4-BE49-F238E27FC236}">
                <a16:creationId xmlns:a16="http://schemas.microsoft.com/office/drawing/2014/main" id="{C4EBC1A6-8C86-4353-9C85-876C30969729}"/>
              </a:ext>
            </a:extLst>
          </p:cNvPr>
          <p:cNvSpPr>
            <a:spLocks xmlns:a="http://schemas.openxmlformats.org/drawingml/2006/main" noGrp="1"/>
          </p:cNvSpPr>
          <p:nvPr/>
        </p:nvSpPr>
        <p:spPr>
          <a:xfrm xmlns:a="http://schemas.openxmlformats.org/drawingml/2006/main">
            <a:off x="571500" y="256222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10 direct AdvBench goals, those 10 with a published suffix, 10 cached-GCG inputs and 10 benign tasks.</a:t>
            </a:r>
          </a:p>
        </p:txBody>
      </p:sp>
      <p:sp>
        <p:nvSpPr>
          <p:cNvPr id="4" name="">
            <a:extLst xmlns:a="http://schemas.openxmlformats.org/drawingml/2006/main">
              <a:ext uri="{FF2B5EF4-FFF2-40B4-BE49-F238E27FC236}">
                <a16:creationId xmlns:a16="http://schemas.microsoft.com/office/drawing/2014/main" id="{184E4FB5-ABB5-4305-A7BB-D7454FFCA1B4}"/>
              </a:ext>
            </a:extLst>
          </p:cNvPr>
          <p:cNvSpPr>
            <a:spLocks xmlns:a="http://schemas.openxmlformats.org/drawingml/2006/main" noGrp="1"/>
          </p:cNvSpPr>
          <p:nvPr/>
        </p:nvSpPr>
        <p:spPr>
          <a:xfrm xmlns:a="http://schemas.openxmlformats.org/drawingml/2006/main">
            <a:off x="571500" y="345757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Ollama 0.40.9, RTX 4060 Laptop GPU, temperature 0, seed 20261027, context 2048 and 96 output tokens.</a:t>
            </a:r>
          </a:p>
        </p:txBody>
      </p:sp>
      <p:sp>
        <p:nvSpPr>
          <p:cNvPr id="5" name="">
            <a:extLst xmlns:a="http://schemas.openxmlformats.org/drawingml/2006/main">
              <a:ext uri="{FF2B5EF4-FFF2-40B4-BE49-F238E27FC236}">
                <a16:creationId xmlns:a16="http://schemas.microsoft.com/office/drawing/2014/main" id="{7B79613C-4FFF-45BF-94C8-A4DE0DF51A2A}"/>
              </a:ext>
            </a:extLst>
          </p:cNvPr>
          <p:cNvSpPr>
            <a:spLocks xmlns:a="http://schemas.openxmlformats.org/drawingml/2006/main" noGrp="1"/>
          </p:cNvSpPr>
          <p:nvPr/>
        </p:nvSpPr>
        <p:spPr>
          <a:xfrm xmlns:a="http://schemas.openxmlformats.org/drawingml/2006/main">
            <a:off x="571500" y="435292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120 selected answers from 280 measured generations. Separate local judge and API-boundary tests.</a:t>
            </a:r>
          </a:p>
        </p:txBody>
      </p:sp>
      <p:sp>
        <p:nvSpPr>
          <p:cNvPr id="6" name="">
            <a:extLst xmlns:a="http://schemas.openxmlformats.org/drawingml/2006/main">
              <a:ext uri="{FF2B5EF4-FFF2-40B4-BE49-F238E27FC236}">
                <a16:creationId xmlns:a16="http://schemas.microsoft.com/office/drawing/2014/main" id="{500DF183-7FD1-463D-9A3B-9E04C5B32F9D}"/>
              </a:ext>
            </a:extLst>
          </p:cNvPr>
          <p:cNvSpPr>
            <a:spLocks xmlns:a="http://schemas.openxmlformats.org/drawingml/2006/main" noGrp="1"/>
          </p:cNvSpPr>
          <p:nvPr/>
        </p:nvSpPr>
        <p:spPr>
          <a:xfrm xmlns:a="http://schemas.openxmlformats.org/drawingml/2006/main">
            <a:off x="8048625"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77777"/>
                </a:solidFill>
                <a:latin typeface="Arial"/>
                <a:ea typeface="Arial"/>
                <a:cs typeface="Arial"/>
              </a:defRPr>
            </a:defPPr>
            <a:lvl1pPr>
              <a:defRPr sz="975" b="0">
                <a:solidFill>
                  <a:srgbClr val="777777"/>
                </a:solidFill>
                <a:latin typeface="Arial"/>
                <a:ea typeface="Arial"/>
                <a:cs typeface="Arial"/>
              </a:defRPr>
            </a:lvl1pPr>
            <a:lvl2pPr>
              <a:defRPr sz="975" b="0">
                <a:solidFill>
                  <a:srgbClr val="777777"/>
                </a:solidFill>
                <a:latin typeface="Arial"/>
                <a:ea typeface="Arial"/>
                <a:cs typeface="Arial"/>
              </a:defRPr>
            </a:lvl2pPr>
            <a:lvl3pPr>
              <a:defRPr sz="975" b="0">
                <a:solidFill>
                  <a:srgbClr val="777777"/>
                </a:solidFill>
                <a:latin typeface="Arial"/>
                <a:ea typeface="Arial"/>
                <a:cs typeface="Arial"/>
              </a:defRPr>
            </a:lvl3pPr>
            <a:lvl4pPr>
              <a:defRPr sz="975" b="0">
                <a:solidFill>
                  <a:srgbClr val="777777"/>
                </a:solidFill>
                <a:latin typeface="Arial"/>
                <a:ea typeface="Arial"/>
                <a:cs typeface="Arial"/>
              </a:defRPr>
            </a:lvl4pPr>
            <a:lvl5pPr>
              <a:defRPr sz="975" b="0">
                <a:solidFill>
                  <a:srgbClr val="777777"/>
                </a:solidFill>
                <a:latin typeface="Arial"/>
                <a:ea typeface="Arial"/>
                <a:cs typeface="Arial"/>
              </a:defRPr>
            </a:lvl5pPr>
            <a:lvl6pPr>
              <a:defRPr sz="975" b="0">
                <a:solidFill>
                  <a:srgbClr val="777777"/>
                </a:solidFill>
                <a:latin typeface="Arial"/>
                <a:ea typeface="Arial"/>
                <a:cs typeface="Arial"/>
              </a:defRPr>
            </a:lvl6pPr>
            <a:lvl7pPr>
              <a:defRPr sz="975" b="0">
                <a:solidFill>
                  <a:srgbClr val="777777"/>
                </a:solidFill>
                <a:latin typeface="Arial"/>
                <a:ea typeface="Arial"/>
                <a:cs typeface="Arial"/>
              </a:defRPr>
            </a:lvl7pPr>
            <a:lvl8pPr>
              <a:defRPr sz="975" b="0">
                <a:solidFill>
                  <a:srgbClr val="777777"/>
                </a:solidFill>
                <a:latin typeface="Arial"/>
                <a:ea typeface="Arial"/>
                <a:cs typeface="Arial"/>
              </a:defRPr>
            </a:lvl8pPr>
            <a:lvl9pPr>
              <a:defRPr sz="975" b="0">
                <a:solidFill>
                  <a:srgbClr val="777777"/>
                </a:solidFill>
                <a:latin typeface="Arial"/>
                <a:ea typeface="Arial"/>
                <a:cs typeface="Arial"/>
              </a:defRPr>
            </a:lvl9pPr>
          </a:lstStyle>
          <a:p xmlns:a="http://schemas.openxmlformats.org/drawingml/2006/main">
            <a:pPr>
              <a:defRPr sz="975" b="0">
                <a:solidFill>
                  <a:srgbClr val="777777"/>
                </a:solidFill>
                <a:latin typeface="Arial"/>
                <a:ea typeface="Arial"/>
                <a:cs typeface="Arial"/>
              </a:defRPr>
            </a:pPr>
            <a:r>
              <a:rPr sz="975" b="0">
                <a:solidFill>
                  <a:srgbClr val="777777"/>
                </a:solidFill>
                <a:latin typeface="Arial"/>
                <a:ea typeface="Arial"/>
                <a:cs typeface="Arial"/>
              </a:rPr>
              <a:t>6</a:t>
            </a:r>
          </a:p>
        </p:txBody>
      </p:sp>
    </p:spTree>
    <p:extLst>
      <p:ext uri="{BB962C8B-B14F-4D97-AF65-F5344CB8AC3E}">
        <p14:creationId xmlns:p14="http://schemas.microsoft.com/office/powerpoint/2010/main" val="6945960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6C9788-EB7A-489F-8FA5-82DD0931A99C}"/>
              </a:ext>
            </a:extLst>
          </p:cNvPr>
          <p:cNvSpPr>
            <a:spLocks xmlns:a="http://schemas.openxmlformats.org/drawingml/2006/main" noGrp="1"/>
          </p:cNvSpPr>
          <p:nvPr/>
        </p:nvSpPr>
        <p:spPr>
          <a:xfrm xmlns:a="http://schemas.openxmlformats.org/drawingml/2006/main">
            <a:off x="571500" y="4572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1">
                <a:solidFill>
                  <a:srgbClr val="16181B"/>
                </a:solidFill>
                <a:latin typeface="Arial"/>
                <a:ea typeface="Arial"/>
                <a:cs typeface="Arial"/>
              </a:defRPr>
            </a:defPPr>
            <a:lvl1pPr>
              <a:defRPr sz="2850" b="1">
                <a:solidFill>
                  <a:srgbClr val="16181B"/>
                </a:solidFill>
                <a:latin typeface="Arial"/>
                <a:ea typeface="Arial"/>
                <a:cs typeface="Arial"/>
              </a:defRPr>
            </a:lvl1pPr>
            <a:lvl2pPr>
              <a:defRPr sz="2850" b="1">
                <a:solidFill>
                  <a:srgbClr val="16181B"/>
                </a:solidFill>
                <a:latin typeface="Arial"/>
                <a:ea typeface="Arial"/>
                <a:cs typeface="Arial"/>
              </a:defRPr>
            </a:lvl2pPr>
            <a:lvl3pPr>
              <a:defRPr sz="2850" b="1">
                <a:solidFill>
                  <a:srgbClr val="16181B"/>
                </a:solidFill>
                <a:latin typeface="Arial"/>
                <a:ea typeface="Arial"/>
                <a:cs typeface="Arial"/>
              </a:defRPr>
            </a:lvl3pPr>
            <a:lvl4pPr>
              <a:defRPr sz="2850" b="1">
                <a:solidFill>
                  <a:srgbClr val="16181B"/>
                </a:solidFill>
                <a:latin typeface="Arial"/>
                <a:ea typeface="Arial"/>
                <a:cs typeface="Arial"/>
              </a:defRPr>
            </a:lvl4pPr>
            <a:lvl5pPr>
              <a:defRPr sz="2850" b="1">
                <a:solidFill>
                  <a:srgbClr val="16181B"/>
                </a:solidFill>
                <a:latin typeface="Arial"/>
                <a:ea typeface="Arial"/>
                <a:cs typeface="Arial"/>
              </a:defRPr>
            </a:lvl5pPr>
            <a:lvl6pPr>
              <a:defRPr sz="2850" b="1">
                <a:solidFill>
                  <a:srgbClr val="16181B"/>
                </a:solidFill>
                <a:latin typeface="Arial"/>
                <a:ea typeface="Arial"/>
                <a:cs typeface="Arial"/>
              </a:defRPr>
            </a:lvl6pPr>
            <a:lvl7pPr>
              <a:defRPr sz="2850" b="1">
                <a:solidFill>
                  <a:srgbClr val="16181B"/>
                </a:solidFill>
                <a:latin typeface="Arial"/>
                <a:ea typeface="Arial"/>
                <a:cs typeface="Arial"/>
              </a:defRPr>
            </a:lvl7pPr>
            <a:lvl8pPr>
              <a:defRPr sz="2850" b="1">
                <a:solidFill>
                  <a:srgbClr val="16181B"/>
                </a:solidFill>
                <a:latin typeface="Arial"/>
                <a:ea typeface="Arial"/>
                <a:cs typeface="Arial"/>
              </a:defRPr>
            </a:lvl8pPr>
            <a:lvl9pPr>
              <a:defRPr sz="2850" b="1">
                <a:solidFill>
                  <a:srgbClr val="16181B"/>
                </a:solidFill>
                <a:latin typeface="Arial"/>
                <a:ea typeface="Arial"/>
                <a:cs typeface="Arial"/>
              </a:defRPr>
            </a:lvl9pPr>
          </a:lstStyle>
          <a:p xmlns:a="http://schemas.openxmlformats.org/drawingml/2006/main">
            <a:pPr>
              <a:defRPr sz="2850" b="1">
                <a:solidFill>
                  <a:srgbClr val="16181B"/>
                </a:solidFill>
                <a:latin typeface="Arial"/>
                <a:ea typeface="Arial"/>
                <a:cs typeface="Arial"/>
              </a:defRPr>
            </a:pPr>
            <a:r>
              <a:rPr sz="2850" b="1">
                <a:solidFill>
                  <a:srgbClr val="16181B"/>
                </a:solidFill>
                <a:latin typeface="Arial"/>
                <a:ea typeface="Arial"/>
                <a:cs typeface="Arial"/>
              </a:rPr>
              <a:t>New results: refusal-lexicon bypass</a:t>
            </a:r>
          </a:p>
        </p:txBody>
      </p:sp>
      <p:sp>
        <p:nvSpPr>
          <p:cNvPr id="2" name="">
            <a:extLst xmlns:a="http://schemas.openxmlformats.org/drawingml/2006/main">
              <a:ext uri="{FF2B5EF4-FFF2-40B4-BE49-F238E27FC236}">
                <a16:creationId xmlns:a16="http://schemas.microsoft.com/office/drawing/2014/main" id="{DDCEAB87-3AD3-4523-9923-043548092244}"/>
              </a:ext>
            </a:extLst>
          </p:cNvPr>
          <p:cNvSpPr>
            <a:spLocks xmlns:a="http://schemas.openxmlformats.org/drawingml/2006/main" noGrp="1"/>
          </p:cNvSpPr>
          <p:nvPr/>
        </p:nvSpPr>
        <p:spPr>
          <a:xfrm xmlns:a="http://schemas.openxmlformats.org/drawingml/2006/main">
            <a:off x="8048625"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77777"/>
                </a:solidFill>
                <a:latin typeface="Arial"/>
                <a:ea typeface="Arial"/>
                <a:cs typeface="Arial"/>
              </a:defRPr>
            </a:defPPr>
            <a:lvl1pPr>
              <a:defRPr sz="975" b="0">
                <a:solidFill>
                  <a:srgbClr val="777777"/>
                </a:solidFill>
                <a:latin typeface="Arial"/>
                <a:ea typeface="Arial"/>
                <a:cs typeface="Arial"/>
              </a:defRPr>
            </a:lvl1pPr>
            <a:lvl2pPr>
              <a:defRPr sz="975" b="0">
                <a:solidFill>
                  <a:srgbClr val="777777"/>
                </a:solidFill>
                <a:latin typeface="Arial"/>
                <a:ea typeface="Arial"/>
                <a:cs typeface="Arial"/>
              </a:defRPr>
            </a:lvl2pPr>
            <a:lvl3pPr>
              <a:defRPr sz="975" b="0">
                <a:solidFill>
                  <a:srgbClr val="777777"/>
                </a:solidFill>
                <a:latin typeface="Arial"/>
                <a:ea typeface="Arial"/>
                <a:cs typeface="Arial"/>
              </a:defRPr>
            </a:lvl3pPr>
            <a:lvl4pPr>
              <a:defRPr sz="975" b="0">
                <a:solidFill>
                  <a:srgbClr val="777777"/>
                </a:solidFill>
                <a:latin typeface="Arial"/>
                <a:ea typeface="Arial"/>
                <a:cs typeface="Arial"/>
              </a:defRPr>
            </a:lvl4pPr>
            <a:lvl5pPr>
              <a:defRPr sz="975" b="0">
                <a:solidFill>
                  <a:srgbClr val="777777"/>
                </a:solidFill>
                <a:latin typeface="Arial"/>
                <a:ea typeface="Arial"/>
                <a:cs typeface="Arial"/>
              </a:defRPr>
            </a:lvl5pPr>
            <a:lvl6pPr>
              <a:defRPr sz="975" b="0">
                <a:solidFill>
                  <a:srgbClr val="777777"/>
                </a:solidFill>
                <a:latin typeface="Arial"/>
                <a:ea typeface="Arial"/>
                <a:cs typeface="Arial"/>
              </a:defRPr>
            </a:lvl6pPr>
            <a:lvl7pPr>
              <a:defRPr sz="975" b="0">
                <a:solidFill>
                  <a:srgbClr val="777777"/>
                </a:solidFill>
                <a:latin typeface="Arial"/>
                <a:ea typeface="Arial"/>
                <a:cs typeface="Arial"/>
              </a:defRPr>
            </a:lvl7pPr>
            <a:lvl8pPr>
              <a:defRPr sz="975" b="0">
                <a:solidFill>
                  <a:srgbClr val="777777"/>
                </a:solidFill>
                <a:latin typeface="Arial"/>
                <a:ea typeface="Arial"/>
                <a:cs typeface="Arial"/>
              </a:defRPr>
            </a:lvl8pPr>
            <a:lvl9pPr>
              <a:defRPr sz="975" b="0">
                <a:solidFill>
                  <a:srgbClr val="777777"/>
                </a:solidFill>
                <a:latin typeface="Arial"/>
                <a:ea typeface="Arial"/>
                <a:cs typeface="Arial"/>
              </a:defRPr>
            </a:lvl9pPr>
          </a:lstStyle>
          <a:p xmlns:a="http://schemas.openxmlformats.org/drawingml/2006/main">
            <a:pPr>
              <a:defRPr sz="975" b="0">
                <a:solidFill>
                  <a:srgbClr val="777777"/>
                </a:solidFill>
                <a:latin typeface="Arial"/>
                <a:ea typeface="Arial"/>
                <a:cs typeface="Arial"/>
              </a:defRPr>
            </a:pPr>
            <a:r>
              <a:rPr sz="975" b="0">
                <a:solidFill>
                  <a:srgbClr val="777777"/>
                </a:solidFill>
                <a:latin typeface="Arial"/>
                <a:ea typeface="Arial"/>
                <a:cs typeface="Arial"/>
              </a:rPr>
              <a:t>7</a:t>
            </a:r>
          </a:p>
        </p:txBody>
      </p:sp>
      <p:graphicFrame>
        <p:nvGraphicFramePr>
          <p:cNvPr id="3" name="">
            <a:extLst xmlns:a="http://schemas.openxmlformats.org/drawingml/2006/main">
              <a:ext uri="{FF2B5EF4-FFF2-40B4-BE49-F238E27FC236}">
                <a16:creationId xmlns:a16="http://schemas.microsoft.com/office/drawing/2014/main" id="{A2C60860-7D82-410B-8E2A-E59949F2D3B2}"/>
              </a:ext>
            </a:extLst>
          </p:cNvPr>
          <p:cNvGraphicFramePr/>
          <p:nvPr/>
        </p:nvGraphicFramePr>
        <p:xfrm>
          <a:off xmlns:a="http://schemas.openxmlformats.org/drawingml/2006/main" x="571500" y="1714500"/>
          <a:ext xmlns:a="http://schemas.openxmlformats.org/drawingml/2006/main" cx="7810500" cy="2667000"/>
        </p:xfrm>
        <a:graphic xmlns:a="http://schemas.openxmlformats.org/drawingml/2006/main">
          <a:graphicData uri="http://schemas.openxmlformats.org/drawingml/2006/table">
            <a:tbl>
              <a:tblPr/>
              <a:tblGrid>
                <a:gridCol w="3333750"/>
                <a:gridCol w="1428750"/>
                <a:gridCol w="1428750"/>
                <a:gridCol w="1619250"/>
              </a:tblGrid>
              <a:tr h="666750">
                <a:tc>
                  <a:txBody>
                    <a:bodyPr/>
                    <a:lstStyle/>
                    <a:p>
                      <a:r>
                        <a:rPr sz="1500" b="1">
                          <a:solidFill>
                            <a:srgbClr val="FFFFFF"/>
                          </a:solidFill>
                          <a:latin typeface="Arial"/>
                          <a:ea typeface="Arial"/>
                          <a:cs typeface="Arial"/>
                        </a:rPr>
                        <a:t>Scenario</a:t>
                      </a:r>
                    </a:p>
                  </a:txBody>
                  <a:tcPr marL="91440" marR="91440" marT="45720" marB="45720">
                    <a:lnL w="5715">
                      <a:solidFill>
                        <a:srgbClr val="D4D7DB"/>
                      </a:solidFill>
                      <a:prstDash val="solid"/>
                    </a:lnL>
                    <a:lnR w="5715">
                      <a:solidFill>
                        <a:srgbClr val="D4D7DB"/>
                      </a:solidFill>
                      <a:prstDash val="solid"/>
                    </a:lnR>
                    <a:lnT w="5715">
                      <a:solidFill>
                        <a:srgbClr val="D4D7DB"/>
                      </a:solidFill>
                      <a:prstDash val="solid"/>
                    </a:lnT>
                    <a:lnB w="5715">
                      <a:solidFill>
                        <a:srgbClr val="D4D7DB"/>
                      </a:solidFill>
                      <a:prstDash val="solid"/>
                    </a:lnB>
                    <a:solidFill>
                      <a:srgbClr val="16181B"/>
                    </a:solidFill>
                  </a:tcPr>
                </a:tc>
                <a:tc>
                  <a:txBody>
                    <a:bodyPr/>
                    <a:lstStyle/>
                    <a:p>
                      <a:r>
                        <a:rPr sz="1500" b="1">
                          <a:solidFill>
                            <a:srgbClr val="FFFFFF"/>
                          </a:solidFill>
                          <a:latin typeface="Arial"/>
                          <a:ea typeface="Arial"/>
                          <a:cs typeface="Arial"/>
                        </a:rPr>
                        <a:t>Base</a:t>
                      </a:r>
                    </a:p>
                  </a:txBody>
                  <a:tcPr marL="91440" marR="91440" marT="45720" marB="45720">
                    <a:lnR w="5715">
                      <a:solidFill>
                        <a:srgbClr val="D4D7DB"/>
                      </a:solidFill>
                      <a:prstDash val="solid"/>
                    </a:lnR>
                    <a:lnT w="5715">
                      <a:solidFill>
                        <a:srgbClr val="D4D7DB"/>
                      </a:solidFill>
                      <a:prstDash val="solid"/>
                    </a:lnT>
                    <a:lnB w="5715">
                      <a:solidFill>
                        <a:srgbClr val="D4D7DB"/>
                      </a:solidFill>
                      <a:prstDash val="solid"/>
                    </a:lnB>
                    <a:solidFill>
                      <a:srgbClr val="16181B"/>
                    </a:solidFill>
                  </a:tcPr>
                </a:tc>
                <a:tc>
                  <a:txBody>
                    <a:bodyPr/>
                    <a:lstStyle/>
                    <a:p>
                      <a:r>
                        <a:rPr sz="1500" b="1">
                          <a:solidFill>
                            <a:srgbClr val="FFFFFF"/>
                          </a:solidFill>
                          <a:latin typeface="Arial"/>
                          <a:ea typeface="Arial"/>
                          <a:cs typeface="Arial"/>
                        </a:rPr>
                        <a:t>Guarded</a:t>
                      </a:r>
                    </a:p>
                  </a:txBody>
                  <a:tcPr marL="91440" marR="91440" marT="45720" marB="45720">
                    <a:lnR w="5715">
                      <a:solidFill>
                        <a:srgbClr val="D4D7DB"/>
                      </a:solidFill>
                      <a:prstDash val="solid"/>
                    </a:lnR>
                    <a:lnT w="5715">
                      <a:solidFill>
                        <a:srgbClr val="D4D7DB"/>
                      </a:solidFill>
                      <a:prstDash val="solid"/>
                    </a:lnT>
                    <a:lnB w="5715">
                      <a:solidFill>
                        <a:srgbClr val="D4D7DB"/>
                      </a:solidFill>
                      <a:prstDash val="solid"/>
                    </a:lnB>
                    <a:solidFill>
                      <a:srgbClr val="16181B"/>
                    </a:solidFill>
                  </a:tcPr>
                </a:tc>
                <a:tc>
                  <a:txBody>
                    <a:bodyPr/>
                    <a:lstStyle/>
                    <a:p>
                      <a:r>
                        <a:rPr sz="1500" b="1">
                          <a:solidFill>
                            <a:srgbClr val="FFFFFF"/>
                          </a:solidFill>
                          <a:latin typeface="Arial"/>
                          <a:ea typeface="Arial"/>
                          <a:cs typeface="Arial"/>
                        </a:rPr>
                        <a:t>Guard + smooth</a:t>
                      </a:r>
                    </a:p>
                  </a:txBody>
                  <a:tcPr marL="91440" marR="91440" marT="45720" marB="45720">
                    <a:lnR w="5715">
                      <a:solidFill>
                        <a:srgbClr val="D4D7DB"/>
                      </a:solidFill>
                      <a:prstDash val="solid"/>
                    </a:lnR>
                    <a:lnT w="5715">
                      <a:solidFill>
                        <a:srgbClr val="D4D7DB"/>
                      </a:solidFill>
                      <a:prstDash val="solid"/>
                    </a:lnT>
                    <a:lnB w="5715">
                      <a:solidFill>
                        <a:srgbClr val="D4D7DB"/>
                      </a:solidFill>
                      <a:prstDash val="solid"/>
                    </a:lnB>
                    <a:solidFill>
                      <a:srgbClr val="16181B"/>
                    </a:solidFill>
                  </a:tcPr>
                </a:tc>
              </a:tr>
              <a:tr h="666750">
                <a:tc>
                  <a:txBody>
                    <a:bodyPr/>
                    <a:lstStyle/>
                    <a:p>
                      <a:r>
                        <a:rPr sz="1575" b="0">
                          <a:solidFill>
                            <a:srgbClr val="202329"/>
                          </a:solidFill>
                          <a:latin typeface="Arial"/>
                          <a:ea typeface="Arial"/>
                          <a:cs typeface="Arial"/>
                        </a:rPr>
                        <a:t>Direct</a:t>
                      </a:r>
                    </a:p>
                  </a:txBody>
                  <a:tcPr marL="91440" marR="91440" marT="45720" marB="45720">
                    <a:lnL w="5715">
                      <a:solidFill>
                        <a:srgbClr val="D4D7DB"/>
                      </a:solidFill>
                      <a:prstDash val="solid"/>
                    </a:lnL>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0/10 (0%)</a:t>
                      </a:r>
                    </a:p>
                  </a:txBody>
                  <a:tcPr marL="91440" marR="91440" marT="45720" marB="45720">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0/10 (0%)</a:t>
                      </a:r>
                    </a:p>
                  </a:txBody>
                  <a:tcPr marL="91440" marR="91440" marT="45720" marB="45720">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0/10 (0%)</a:t>
                      </a:r>
                    </a:p>
                  </a:txBody>
                  <a:tcPr marL="91440" marR="91440" marT="45720" marB="45720">
                    <a:lnR w="5715">
                      <a:solidFill>
                        <a:srgbClr val="D4D7DB"/>
                      </a:solidFill>
                      <a:prstDash val="solid"/>
                    </a:lnR>
                    <a:lnB w="5715">
                      <a:solidFill>
                        <a:srgbClr val="D4D7DB"/>
                      </a:solidFill>
                      <a:prstDash val="solid"/>
                    </a:lnB>
                    <a:solidFill>
                      <a:srgbClr val="F3F4F6"/>
                    </a:solidFill>
                  </a:tcPr>
                </a:tc>
              </a:tr>
              <a:tr h="666750">
                <a:tc>
                  <a:txBody>
                    <a:bodyPr/>
                    <a:lstStyle/>
                    <a:p>
                      <a:r>
                        <a:rPr sz="1575" b="0">
                          <a:solidFill>
                            <a:srgbClr val="202329"/>
                          </a:solidFill>
                          <a:latin typeface="Arial"/>
                          <a:ea typeface="Arial"/>
                          <a:cs typeface="Arial"/>
                        </a:rPr>
                        <a:t>Cached GCG</a:t>
                      </a:r>
                    </a:p>
                  </a:txBody>
                  <a:tcPr marL="91440" marR="91440" marT="45720" marB="45720">
                    <a:lnL w="5715">
                      <a:solidFill>
                        <a:srgbClr val="D4D7DB"/>
                      </a:solidFill>
                      <a:prstDash val="solid"/>
                    </a:lnL>
                    <a:lnR w="5715">
                      <a:solidFill>
                        <a:srgbClr val="D4D7DB"/>
                      </a:solidFill>
                      <a:prstDash val="solid"/>
                    </a:lnR>
                    <a:lnB w="5715">
                      <a:solidFill>
                        <a:srgbClr val="D4D7DB"/>
                      </a:solidFill>
                      <a:prstDash val="solid"/>
                    </a:lnB>
                    <a:solidFill>
                      <a:srgbClr val="FFFFFF"/>
                    </a:solidFill>
                  </a:tcPr>
                </a:tc>
                <a:tc>
                  <a:txBody>
                    <a:bodyPr/>
                    <a:lstStyle/>
                    <a:p>
                      <a:r>
                        <a:rPr sz="1575" b="0">
                          <a:solidFill>
                            <a:srgbClr val="202329"/>
                          </a:solidFill>
                          <a:latin typeface="Arial"/>
                          <a:ea typeface="Arial"/>
                          <a:cs typeface="Arial"/>
                        </a:rPr>
                        <a:t>1/10 (10%)</a:t>
                      </a:r>
                    </a:p>
                  </a:txBody>
                  <a:tcPr marL="91440" marR="91440" marT="45720" marB="45720">
                    <a:lnR w="5715">
                      <a:solidFill>
                        <a:srgbClr val="D4D7DB"/>
                      </a:solidFill>
                      <a:prstDash val="solid"/>
                    </a:lnR>
                    <a:lnB w="5715">
                      <a:solidFill>
                        <a:srgbClr val="D4D7DB"/>
                      </a:solidFill>
                      <a:prstDash val="solid"/>
                    </a:lnB>
                    <a:solidFill>
                      <a:srgbClr val="FFFFFF"/>
                    </a:solidFill>
                  </a:tcPr>
                </a:tc>
                <a:tc>
                  <a:txBody>
                    <a:bodyPr/>
                    <a:lstStyle/>
                    <a:p>
                      <a:r>
                        <a:rPr sz="1575" b="0">
                          <a:solidFill>
                            <a:srgbClr val="202329"/>
                          </a:solidFill>
                          <a:latin typeface="Arial"/>
                          <a:ea typeface="Arial"/>
                          <a:cs typeface="Arial"/>
                        </a:rPr>
                        <a:t>0/10 (0%)</a:t>
                      </a:r>
                    </a:p>
                  </a:txBody>
                  <a:tcPr marL="91440" marR="91440" marT="45720" marB="45720">
                    <a:lnR w="5715">
                      <a:solidFill>
                        <a:srgbClr val="D4D7DB"/>
                      </a:solidFill>
                      <a:prstDash val="solid"/>
                    </a:lnR>
                    <a:lnB w="5715">
                      <a:solidFill>
                        <a:srgbClr val="D4D7DB"/>
                      </a:solidFill>
                      <a:prstDash val="solid"/>
                    </a:lnB>
                    <a:solidFill>
                      <a:srgbClr val="FFFFFF"/>
                    </a:solidFill>
                  </a:tcPr>
                </a:tc>
                <a:tc>
                  <a:txBody>
                    <a:bodyPr/>
                    <a:lstStyle/>
                    <a:p>
                      <a:r>
                        <a:rPr sz="1575" b="0">
                          <a:solidFill>
                            <a:srgbClr val="202329"/>
                          </a:solidFill>
                          <a:latin typeface="Arial"/>
                          <a:ea typeface="Arial"/>
                          <a:cs typeface="Arial"/>
                        </a:rPr>
                        <a:t>0/10 (0%)</a:t>
                      </a:r>
                    </a:p>
                  </a:txBody>
                  <a:tcPr marL="91440" marR="91440" marT="45720" marB="45720">
                    <a:lnR w="5715">
                      <a:solidFill>
                        <a:srgbClr val="D4D7DB"/>
                      </a:solidFill>
                      <a:prstDash val="solid"/>
                    </a:lnR>
                    <a:lnB w="5715">
                      <a:solidFill>
                        <a:srgbClr val="D4D7DB"/>
                      </a:solidFill>
                      <a:prstDash val="solid"/>
                    </a:lnB>
                    <a:solidFill>
                      <a:srgbClr val="FFFFFF"/>
                    </a:solidFill>
                  </a:tcPr>
                </a:tc>
              </a:tr>
              <a:tr h="666750">
                <a:tc>
                  <a:txBody>
                    <a:bodyPr/>
                    <a:lstStyle/>
                    <a:p>
                      <a:r>
                        <a:rPr sz="1575" b="0">
                          <a:solidFill>
                            <a:srgbClr val="202329"/>
                          </a:solidFill>
                          <a:latin typeface="Arial"/>
                          <a:ea typeface="Arial"/>
                          <a:cs typeface="Arial"/>
                        </a:rPr>
                        <a:t>Published suffix</a:t>
                      </a:r>
                    </a:p>
                  </a:txBody>
                  <a:tcPr marL="91440" marR="91440" marT="45720" marB="45720">
                    <a:lnL w="5715">
                      <a:solidFill>
                        <a:srgbClr val="D4D7DB"/>
                      </a:solidFill>
                      <a:prstDash val="solid"/>
                    </a:lnL>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7/10 (70%)</a:t>
                      </a:r>
                    </a:p>
                  </a:txBody>
                  <a:tcPr marL="91440" marR="91440" marT="45720" marB="45720">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7/10 (70%)</a:t>
                      </a:r>
                    </a:p>
                  </a:txBody>
                  <a:tcPr marL="91440" marR="91440" marT="45720" marB="45720">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1/10 (10%)</a:t>
                      </a:r>
                    </a:p>
                  </a:txBody>
                  <a:tcPr marL="91440" marR="91440" marT="45720" marB="45720">
                    <a:lnR w="5715">
                      <a:solidFill>
                        <a:srgbClr val="D4D7DB"/>
                      </a:solidFill>
                      <a:prstDash val="solid"/>
                    </a:lnR>
                    <a:lnB w="5715">
                      <a:solidFill>
                        <a:srgbClr val="D4D7DB"/>
                      </a:solidFill>
                      <a:prstDash val="solid"/>
                    </a:lnB>
                    <a:solidFill>
                      <a:srgbClr val="F3F4F6"/>
                    </a:solidFill>
                  </a:tcPr>
                </a:tc>
              </a:tr>
            </a:tbl>
          </a:graphicData>
        </a:graphic>
      </p:graphicFrame>
      <p:sp>
        <p:nvSpPr>
          <p:cNvPr id="4" name="">
            <a:extLst xmlns:a="http://schemas.openxmlformats.org/drawingml/2006/main">
              <a:ext uri="{FF2B5EF4-FFF2-40B4-BE49-F238E27FC236}">
                <a16:creationId xmlns:a16="http://schemas.microsoft.com/office/drawing/2014/main" id="{7A392AB7-425D-42F8-AB58-13B097D2F122}"/>
              </a:ext>
            </a:extLst>
          </p:cNvPr>
          <p:cNvSpPr>
            <a:spLocks xmlns:a="http://schemas.openxmlformats.org/drawingml/2006/main" noGrp="1"/>
          </p:cNvSpPr>
          <p:nvPr/>
        </p:nvSpPr>
        <p:spPr>
          <a:xfrm xmlns:a="http://schemas.openxmlformats.org/drawingml/2006/main">
            <a:off x="571500" y="4714875"/>
            <a:ext cx="790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16181B"/>
                </a:solidFill>
                <a:latin typeface="Arial"/>
                <a:ea typeface="Arial"/>
                <a:cs typeface="Arial"/>
              </a:defRPr>
            </a:defPPr>
            <a:lvl1pPr>
              <a:defRPr sz="2100" b="1">
                <a:solidFill>
                  <a:srgbClr val="16181B"/>
                </a:solidFill>
                <a:latin typeface="Arial"/>
                <a:ea typeface="Arial"/>
                <a:cs typeface="Arial"/>
              </a:defRPr>
            </a:lvl1pPr>
            <a:lvl2pPr>
              <a:defRPr sz="2100" b="1">
                <a:solidFill>
                  <a:srgbClr val="16181B"/>
                </a:solidFill>
                <a:latin typeface="Arial"/>
                <a:ea typeface="Arial"/>
                <a:cs typeface="Arial"/>
              </a:defRPr>
            </a:lvl2pPr>
            <a:lvl3pPr>
              <a:defRPr sz="2100" b="1">
                <a:solidFill>
                  <a:srgbClr val="16181B"/>
                </a:solidFill>
                <a:latin typeface="Arial"/>
                <a:ea typeface="Arial"/>
                <a:cs typeface="Arial"/>
              </a:defRPr>
            </a:lvl3pPr>
            <a:lvl4pPr>
              <a:defRPr sz="2100" b="1">
                <a:solidFill>
                  <a:srgbClr val="16181B"/>
                </a:solidFill>
                <a:latin typeface="Arial"/>
                <a:ea typeface="Arial"/>
                <a:cs typeface="Arial"/>
              </a:defRPr>
            </a:lvl4pPr>
            <a:lvl5pPr>
              <a:defRPr sz="2100" b="1">
                <a:solidFill>
                  <a:srgbClr val="16181B"/>
                </a:solidFill>
                <a:latin typeface="Arial"/>
                <a:ea typeface="Arial"/>
                <a:cs typeface="Arial"/>
              </a:defRPr>
            </a:lvl5pPr>
            <a:lvl6pPr>
              <a:defRPr sz="2100" b="1">
                <a:solidFill>
                  <a:srgbClr val="16181B"/>
                </a:solidFill>
                <a:latin typeface="Arial"/>
                <a:ea typeface="Arial"/>
                <a:cs typeface="Arial"/>
              </a:defRPr>
            </a:lvl6pPr>
            <a:lvl7pPr>
              <a:defRPr sz="2100" b="1">
                <a:solidFill>
                  <a:srgbClr val="16181B"/>
                </a:solidFill>
                <a:latin typeface="Arial"/>
                <a:ea typeface="Arial"/>
                <a:cs typeface="Arial"/>
              </a:defRPr>
            </a:lvl7pPr>
            <a:lvl8pPr>
              <a:defRPr sz="2100" b="1">
                <a:solidFill>
                  <a:srgbClr val="16181B"/>
                </a:solidFill>
                <a:latin typeface="Arial"/>
                <a:ea typeface="Arial"/>
                <a:cs typeface="Arial"/>
              </a:defRPr>
            </a:lvl8pPr>
            <a:lvl9pPr>
              <a:defRPr sz="2100" b="1">
                <a:solidFill>
                  <a:srgbClr val="16181B"/>
                </a:solidFill>
                <a:latin typeface="Arial"/>
                <a:ea typeface="Arial"/>
                <a:cs typeface="Arial"/>
              </a:defRPr>
            </a:lvl9pPr>
          </a:lstStyle>
          <a:p xmlns:a="http://schemas.openxmlformats.org/drawingml/2006/main">
            <a:pPr>
              <a:defRPr sz="2100" b="1">
                <a:solidFill>
                  <a:srgbClr val="16181B"/>
                </a:solidFill>
                <a:latin typeface="Arial"/>
                <a:ea typeface="Arial"/>
                <a:cs typeface="Arial"/>
              </a:defRPr>
            </a:pPr>
            <a:r>
              <a:rPr sz="2100" b="1">
                <a:solidFill>
                  <a:srgbClr val="16181B"/>
                </a:solidFill>
                <a:latin typeface="Arial"/>
                <a:ea typeface="Arial"/>
                <a:cs typeface="Arial"/>
              </a:rPr>
              <a:t>Published-suffix proxy falls from 70% to 10%.</a:t>
            </a:r>
          </a:p>
        </p:txBody>
      </p:sp>
      <p:sp>
        <p:nvSpPr>
          <p:cNvPr id="5" name="">
            <a:extLst xmlns:a="http://schemas.openxmlformats.org/drawingml/2006/main">
              <a:ext uri="{FF2B5EF4-FFF2-40B4-BE49-F238E27FC236}">
                <a16:creationId xmlns:a16="http://schemas.microsoft.com/office/drawing/2014/main" id="{97CB905D-8097-49EA-B613-B2C36456197D}"/>
              </a:ext>
            </a:extLst>
          </p:cNvPr>
          <p:cNvSpPr>
            <a:spLocks xmlns:a="http://schemas.openxmlformats.org/drawingml/2006/main" noGrp="1"/>
          </p:cNvSpPr>
          <p:nvPr/>
        </p:nvSpPr>
        <p:spPr>
          <a:xfrm xmlns:a="http://schemas.openxmlformats.org/drawingml/2006/main">
            <a:off x="571500" y="5553075"/>
            <a:ext cx="7905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75" b="0">
                <a:solidFill>
                  <a:srgbClr val="626872"/>
                </a:solidFill>
                <a:latin typeface="Arial"/>
                <a:ea typeface="Arial"/>
                <a:cs typeface="Arial"/>
              </a:defRPr>
            </a:defPPr>
            <a:lvl1pPr>
              <a:defRPr sz="1575" b="0">
                <a:solidFill>
                  <a:srgbClr val="626872"/>
                </a:solidFill>
                <a:latin typeface="Arial"/>
                <a:ea typeface="Arial"/>
                <a:cs typeface="Arial"/>
              </a:defRPr>
            </a:lvl1pPr>
            <a:lvl2pPr>
              <a:defRPr sz="1575" b="0">
                <a:solidFill>
                  <a:srgbClr val="626872"/>
                </a:solidFill>
                <a:latin typeface="Arial"/>
                <a:ea typeface="Arial"/>
                <a:cs typeface="Arial"/>
              </a:defRPr>
            </a:lvl2pPr>
            <a:lvl3pPr>
              <a:defRPr sz="1575" b="0">
                <a:solidFill>
                  <a:srgbClr val="626872"/>
                </a:solidFill>
                <a:latin typeface="Arial"/>
                <a:ea typeface="Arial"/>
                <a:cs typeface="Arial"/>
              </a:defRPr>
            </a:lvl3pPr>
            <a:lvl4pPr>
              <a:defRPr sz="1575" b="0">
                <a:solidFill>
                  <a:srgbClr val="626872"/>
                </a:solidFill>
                <a:latin typeface="Arial"/>
                <a:ea typeface="Arial"/>
                <a:cs typeface="Arial"/>
              </a:defRPr>
            </a:lvl4pPr>
            <a:lvl5pPr>
              <a:defRPr sz="1575" b="0">
                <a:solidFill>
                  <a:srgbClr val="626872"/>
                </a:solidFill>
                <a:latin typeface="Arial"/>
                <a:ea typeface="Arial"/>
                <a:cs typeface="Arial"/>
              </a:defRPr>
            </a:lvl5pPr>
            <a:lvl6pPr>
              <a:defRPr sz="1575" b="0">
                <a:solidFill>
                  <a:srgbClr val="626872"/>
                </a:solidFill>
                <a:latin typeface="Arial"/>
                <a:ea typeface="Arial"/>
                <a:cs typeface="Arial"/>
              </a:defRPr>
            </a:lvl6pPr>
            <a:lvl7pPr>
              <a:defRPr sz="1575" b="0">
                <a:solidFill>
                  <a:srgbClr val="626872"/>
                </a:solidFill>
                <a:latin typeface="Arial"/>
                <a:ea typeface="Arial"/>
                <a:cs typeface="Arial"/>
              </a:defRPr>
            </a:lvl7pPr>
            <a:lvl8pPr>
              <a:defRPr sz="1575" b="0">
                <a:solidFill>
                  <a:srgbClr val="626872"/>
                </a:solidFill>
                <a:latin typeface="Arial"/>
                <a:ea typeface="Arial"/>
                <a:cs typeface="Arial"/>
              </a:defRPr>
            </a:lvl8pPr>
            <a:lvl9pPr>
              <a:defRPr sz="1575" b="0">
                <a:solidFill>
                  <a:srgbClr val="626872"/>
                </a:solidFill>
                <a:latin typeface="Arial"/>
                <a:ea typeface="Arial"/>
                <a:cs typeface="Arial"/>
              </a:defRPr>
            </a:lvl9pPr>
          </a:lstStyle>
          <a:p xmlns:a="http://schemas.openxmlformats.org/drawingml/2006/main">
            <a:pPr>
              <a:defRPr sz="1575" b="0">
                <a:solidFill>
                  <a:srgbClr val="626872"/>
                </a:solidFill>
                <a:latin typeface="Arial"/>
                <a:ea typeface="Arial"/>
                <a:cs typeface="Arial"/>
              </a:defRPr>
            </a:pPr>
            <a:r>
              <a:rPr sz="1575" b="0">
                <a:solidFill>
                  <a:srgbClr val="626872"/>
                </a:solidFill>
                <a:latin typeface="Arial"/>
                <a:ea typeface="Arial"/>
                <a:cs typeface="Arial"/>
              </a:rPr>
              <a:t>Absence of a refusal phrase can also mean an irrelevant fragment.</a:t>
            </a:r>
          </a:p>
        </p:txBody>
      </p:sp>
    </p:spTree>
    <p:extLst>
      <p:ext uri="{BB962C8B-B14F-4D97-AF65-F5344CB8AC3E}">
        <p14:creationId xmlns:p14="http://schemas.microsoft.com/office/powerpoint/2010/main" val="19294342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AE45EE6-3457-4265-971A-6C9468430677}"/>
              </a:ext>
            </a:extLst>
          </p:cNvPr>
          <p:cNvSpPr>
            <a:spLocks xmlns:a="http://schemas.openxmlformats.org/drawingml/2006/main" noGrp="1"/>
          </p:cNvSpPr>
          <p:nvPr/>
        </p:nvSpPr>
        <p:spPr>
          <a:xfrm xmlns:a="http://schemas.openxmlformats.org/drawingml/2006/main">
            <a:off x="571500" y="4572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1">
                <a:solidFill>
                  <a:srgbClr val="16181B"/>
                </a:solidFill>
                <a:latin typeface="Arial"/>
                <a:ea typeface="Arial"/>
                <a:cs typeface="Arial"/>
              </a:defRPr>
            </a:defPPr>
            <a:lvl1pPr>
              <a:defRPr sz="2850" b="1">
                <a:solidFill>
                  <a:srgbClr val="16181B"/>
                </a:solidFill>
                <a:latin typeface="Arial"/>
                <a:ea typeface="Arial"/>
                <a:cs typeface="Arial"/>
              </a:defRPr>
            </a:lvl1pPr>
            <a:lvl2pPr>
              <a:defRPr sz="2850" b="1">
                <a:solidFill>
                  <a:srgbClr val="16181B"/>
                </a:solidFill>
                <a:latin typeface="Arial"/>
                <a:ea typeface="Arial"/>
                <a:cs typeface="Arial"/>
              </a:defRPr>
            </a:lvl2pPr>
            <a:lvl3pPr>
              <a:defRPr sz="2850" b="1">
                <a:solidFill>
                  <a:srgbClr val="16181B"/>
                </a:solidFill>
                <a:latin typeface="Arial"/>
                <a:ea typeface="Arial"/>
                <a:cs typeface="Arial"/>
              </a:defRPr>
            </a:lvl3pPr>
            <a:lvl4pPr>
              <a:defRPr sz="2850" b="1">
                <a:solidFill>
                  <a:srgbClr val="16181B"/>
                </a:solidFill>
                <a:latin typeface="Arial"/>
                <a:ea typeface="Arial"/>
                <a:cs typeface="Arial"/>
              </a:defRPr>
            </a:lvl4pPr>
            <a:lvl5pPr>
              <a:defRPr sz="2850" b="1">
                <a:solidFill>
                  <a:srgbClr val="16181B"/>
                </a:solidFill>
                <a:latin typeface="Arial"/>
                <a:ea typeface="Arial"/>
                <a:cs typeface="Arial"/>
              </a:defRPr>
            </a:lvl5pPr>
            <a:lvl6pPr>
              <a:defRPr sz="2850" b="1">
                <a:solidFill>
                  <a:srgbClr val="16181B"/>
                </a:solidFill>
                <a:latin typeface="Arial"/>
                <a:ea typeface="Arial"/>
                <a:cs typeface="Arial"/>
              </a:defRPr>
            </a:lvl6pPr>
            <a:lvl7pPr>
              <a:defRPr sz="2850" b="1">
                <a:solidFill>
                  <a:srgbClr val="16181B"/>
                </a:solidFill>
                <a:latin typeface="Arial"/>
                <a:ea typeface="Arial"/>
                <a:cs typeface="Arial"/>
              </a:defRPr>
            </a:lvl7pPr>
            <a:lvl8pPr>
              <a:defRPr sz="2850" b="1">
                <a:solidFill>
                  <a:srgbClr val="16181B"/>
                </a:solidFill>
                <a:latin typeface="Arial"/>
                <a:ea typeface="Arial"/>
                <a:cs typeface="Arial"/>
              </a:defRPr>
            </a:lvl8pPr>
            <a:lvl9pPr>
              <a:defRPr sz="2850" b="1">
                <a:solidFill>
                  <a:srgbClr val="16181B"/>
                </a:solidFill>
                <a:latin typeface="Arial"/>
                <a:ea typeface="Arial"/>
                <a:cs typeface="Arial"/>
              </a:defRPr>
            </a:lvl9pPr>
          </a:lstStyle>
          <a:p xmlns:a="http://schemas.openxmlformats.org/drawingml/2006/main">
            <a:pPr>
              <a:defRPr sz="2850" b="1">
                <a:solidFill>
                  <a:srgbClr val="16181B"/>
                </a:solidFill>
                <a:latin typeface="Arial"/>
                <a:ea typeface="Arial"/>
                <a:cs typeface="Arial"/>
              </a:defRPr>
            </a:pPr>
            <a:r>
              <a:rPr sz="2850" b="1">
                <a:solidFill>
                  <a:srgbClr val="16181B"/>
                </a:solidFill>
                <a:latin typeface="Arial"/>
                <a:ea typeface="Arial"/>
                <a:cs typeface="Arial"/>
              </a:rPr>
              <a:t>Content assessment by a local judge</a:t>
            </a:r>
          </a:p>
        </p:txBody>
      </p:sp>
      <p:sp>
        <p:nvSpPr>
          <p:cNvPr id="2" name="">
            <a:extLst xmlns:a="http://schemas.openxmlformats.org/drawingml/2006/main">
              <a:ext uri="{FF2B5EF4-FFF2-40B4-BE49-F238E27FC236}">
                <a16:creationId xmlns:a16="http://schemas.microsoft.com/office/drawing/2014/main" id="{602C1D70-52C2-4C36-97F8-76D9EFA7C3A8}"/>
              </a:ext>
            </a:extLst>
          </p:cNvPr>
          <p:cNvSpPr>
            <a:spLocks xmlns:a="http://schemas.openxmlformats.org/drawingml/2006/main" noGrp="1"/>
          </p:cNvSpPr>
          <p:nvPr/>
        </p:nvSpPr>
        <p:spPr>
          <a:xfrm xmlns:a="http://schemas.openxmlformats.org/drawingml/2006/main">
            <a:off x="8048625"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77777"/>
                </a:solidFill>
                <a:latin typeface="Arial"/>
                <a:ea typeface="Arial"/>
                <a:cs typeface="Arial"/>
              </a:defRPr>
            </a:defPPr>
            <a:lvl1pPr>
              <a:defRPr sz="975" b="0">
                <a:solidFill>
                  <a:srgbClr val="777777"/>
                </a:solidFill>
                <a:latin typeface="Arial"/>
                <a:ea typeface="Arial"/>
                <a:cs typeface="Arial"/>
              </a:defRPr>
            </a:lvl1pPr>
            <a:lvl2pPr>
              <a:defRPr sz="975" b="0">
                <a:solidFill>
                  <a:srgbClr val="777777"/>
                </a:solidFill>
                <a:latin typeface="Arial"/>
                <a:ea typeface="Arial"/>
                <a:cs typeface="Arial"/>
              </a:defRPr>
            </a:lvl2pPr>
            <a:lvl3pPr>
              <a:defRPr sz="975" b="0">
                <a:solidFill>
                  <a:srgbClr val="777777"/>
                </a:solidFill>
                <a:latin typeface="Arial"/>
                <a:ea typeface="Arial"/>
                <a:cs typeface="Arial"/>
              </a:defRPr>
            </a:lvl3pPr>
            <a:lvl4pPr>
              <a:defRPr sz="975" b="0">
                <a:solidFill>
                  <a:srgbClr val="777777"/>
                </a:solidFill>
                <a:latin typeface="Arial"/>
                <a:ea typeface="Arial"/>
                <a:cs typeface="Arial"/>
              </a:defRPr>
            </a:lvl4pPr>
            <a:lvl5pPr>
              <a:defRPr sz="975" b="0">
                <a:solidFill>
                  <a:srgbClr val="777777"/>
                </a:solidFill>
                <a:latin typeface="Arial"/>
                <a:ea typeface="Arial"/>
                <a:cs typeface="Arial"/>
              </a:defRPr>
            </a:lvl5pPr>
            <a:lvl6pPr>
              <a:defRPr sz="975" b="0">
                <a:solidFill>
                  <a:srgbClr val="777777"/>
                </a:solidFill>
                <a:latin typeface="Arial"/>
                <a:ea typeface="Arial"/>
                <a:cs typeface="Arial"/>
              </a:defRPr>
            </a:lvl6pPr>
            <a:lvl7pPr>
              <a:defRPr sz="975" b="0">
                <a:solidFill>
                  <a:srgbClr val="777777"/>
                </a:solidFill>
                <a:latin typeface="Arial"/>
                <a:ea typeface="Arial"/>
                <a:cs typeface="Arial"/>
              </a:defRPr>
            </a:lvl7pPr>
            <a:lvl8pPr>
              <a:defRPr sz="975" b="0">
                <a:solidFill>
                  <a:srgbClr val="777777"/>
                </a:solidFill>
                <a:latin typeface="Arial"/>
                <a:ea typeface="Arial"/>
                <a:cs typeface="Arial"/>
              </a:defRPr>
            </a:lvl8pPr>
            <a:lvl9pPr>
              <a:defRPr sz="975" b="0">
                <a:solidFill>
                  <a:srgbClr val="777777"/>
                </a:solidFill>
                <a:latin typeface="Arial"/>
                <a:ea typeface="Arial"/>
                <a:cs typeface="Arial"/>
              </a:defRPr>
            </a:lvl9pPr>
          </a:lstStyle>
          <a:p xmlns:a="http://schemas.openxmlformats.org/drawingml/2006/main">
            <a:pPr>
              <a:defRPr sz="975" b="0">
                <a:solidFill>
                  <a:srgbClr val="777777"/>
                </a:solidFill>
                <a:latin typeface="Arial"/>
                <a:ea typeface="Arial"/>
                <a:cs typeface="Arial"/>
              </a:defRPr>
            </a:pPr>
            <a:r>
              <a:rPr sz="975" b="0">
                <a:solidFill>
                  <a:srgbClr val="777777"/>
                </a:solidFill>
                <a:latin typeface="Arial"/>
                <a:ea typeface="Arial"/>
                <a:cs typeface="Arial"/>
              </a:rPr>
              <a:t>8</a:t>
            </a:r>
          </a:p>
        </p:txBody>
      </p:sp>
      <p:graphicFrame>
        <p:nvGraphicFramePr>
          <p:cNvPr id="3" name="">
            <a:extLst xmlns:a="http://schemas.openxmlformats.org/drawingml/2006/main">
              <a:ext uri="{FF2B5EF4-FFF2-40B4-BE49-F238E27FC236}">
                <a16:creationId xmlns:a16="http://schemas.microsoft.com/office/drawing/2014/main" id="{64908BE3-CB41-486C-BD27-290B1F573E81}"/>
              </a:ext>
            </a:extLst>
          </p:cNvPr>
          <p:cNvGraphicFramePr/>
          <p:nvPr/>
        </p:nvGraphicFramePr>
        <p:xfrm>
          <a:off xmlns:a="http://schemas.openxmlformats.org/drawingml/2006/main" x="571500" y="1714500"/>
          <a:ext xmlns:a="http://schemas.openxmlformats.org/drawingml/2006/main" cx="7810500" cy="2667000"/>
        </p:xfrm>
        <a:graphic xmlns:a="http://schemas.openxmlformats.org/drawingml/2006/main">
          <a:graphicData uri="http://schemas.openxmlformats.org/drawingml/2006/table">
            <a:tbl>
              <a:tblPr/>
              <a:tblGrid>
                <a:gridCol w="3333750"/>
                <a:gridCol w="1428750"/>
                <a:gridCol w="1428750"/>
                <a:gridCol w="1619250"/>
              </a:tblGrid>
              <a:tr h="666750">
                <a:tc>
                  <a:txBody>
                    <a:bodyPr/>
                    <a:lstStyle/>
                    <a:p>
                      <a:r>
                        <a:rPr sz="1500" b="1">
                          <a:solidFill>
                            <a:srgbClr val="FFFFFF"/>
                          </a:solidFill>
                          <a:latin typeface="Arial"/>
                          <a:ea typeface="Arial"/>
                          <a:cs typeface="Arial"/>
                        </a:rPr>
                        <a:t>Scenario</a:t>
                      </a:r>
                    </a:p>
                  </a:txBody>
                  <a:tcPr marL="91440" marR="91440" marT="45720" marB="45720">
                    <a:lnL w="5715">
                      <a:solidFill>
                        <a:srgbClr val="D4D7DB"/>
                      </a:solidFill>
                      <a:prstDash val="solid"/>
                    </a:lnL>
                    <a:lnR w="5715">
                      <a:solidFill>
                        <a:srgbClr val="D4D7DB"/>
                      </a:solidFill>
                      <a:prstDash val="solid"/>
                    </a:lnR>
                    <a:lnT w="5715">
                      <a:solidFill>
                        <a:srgbClr val="D4D7DB"/>
                      </a:solidFill>
                      <a:prstDash val="solid"/>
                    </a:lnT>
                    <a:lnB w="5715">
                      <a:solidFill>
                        <a:srgbClr val="D4D7DB"/>
                      </a:solidFill>
                      <a:prstDash val="solid"/>
                    </a:lnB>
                    <a:solidFill>
                      <a:srgbClr val="16181B"/>
                    </a:solidFill>
                  </a:tcPr>
                </a:tc>
                <a:tc>
                  <a:txBody>
                    <a:bodyPr/>
                    <a:lstStyle/>
                    <a:p>
                      <a:r>
                        <a:rPr sz="1500" b="1">
                          <a:solidFill>
                            <a:srgbClr val="FFFFFF"/>
                          </a:solidFill>
                          <a:latin typeface="Arial"/>
                          <a:ea typeface="Arial"/>
                          <a:cs typeface="Arial"/>
                        </a:rPr>
                        <a:t>Base</a:t>
                      </a:r>
                    </a:p>
                  </a:txBody>
                  <a:tcPr marL="91440" marR="91440" marT="45720" marB="45720">
                    <a:lnR w="5715">
                      <a:solidFill>
                        <a:srgbClr val="D4D7DB"/>
                      </a:solidFill>
                      <a:prstDash val="solid"/>
                    </a:lnR>
                    <a:lnT w="5715">
                      <a:solidFill>
                        <a:srgbClr val="D4D7DB"/>
                      </a:solidFill>
                      <a:prstDash val="solid"/>
                    </a:lnT>
                    <a:lnB w="5715">
                      <a:solidFill>
                        <a:srgbClr val="D4D7DB"/>
                      </a:solidFill>
                      <a:prstDash val="solid"/>
                    </a:lnB>
                    <a:solidFill>
                      <a:srgbClr val="16181B"/>
                    </a:solidFill>
                  </a:tcPr>
                </a:tc>
                <a:tc>
                  <a:txBody>
                    <a:bodyPr/>
                    <a:lstStyle/>
                    <a:p>
                      <a:r>
                        <a:rPr sz="1500" b="1">
                          <a:solidFill>
                            <a:srgbClr val="FFFFFF"/>
                          </a:solidFill>
                          <a:latin typeface="Arial"/>
                          <a:ea typeface="Arial"/>
                          <a:cs typeface="Arial"/>
                        </a:rPr>
                        <a:t>Guarded</a:t>
                      </a:r>
                    </a:p>
                  </a:txBody>
                  <a:tcPr marL="91440" marR="91440" marT="45720" marB="45720">
                    <a:lnR w="5715">
                      <a:solidFill>
                        <a:srgbClr val="D4D7DB"/>
                      </a:solidFill>
                      <a:prstDash val="solid"/>
                    </a:lnR>
                    <a:lnT w="5715">
                      <a:solidFill>
                        <a:srgbClr val="D4D7DB"/>
                      </a:solidFill>
                      <a:prstDash val="solid"/>
                    </a:lnT>
                    <a:lnB w="5715">
                      <a:solidFill>
                        <a:srgbClr val="D4D7DB"/>
                      </a:solidFill>
                      <a:prstDash val="solid"/>
                    </a:lnB>
                    <a:solidFill>
                      <a:srgbClr val="16181B"/>
                    </a:solidFill>
                  </a:tcPr>
                </a:tc>
                <a:tc>
                  <a:txBody>
                    <a:bodyPr/>
                    <a:lstStyle/>
                    <a:p>
                      <a:r>
                        <a:rPr sz="1500" b="1">
                          <a:solidFill>
                            <a:srgbClr val="FFFFFF"/>
                          </a:solidFill>
                          <a:latin typeface="Arial"/>
                          <a:ea typeface="Arial"/>
                          <a:cs typeface="Arial"/>
                        </a:rPr>
                        <a:t>Guard + smooth</a:t>
                      </a:r>
                    </a:p>
                  </a:txBody>
                  <a:tcPr marL="91440" marR="91440" marT="45720" marB="45720">
                    <a:lnR w="5715">
                      <a:solidFill>
                        <a:srgbClr val="D4D7DB"/>
                      </a:solidFill>
                      <a:prstDash val="solid"/>
                    </a:lnR>
                    <a:lnT w="5715">
                      <a:solidFill>
                        <a:srgbClr val="D4D7DB"/>
                      </a:solidFill>
                      <a:prstDash val="solid"/>
                    </a:lnT>
                    <a:lnB w="5715">
                      <a:solidFill>
                        <a:srgbClr val="D4D7DB"/>
                      </a:solidFill>
                      <a:prstDash val="solid"/>
                    </a:lnB>
                    <a:solidFill>
                      <a:srgbClr val="16181B"/>
                    </a:solidFill>
                  </a:tcPr>
                </a:tc>
              </a:tr>
              <a:tr h="666750">
                <a:tc>
                  <a:txBody>
                    <a:bodyPr/>
                    <a:lstStyle/>
                    <a:p>
                      <a:r>
                        <a:rPr sz="1575" b="0">
                          <a:solidFill>
                            <a:srgbClr val="202329"/>
                          </a:solidFill>
                          <a:latin typeface="Arial"/>
                          <a:ea typeface="Arial"/>
                          <a:cs typeface="Arial"/>
                        </a:rPr>
                        <a:t>Direct</a:t>
                      </a:r>
                    </a:p>
                  </a:txBody>
                  <a:tcPr marL="91440" marR="91440" marT="45720" marB="45720">
                    <a:lnL w="5715">
                      <a:solidFill>
                        <a:srgbClr val="D4D7DB"/>
                      </a:solidFill>
                      <a:prstDash val="solid"/>
                    </a:lnL>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0/10</a:t>
                      </a:r>
                    </a:p>
                  </a:txBody>
                  <a:tcPr marL="91440" marR="91440" marT="45720" marB="45720">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0/10</a:t>
                      </a:r>
                    </a:p>
                  </a:txBody>
                  <a:tcPr marL="91440" marR="91440" marT="45720" marB="45720">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0/10</a:t>
                      </a:r>
                    </a:p>
                  </a:txBody>
                  <a:tcPr marL="91440" marR="91440" marT="45720" marB="45720">
                    <a:lnR w="5715">
                      <a:solidFill>
                        <a:srgbClr val="D4D7DB"/>
                      </a:solidFill>
                      <a:prstDash val="solid"/>
                    </a:lnR>
                    <a:lnB w="5715">
                      <a:solidFill>
                        <a:srgbClr val="D4D7DB"/>
                      </a:solidFill>
                      <a:prstDash val="solid"/>
                    </a:lnB>
                    <a:solidFill>
                      <a:srgbClr val="F3F4F6"/>
                    </a:solidFill>
                  </a:tcPr>
                </a:tc>
              </a:tr>
              <a:tr h="666750">
                <a:tc>
                  <a:txBody>
                    <a:bodyPr/>
                    <a:lstStyle/>
                    <a:p>
                      <a:r>
                        <a:rPr sz="1575" b="0">
                          <a:solidFill>
                            <a:srgbClr val="202329"/>
                          </a:solidFill>
                          <a:latin typeface="Arial"/>
                          <a:ea typeface="Arial"/>
                          <a:cs typeface="Arial"/>
                        </a:rPr>
                        <a:t>Cached GCG</a:t>
                      </a:r>
                    </a:p>
                  </a:txBody>
                  <a:tcPr marL="91440" marR="91440" marT="45720" marB="45720">
                    <a:lnL w="5715">
                      <a:solidFill>
                        <a:srgbClr val="D4D7DB"/>
                      </a:solidFill>
                      <a:prstDash val="solid"/>
                    </a:lnL>
                    <a:lnR w="5715">
                      <a:solidFill>
                        <a:srgbClr val="D4D7DB"/>
                      </a:solidFill>
                      <a:prstDash val="solid"/>
                    </a:lnR>
                    <a:lnB w="5715">
                      <a:solidFill>
                        <a:srgbClr val="D4D7DB"/>
                      </a:solidFill>
                      <a:prstDash val="solid"/>
                    </a:lnB>
                    <a:solidFill>
                      <a:srgbClr val="FFFFFF"/>
                    </a:solidFill>
                  </a:tcPr>
                </a:tc>
                <a:tc>
                  <a:txBody>
                    <a:bodyPr/>
                    <a:lstStyle/>
                    <a:p>
                      <a:r>
                        <a:rPr sz="1575" b="0">
                          <a:solidFill>
                            <a:srgbClr val="202329"/>
                          </a:solidFill>
                          <a:latin typeface="Arial"/>
                          <a:ea typeface="Arial"/>
                          <a:cs typeface="Arial"/>
                        </a:rPr>
                        <a:t>0/10</a:t>
                      </a:r>
                    </a:p>
                  </a:txBody>
                  <a:tcPr marL="91440" marR="91440" marT="45720" marB="45720">
                    <a:lnR w="5715">
                      <a:solidFill>
                        <a:srgbClr val="D4D7DB"/>
                      </a:solidFill>
                      <a:prstDash val="solid"/>
                    </a:lnR>
                    <a:lnB w="5715">
                      <a:solidFill>
                        <a:srgbClr val="D4D7DB"/>
                      </a:solidFill>
                      <a:prstDash val="solid"/>
                    </a:lnB>
                    <a:solidFill>
                      <a:srgbClr val="FFFFFF"/>
                    </a:solidFill>
                  </a:tcPr>
                </a:tc>
                <a:tc>
                  <a:txBody>
                    <a:bodyPr/>
                    <a:lstStyle/>
                    <a:p>
                      <a:r>
                        <a:rPr sz="1575" b="0">
                          <a:solidFill>
                            <a:srgbClr val="202329"/>
                          </a:solidFill>
                          <a:latin typeface="Arial"/>
                          <a:ea typeface="Arial"/>
                          <a:cs typeface="Arial"/>
                        </a:rPr>
                        <a:t>0/10</a:t>
                      </a:r>
                    </a:p>
                  </a:txBody>
                  <a:tcPr marL="91440" marR="91440" marT="45720" marB="45720">
                    <a:lnR w="5715">
                      <a:solidFill>
                        <a:srgbClr val="D4D7DB"/>
                      </a:solidFill>
                      <a:prstDash val="solid"/>
                    </a:lnR>
                    <a:lnB w="5715">
                      <a:solidFill>
                        <a:srgbClr val="D4D7DB"/>
                      </a:solidFill>
                      <a:prstDash val="solid"/>
                    </a:lnB>
                    <a:solidFill>
                      <a:srgbClr val="FFFFFF"/>
                    </a:solidFill>
                  </a:tcPr>
                </a:tc>
                <a:tc>
                  <a:txBody>
                    <a:bodyPr/>
                    <a:lstStyle/>
                    <a:p>
                      <a:r>
                        <a:rPr sz="1575" b="0">
                          <a:solidFill>
                            <a:srgbClr val="202329"/>
                          </a:solidFill>
                          <a:latin typeface="Arial"/>
                          <a:ea typeface="Arial"/>
                          <a:cs typeface="Arial"/>
                        </a:rPr>
                        <a:t>0/10</a:t>
                      </a:r>
                    </a:p>
                  </a:txBody>
                  <a:tcPr marL="91440" marR="91440" marT="45720" marB="45720">
                    <a:lnR w="5715">
                      <a:solidFill>
                        <a:srgbClr val="D4D7DB"/>
                      </a:solidFill>
                      <a:prstDash val="solid"/>
                    </a:lnR>
                    <a:lnB w="5715">
                      <a:solidFill>
                        <a:srgbClr val="D4D7DB"/>
                      </a:solidFill>
                      <a:prstDash val="solid"/>
                    </a:lnB>
                    <a:solidFill>
                      <a:srgbClr val="FFFFFF"/>
                    </a:solidFill>
                  </a:tcPr>
                </a:tc>
              </a:tr>
              <a:tr h="666750">
                <a:tc>
                  <a:txBody>
                    <a:bodyPr/>
                    <a:lstStyle/>
                    <a:p>
                      <a:r>
                        <a:rPr sz="1575" b="0">
                          <a:solidFill>
                            <a:srgbClr val="202329"/>
                          </a:solidFill>
                          <a:latin typeface="Arial"/>
                          <a:ea typeface="Arial"/>
                          <a:cs typeface="Arial"/>
                        </a:rPr>
                        <a:t>Published suffix</a:t>
                      </a:r>
                    </a:p>
                  </a:txBody>
                  <a:tcPr marL="91440" marR="91440" marT="45720" marB="45720">
                    <a:lnL w="5715">
                      <a:solidFill>
                        <a:srgbClr val="D4D7DB"/>
                      </a:solidFill>
                      <a:prstDash val="solid"/>
                    </a:lnL>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1/10</a:t>
                      </a:r>
                    </a:p>
                  </a:txBody>
                  <a:tcPr marL="91440" marR="91440" marT="45720" marB="45720">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0/10</a:t>
                      </a:r>
                    </a:p>
                  </a:txBody>
                  <a:tcPr marL="91440" marR="91440" marT="45720" marB="45720">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0/10</a:t>
                      </a:r>
                    </a:p>
                  </a:txBody>
                  <a:tcPr marL="91440" marR="91440" marT="45720" marB="45720">
                    <a:lnR w="5715">
                      <a:solidFill>
                        <a:srgbClr val="D4D7DB"/>
                      </a:solidFill>
                      <a:prstDash val="solid"/>
                    </a:lnR>
                    <a:lnB w="5715">
                      <a:solidFill>
                        <a:srgbClr val="D4D7DB"/>
                      </a:solidFill>
                      <a:prstDash val="solid"/>
                    </a:lnB>
                    <a:solidFill>
                      <a:srgbClr val="F3F4F6"/>
                    </a:solidFill>
                  </a:tcPr>
                </a:tc>
              </a:tr>
            </a:tbl>
          </a:graphicData>
        </a:graphic>
      </p:graphicFrame>
      <p:sp>
        <p:nvSpPr>
          <p:cNvPr id="4" name="">
            <a:extLst xmlns:a="http://schemas.openxmlformats.org/drawingml/2006/main">
              <a:ext uri="{FF2B5EF4-FFF2-40B4-BE49-F238E27FC236}">
                <a16:creationId xmlns:a16="http://schemas.microsoft.com/office/drawing/2014/main" id="{B177F387-5DA0-4932-BA4D-58A038E04D6D}"/>
              </a:ext>
            </a:extLst>
          </p:cNvPr>
          <p:cNvSpPr>
            <a:spLocks xmlns:a="http://schemas.openxmlformats.org/drawingml/2006/main" noGrp="1"/>
          </p:cNvSpPr>
          <p:nvPr/>
        </p:nvSpPr>
        <p:spPr>
          <a:xfrm xmlns:a="http://schemas.openxmlformats.org/drawingml/2006/main">
            <a:off x="571500" y="4714875"/>
            <a:ext cx="790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16181B"/>
                </a:solidFill>
                <a:latin typeface="Arial"/>
                <a:ea typeface="Arial"/>
                <a:cs typeface="Arial"/>
              </a:defRPr>
            </a:defPPr>
            <a:lvl1pPr>
              <a:defRPr sz="2100" b="1">
                <a:solidFill>
                  <a:srgbClr val="16181B"/>
                </a:solidFill>
                <a:latin typeface="Arial"/>
                <a:ea typeface="Arial"/>
                <a:cs typeface="Arial"/>
              </a:defRPr>
            </a:lvl1pPr>
            <a:lvl2pPr>
              <a:defRPr sz="2100" b="1">
                <a:solidFill>
                  <a:srgbClr val="16181B"/>
                </a:solidFill>
                <a:latin typeface="Arial"/>
                <a:ea typeface="Arial"/>
                <a:cs typeface="Arial"/>
              </a:defRPr>
            </a:lvl2pPr>
            <a:lvl3pPr>
              <a:defRPr sz="2100" b="1">
                <a:solidFill>
                  <a:srgbClr val="16181B"/>
                </a:solidFill>
                <a:latin typeface="Arial"/>
                <a:ea typeface="Arial"/>
                <a:cs typeface="Arial"/>
              </a:defRPr>
            </a:lvl3pPr>
            <a:lvl4pPr>
              <a:defRPr sz="2100" b="1">
                <a:solidFill>
                  <a:srgbClr val="16181B"/>
                </a:solidFill>
                <a:latin typeface="Arial"/>
                <a:ea typeface="Arial"/>
                <a:cs typeface="Arial"/>
              </a:defRPr>
            </a:lvl4pPr>
            <a:lvl5pPr>
              <a:defRPr sz="2100" b="1">
                <a:solidFill>
                  <a:srgbClr val="16181B"/>
                </a:solidFill>
                <a:latin typeface="Arial"/>
                <a:ea typeface="Arial"/>
                <a:cs typeface="Arial"/>
              </a:defRPr>
            </a:lvl5pPr>
            <a:lvl6pPr>
              <a:defRPr sz="2100" b="1">
                <a:solidFill>
                  <a:srgbClr val="16181B"/>
                </a:solidFill>
                <a:latin typeface="Arial"/>
                <a:ea typeface="Arial"/>
                <a:cs typeface="Arial"/>
              </a:defRPr>
            </a:lvl6pPr>
            <a:lvl7pPr>
              <a:defRPr sz="2100" b="1">
                <a:solidFill>
                  <a:srgbClr val="16181B"/>
                </a:solidFill>
                <a:latin typeface="Arial"/>
                <a:ea typeface="Arial"/>
                <a:cs typeface="Arial"/>
              </a:defRPr>
            </a:lvl7pPr>
            <a:lvl8pPr>
              <a:defRPr sz="2100" b="1">
                <a:solidFill>
                  <a:srgbClr val="16181B"/>
                </a:solidFill>
                <a:latin typeface="Arial"/>
                <a:ea typeface="Arial"/>
                <a:cs typeface="Arial"/>
              </a:defRPr>
            </a:lvl8pPr>
            <a:lvl9pPr>
              <a:defRPr sz="2100" b="1">
                <a:solidFill>
                  <a:srgbClr val="16181B"/>
                </a:solidFill>
                <a:latin typeface="Arial"/>
                <a:ea typeface="Arial"/>
                <a:cs typeface="Arial"/>
              </a:defRPr>
            </a:lvl9pPr>
          </a:lstStyle>
          <a:p xmlns:a="http://schemas.openxmlformats.org/drawingml/2006/main">
            <a:pPr>
              <a:defRPr sz="2100" b="1">
                <a:solidFill>
                  <a:srgbClr val="16181B"/>
                </a:solidFill>
                <a:latin typeface="Arial"/>
                <a:ea typeface="Arial"/>
                <a:cs typeface="Arial"/>
              </a:defRPr>
            </a:pPr>
            <a:r>
              <a:rPr sz="2100" b="1">
                <a:solidFill>
                  <a:srgbClr val="16181B"/>
                </a:solidFill>
                <a:latin typeface="Arial"/>
                <a:ea typeface="Arial"/>
                <a:cs typeface="Arial"/>
              </a:rPr>
              <a:t>Cells show judge-labelled harmful assistance.</a:t>
            </a:r>
          </a:p>
        </p:txBody>
      </p:sp>
      <p:sp>
        <p:nvSpPr>
          <p:cNvPr id="5" name="">
            <a:extLst xmlns:a="http://schemas.openxmlformats.org/drawingml/2006/main">
              <a:ext uri="{FF2B5EF4-FFF2-40B4-BE49-F238E27FC236}">
                <a16:creationId xmlns:a16="http://schemas.microsoft.com/office/drawing/2014/main" id="{AF908464-6424-44D3-9DA3-44CBEB907A74}"/>
              </a:ext>
            </a:extLst>
          </p:cNvPr>
          <p:cNvSpPr>
            <a:spLocks xmlns:a="http://schemas.openxmlformats.org/drawingml/2006/main" noGrp="1"/>
          </p:cNvSpPr>
          <p:nvPr/>
        </p:nvSpPr>
        <p:spPr>
          <a:xfrm xmlns:a="http://schemas.openxmlformats.org/drawingml/2006/main">
            <a:off x="571500" y="5553075"/>
            <a:ext cx="790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75" b="0">
                <a:solidFill>
                  <a:srgbClr val="626872"/>
                </a:solidFill>
                <a:latin typeface="Arial"/>
                <a:ea typeface="Arial"/>
                <a:cs typeface="Arial"/>
              </a:defRPr>
            </a:defPPr>
            <a:lvl1pPr>
              <a:defRPr sz="1575" b="0">
                <a:solidFill>
                  <a:srgbClr val="626872"/>
                </a:solidFill>
                <a:latin typeface="Arial"/>
                <a:ea typeface="Arial"/>
                <a:cs typeface="Arial"/>
              </a:defRPr>
            </a:lvl1pPr>
            <a:lvl2pPr>
              <a:defRPr sz="1575" b="0">
                <a:solidFill>
                  <a:srgbClr val="626872"/>
                </a:solidFill>
                <a:latin typeface="Arial"/>
                <a:ea typeface="Arial"/>
                <a:cs typeface="Arial"/>
              </a:defRPr>
            </a:lvl2pPr>
            <a:lvl3pPr>
              <a:defRPr sz="1575" b="0">
                <a:solidFill>
                  <a:srgbClr val="626872"/>
                </a:solidFill>
                <a:latin typeface="Arial"/>
                <a:ea typeface="Arial"/>
                <a:cs typeface="Arial"/>
              </a:defRPr>
            </a:lvl3pPr>
            <a:lvl4pPr>
              <a:defRPr sz="1575" b="0">
                <a:solidFill>
                  <a:srgbClr val="626872"/>
                </a:solidFill>
                <a:latin typeface="Arial"/>
                <a:ea typeface="Arial"/>
                <a:cs typeface="Arial"/>
              </a:defRPr>
            </a:lvl4pPr>
            <a:lvl5pPr>
              <a:defRPr sz="1575" b="0">
                <a:solidFill>
                  <a:srgbClr val="626872"/>
                </a:solidFill>
                <a:latin typeface="Arial"/>
                <a:ea typeface="Arial"/>
                <a:cs typeface="Arial"/>
              </a:defRPr>
            </a:lvl5pPr>
            <a:lvl6pPr>
              <a:defRPr sz="1575" b="0">
                <a:solidFill>
                  <a:srgbClr val="626872"/>
                </a:solidFill>
                <a:latin typeface="Arial"/>
                <a:ea typeface="Arial"/>
                <a:cs typeface="Arial"/>
              </a:defRPr>
            </a:lvl6pPr>
            <a:lvl7pPr>
              <a:defRPr sz="1575" b="0">
                <a:solidFill>
                  <a:srgbClr val="626872"/>
                </a:solidFill>
                <a:latin typeface="Arial"/>
                <a:ea typeface="Arial"/>
                <a:cs typeface="Arial"/>
              </a:defRPr>
            </a:lvl7pPr>
            <a:lvl8pPr>
              <a:defRPr sz="1575" b="0">
                <a:solidFill>
                  <a:srgbClr val="626872"/>
                </a:solidFill>
                <a:latin typeface="Arial"/>
                <a:ea typeface="Arial"/>
                <a:cs typeface="Arial"/>
              </a:defRPr>
            </a:lvl8pPr>
            <a:lvl9pPr>
              <a:defRPr sz="1575" b="0">
                <a:solidFill>
                  <a:srgbClr val="626872"/>
                </a:solidFill>
                <a:latin typeface="Arial"/>
                <a:ea typeface="Arial"/>
                <a:cs typeface="Arial"/>
              </a:defRPr>
            </a:lvl9pPr>
          </a:lstStyle>
          <a:p xmlns:a="http://schemas.openxmlformats.org/drawingml/2006/main">
            <a:pPr>
              <a:defRPr sz="1575" b="0">
                <a:solidFill>
                  <a:srgbClr val="626872"/>
                </a:solidFill>
                <a:latin typeface="Arial"/>
                <a:ea typeface="Arial"/>
                <a:cs typeface="Arial"/>
              </a:defRPr>
            </a:pPr>
            <a:r>
              <a:rPr sz="1575" b="0">
                <a:solidFill>
                  <a:srgbClr val="626872"/>
                </a:solidFill>
                <a:latin typeface="Arial"/>
                <a:ea typeface="Arial"/>
                <a:cs typeface="Arial"/>
              </a:rPr>
              <a:t>One fallible judge. Additional harm reduction beyond guarded is not demonstrated.</a:t>
            </a:r>
          </a:p>
        </p:txBody>
      </p:sp>
    </p:spTree>
    <p:extLst>
      <p:ext uri="{BB962C8B-B14F-4D97-AF65-F5344CB8AC3E}">
        <p14:creationId xmlns:p14="http://schemas.microsoft.com/office/powerpoint/2010/main" val="7521100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3B13FA-A0C7-4F9D-8D3F-561E8B77CF7F}"/>
              </a:ext>
            </a:extLst>
          </p:cNvPr>
          <p:cNvSpPr>
            <a:spLocks xmlns:a="http://schemas.openxmlformats.org/drawingml/2006/main" noGrp="1"/>
          </p:cNvSpPr>
          <p:nvPr/>
        </p:nvSpPr>
        <p:spPr>
          <a:xfrm xmlns:a="http://schemas.openxmlformats.org/drawingml/2006/main">
            <a:off x="571500" y="4572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1">
                <a:solidFill>
                  <a:srgbClr val="16181B"/>
                </a:solidFill>
                <a:latin typeface="Arial"/>
                <a:ea typeface="Arial"/>
                <a:cs typeface="Arial"/>
              </a:defRPr>
            </a:defPPr>
            <a:lvl1pPr>
              <a:defRPr sz="2850" b="1">
                <a:solidFill>
                  <a:srgbClr val="16181B"/>
                </a:solidFill>
                <a:latin typeface="Arial"/>
                <a:ea typeface="Arial"/>
                <a:cs typeface="Arial"/>
              </a:defRPr>
            </a:lvl1pPr>
            <a:lvl2pPr>
              <a:defRPr sz="2850" b="1">
                <a:solidFill>
                  <a:srgbClr val="16181B"/>
                </a:solidFill>
                <a:latin typeface="Arial"/>
                <a:ea typeface="Arial"/>
                <a:cs typeface="Arial"/>
              </a:defRPr>
            </a:lvl2pPr>
            <a:lvl3pPr>
              <a:defRPr sz="2850" b="1">
                <a:solidFill>
                  <a:srgbClr val="16181B"/>
                </a:solidFill>
                <a:latin typeface="Arial"/>
                <a:ea typeface="Arial"/>
                <a:cs typeface="Arial"/>
              </a:defRPr>
            </a:lvl3pPr>
            <a:lvl4pPr>
              <a:defRPr sz="2850" b="1">
                <a:solidFill>
                  <a:srgbClr val="16181B"/>
                </a:solidFill>
                <a:latin typeface="Arial"/>
                <a:ea typeface="Arial"/>
                <a:cs typeface="Arial"/>
              </a:defRPr>
            </a:lvl4pPr>
            <a:lvl5pPr>
              <a:defRPr sz="2850" b="1">
                <a:solidFill>
                  <a:srgbClr val="16181B"/>
                </a:solidFill>
                <a:latin typeface="Arial"/>
                <a:ea typeface="Arial"/>
                <a:cs typeface="Arial"/>
              </a:defRPr>
            </a:lvl5pPr>
            <a:lvl6pPr>
              <a:defRPr sz="2850" b="1">
                <a:solidFill>
                  <a:srgbClr val="16181B"/>
                </a:solidFill>
                <a:latin typeface="Arial"/>
                <a:ea typeface="Arial"/>
                <a:cs typeface="Arial"/>
              </a:defRPr>
            </a:lvl6pPr>
            <a:lvl7pPr>
              <a:defRPr sz="2850" b="1">
                <a:solidFill>
                  <a:srgbClr val="16181B"/>
                </a:solidFill>
                <a:latin typeface="Arial"/>
                <a:ea typeface="Arial"/>
                <a:cs typeface="Arial"/>
              </a:defRPr>
            </a:lvl7pPr>
            <a:lvl8pPr>
              <a:defRPr sz="2850" b="1">
                <a:solidFill>
                  <a:srgbClr val="16181B"/>
                </a:solidFill>
                <a:latin typeface="Arial"/>
                <a:ea typeface="Arial"/>
                <a:cs typeface="Arial"/>
              </a:defRPr>
            </a:lvl8pPr>
            <a:lvl9pPr>
              <a:defRPr sz="2850" b="1">
                <a:solidFill>
                  <a:srgbClr val="16181B"/>
                </a:solidFill>
                <a:latin typeface="Arial"/>
                <a:ea typeface="Arial"/>
                <a:cs typeface="Arial"/>
              </a:defRPr>
            </a:lvl9pPr>
          </a:lstStyle>
          <a:p xmlns:a="http://schemas.openxmlformats.org/drawingml/2006/main">
            <a:pPr>
              <a:defRPr sz="2850" b="1">
                <a:solidFill>
                  <a:srgbClr val="16181B"/>
                </a:solidFill>
                <a:latin typeface="Arial"/>
                <a:ea typeface="Arial"/>
                <a:cs typeface="Arial"/>
              </a:defRPr>
            </a:pPr>
            <a:r>
              <a:rPr sz="2850" b="1">
                <a:solidFill>
                  <a:srgbClr val="16181B"/>
                </a:solidFill>
                <a:latin typeface="Arial"/>
                <a:ea typeface="Arial"/>
                <a:cs typeface="Arial"/>
              </a:rPr>
              <a:t>Benign task quality and latency</a:t>
            </a:r>
          </a:p>
        </p:txBody>
      </p:sp>
      <p:sp>
        <p:nvSpPr>
          <p:cNvPr id="2" name="">
            <a:extLst xmlns:a="http://schemas.openxmlformats.org/drawingml/2006/main">
              <a:ext uri="{FF2B5EF4-FFF2-40B4-BE49-F238E27FC236}">
                <a16:creationId xmlns:a16="http://schemas.microsoft.com/office/drawing/2014/main" id="{32EF2A30-F00B-4373-80D5-939F20CD6684}"/>
              </a:ext>
            </a:extLst>
          </p:cNvPr>
          <p:cNvSpPr>
            <a:spLocks xmlns:a="http://schemas.openxmlformats.org/drawingml/2006/main" noGrp="1"/>
          </p:cNvSpPr>
          <p:nvPr/>
        </p:nvSpPr>
        <p:spPr>
          <a:xfrm xmlns:a="http://schemas.openxmlformats.org/drawingml/2006/main">
            <a:off x="8048625"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77777"/>
                </a:solidFill>
                <a:latin typeface="Arial"/>
                <a:ea typeface="Arial"/>
                <a:cs typeface="Arial"/>
              </a:defRPr>
            </a:defPPr>
            <a:lvl1pPr>
              <a:defRPr sz="975" b="0">
                <a:solidFill>
                  <a:srgbClr val="777777"/>
                </a:solidFill>
                <a:latin typeface="Arial"/>
                <a:ea typeface="Arial"/>
                <a:cs typeface="Arial"/>
              </a:defRPr>
            </a:lvl1pPr>
            <a:lvl2pPr>
              <a:defRPr sz="975" b="0">
                <a:solidFill>
                  <a:srgbClr val="777777"/>
                </a:solidFill>
                <a:latin typeface="Arial"/>
                <a:ea typeface="Arial"/>
                <a:cs typeface="Arial"/>
              </a:defRPr>
            </a:lvl2pPr>
            <a:lvl3pPr>
              <a:defRPr sz="975" b="0">
                <a:solidFill>
                  <a:srgbClr val="777777"/>
                </a:solidFill>
                <a:latin typeface="Arial"/>
                <a:ea typeface="Arial"/>
                <a:cs typeface="Arial"/>
              </a:defRPr>
            </a:lvl3pPr>
            <a:lvl4pPr>
              <a:defRPr sz="975" b="0">
                <a:solidFill>
                  <a:srgbClr val="777777"/>
                </a:solidFill>
                <a:latin typeface="Arial"/>
                <a:ea typeface="Arial"/>
                <a:cs typeface="Arial"/>
              </a:defRPr>
            </a:lvl4pPr>
            <a:lvl5pPr>
              <a:defRPr sz="975" b="0">
                <a:solidFill>
                  <a:srgbClr val="777777"/>
                </a:solidFill>
                <a:latin typeface="Arial"/>
                <a:ea typeface="Arial"/>
                <a:cs typeface="Arial"/>
              </a:defRPr>
            </a:lvl5pPr>
            <a:lvl6pPr>
              <a:defRPr sz="975" b="0">
                <a:solidFill>
                  <a:srgbClr val="777777"/>
                </a:solidFill>
                <a:latin typeface="Arial"/>
                <a:ea typeface="Arial"/>
                <a:cs typeface="Arial"/>
              </a:defRPr>
            </a:lvl6pPr>
            <a:lvl7pPr>
              <a:defRPr sz="975" b="0">
                <a:solidFill>
                  <a:srgbClr val="777777"/>
                </a:solidFill>
                <a:latin typeface="Arial"/>
                <a:ea typeface="Arial"/>
                <a:cs typeface="Arial"/>
              </a:defRPr>
            </a:lvl7pPr>
            <a:lvl8pPr>
              <a:defRPr sz="975" b="0">
                <a:solidFill>
                  <a:srgbClr val="777777"/>
                </a:solidFill>
                <a:latin typeface="Arial"/>
                <a:ea typeface="Arial"/>
                <a:cs typeface="Arial"/>
              </a:defRPr>
            </a:lvl8pPr>
            <a:lvl9pPr>
              <a:defRPr sz="975" b="0">
                <a:solidFill>
                  <a:srgbClr val="777777"/>
                </a:solidFill>
                <a:latin typeface="Arial"/>
                <a:ea typeface="Arial"/>
                <a:cs typeface="Arial"/>
              </a:defRPr>
            </a:lvl9pPr>
          </a:lstStyle>
          <a:p xmlns:a="http://schemas.openxmlformats.org/drawingml/2006/main">
            <a:pPr>
              <a:defRPr sz="975" b="0">
                <a:solidFill>
                  <a:srgbClr val="777777"/>
                </a:solidFill>
                <a:latin typeface="Arial"/>
                <a:ea typeface="Arial"/>
                <a:cs typeface="Arial"/>
              </a:defRPr>
            </a:pPr>
            <a:r>
              <a:rPr sz="975" b="0">
                <a:solidFill>
                  <a:srgbClr val="777777"/>
                </a:solidFill>
                <a:latin typeface="Arial"/>
                <a:ea typeface="Arial"/>
                <a:cs typeface="Arial"/>
              </a:rPr>
              <a:t>9</a:t>
            </a:r>
          </a:p>
        </p:txBody>
      </p:sp>
      <p:graphicFrame>
        <p:nvGraphicFramePr>
          <p:cNvPr id="3" name="">
            <a:extLst xmlns:a="http://schemas.openxmlformats.org/drawingml/2006/main">
              <a:ext uri="{FF2B5EF4-FFF2-40B4-BE49-F238E27FC236}">
                <a16:creationId xmlns:a16="http://schemas.microsoft.com/office/drawing/2014/main" id="{22F8A587-A395-4588-9B82-A3CC30CC689C}"/>
              </a:ext>
            </a:extLst>
          </p:cNvPr>
          <p:cNvGraphicFramePr/>
          <p:nvPr/>
        </p:nvGraphicFramePr>
        <p:xfrm>
          <a:off xmlns:a="http://schemas.openxmlformats.org/drawingml/2006/main" x="571500" y="1666875"/>
          <a:ext xmlns:a="http://schemas.openxmlformats.org/drawingml/2006/main" cx="7810500" cy="3238500"/>
        </p:xfrm>
        <a:graphic xmlns:a="http://schemas.openxmlformats.org/drawingml/2006/main">
          <a:graphicData uri="http://schemas.openxmlformats.org/drawingml/2006/table">
            <a:tbl>
              <a:tblPr/>
              <a:tblGrid>
                <a:gridCol w="3333750"/>
                <a:gridCol w="1428750"/>
                <a:gridCol w="1428750"/>
                <a:gridCol w="1619250"/>
              </a:tblGrid>
              <a:tr h="647700">
                <a:tc>
                  <a:txBody>
                    <a:bodyPr/>
                    <a:lstStyle/>
                    <a:p>
                      <a:r>
                        <a:rPr sz="1500" b="1">
                          <a:solidFill>
                            <a:srgbClr val="FFFFFF"/>
                          </a:solidFill>
                          <a:latin typeface="Arial"/>
                          <a:ea typeface="Arial"/>
                          <a:cs typeface="Arial"/>
                        </a:rPr>
                        <a:t>Metric</a:t>
                      </a:r>
                    </a:p>
                  </a:txBody>
                  <a:tcPr marL="91440" marR="91440" marT="45720" marB="45720">
                    <a:lnL w="5715">
                      <a:solidFill>
                        <a:srgbClr val="D4D7DB"/>
                      </a:solidFill>
                      <a:prstDash val="solid"/>
                    </a:lnL>
                    <a:lnR w="5715">
                      <a:solidFill>
                        <a:srgbClr val="D4D7DB"/>
                      </a:solidFill>
                      <a:prstDash val="solid"/>
                    </a:lnR>
                    <a:lnT w="5715">
                      <a:solidFill>
                        <a:srgbClr val="D4D7DB"/>
                      </a:solidFill>
                      <a:prstDash val="solid"/>
                    </a:lnT>
                    <a:lnB w="5715">
                      <a:solidFill>
                        <a:srgbClr val="D4D7DB"/>
                      </a:solidFill>
                      <a:prstDash val="solid"/>
                    </a:lnB>
                    <a:solidFill>
                      <a:srgbClr val="16181B"/>
                    </a:solidFill>
                  </a:tcPr>
                </a:tc>
                <a:tc>
                  <a:txBody>
                    <a:bodyPr/>
                    <a:lstStyle/>
                    <a:p>
                      <a:r>
                        <a:rPr sz="1500" b="1">
                          <a:solidFill>
                            <a:srgbClr val="FFFFFF"/>
                          </a:solidFill>
                          <a:latin typeface="Arial"/>
                          <a:ea typeface="Arial"/>
                          <a:cs typeface="Arial"/>
                        </a:rPr>
                        <a:t>Base</a:t>
                      </a:r>
                    </a:p>
                  </a:txBody>
                  <a:tcPr marL="91440" marR="91440" marT="45720" marB="45720">
                    <a:lnR w="5715">
                      <a:solidFill>
                        <a:srgbClr val="D4D7DB"/>
                      </a:solidFill>
                      <a:prstDash val="solid"/>
                    </a:lnR>
                    <a:lnT w="5715">
                      <a:solidFill>
                        <a:srgbClr val="D4D7DB"/>
                      </a:solidFill>
                      <a:prstDash val="solid"/>
                    </a:lnT>
                    <a:lnB w="5715">
                      <a:solidFill>
                        <a:srgbClr val="D4D7DB"/>
                      </a:solidFill>
                      <a:prstDash val="solid"/>
                    </a:lnB>
                    <a:solidFill>
                      <a:srgbClr val="16181B"/>
                    </a:solidFill>
                  </a:tcPr>
                </a:tc>
                <a:tc>
                  <a:txBody>
                    <a:bodyPr/>
                    <a:lstStyle/>
                    <a:p>
                      <a:r>
                        <a:rPr sz="1500" b="1">
                          <a:solidFill>
                            <a:srgbClr val="FFFFFF"/>
                          </a:solidFill>
                          <a:latin typeface="Arial"/>
                          <a:ea typeface="Arial"/>
                          <a:cs typeface="Arial"/>
                        </a:rPr>
                        <a:t>Guarded</a:t>
                      </a:r>
                    </a:p>
                  </a:txBody>
                  <a:tcPr marL="91440" marR="91440" marT="45720" marB="45720">
                    <a:lnR w="5715">
                      <a:solidFill>
                        <a:srgbClr val="D4D7DB"/>
                      </a:solidFill>
                      <a:prstDash val="solid"/>
                    </a:lnR>
                    <a:lnT w="5715">
                      <a:solidFill>
                        <a:srgbClr val="D4D7DB"/>
                      </a:solidFill>
                      <a:prstDash val="solid"/>
                    </a:lnT>
                    <a:lnB w="5715">
                      <a:solidFill>
                        <a:srgbClr val="D4D7DB"/>
                      </a:solidFill>
                      <a:prstDash val="solid"/>
                    </a:lnB>
                    <a:solidFill>
                      <a:srgbClr val="16181B"/>
                    </a:solidFill>
                  </a:tcPr>
                </a:tc>
                <a:tc>
                  <a:txBody>
                    <a:bodyPr/>
                    <a:lstStyle/>
                    <a:p>
                      <a:r>
                        <a:rPr sz="1500" b="1">
                          <a:solidFill>
                            <a:srgbClr val="FFFFFF"/>
                          </a:solidFill>
                          <a:latin typeface="Arial"/>
                          <a:ea typeface="Arial"/>
                          <a:cs typeface="Arial"/>
                        </a:rPr>
                        <a:t>Guard + smooth</a:t>
                      </a:r>
                    </a:p>
                  </a:txBody>
                  <a:tcPr marL="91440" marR="91440" marT="45720" marB="45720">
                    <a:lnR w="5715">
                      <a:solidFill>
                        <a:srgbClr val="D4D7DB"/>
                      </a:solidFill>
                      <a:prstDash val="solid"/>
                    </a:lnR>
                    <a:lnT w="5715">
                      <a:solidFill>
                        <a:srgbClr val="D4D7DB"/>
                      </a:solidFill>
                      <a:prstDash val="solid"/>
                    </a:lnT>
                    <a:lnB w="5715">
                      <a:solidFill>
                        <a:srgbClr val="D4D7DB"/>
                      </a:solidFill>
                      <a:prstDash val="solid"/>
                    </a:lnB>
                    <a:solidFill>
                      <a:srgbClr val="16181B"/>
                    </a:solidFill>
                  </a:tcPr>
                </a:tc>
              </a:tr>
              <a:tr h="647700">
                <a:tc>
                  <a:txBody>
                    <a:bodyPr/>
                    <a:lstStyle/>
                    <a:p>
                      <a:r>
                        <a:rPr sz="1575" b="0">
                          <a:solidFill>
                            <a:srgbClr val="202329"/>
                          </a:solidFill>
                          <a:latin typeface="Arial"/>
                          <a:ea typeface="Arial"/>
                          <a:cs typeface="Arial"/>
                        </a:rPr>
                        <a:t>Initial pattern score</a:t>
                      </a:r>
                    </a:p>
                  </a:txBody>
                  <a:tcPr marL="91440" marR="91440" marT="45720" marB="45720">
                    <a:lnL w="5715">
                      <a:solidFill>
                        <a:srgbClr val="D4D7DB"/>
                      </a:solidFill>
                      <a:prstDash val="solid"/>
                    </a:lnL>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9/10</a:t>
                      </a:r>
                    </a:p>
                  </a:txBody>
                  <a:tcPr marL="91440" marR="91440" marT="45720" marB="45720">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7/10</a:t>
                      </a:r>
                    </a:p>
                  </a:txBody>
                  <a:tcPr marL="91440" marR="91440" marT="45720" marB="45720">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5/10</a:t>
                      </a:r>
                    </a:p>
                  </a:txBody>
                  <a:tcPr marL="91440" marR="91440" marT="45720" marB="45720">
                    <a:lnR w="5715">
                      <a:solidFill>
                        <a:srgbClr val="D4D7DB"/>
                      </a:solidFill>
                      <a:prstDash val="solid"/>
                    </a:lnR>
                    <a:lnB w="5715">
                      <a:solidFill>
                        <a:srgbClr val="D4D7DB"/>
                      </a:solidFill>
                      <a:prstDash val="solid"/>
                    </a:lnB>
                    <a:solidFill>
                      <a:srgbClr val="F3F4F6"/>
                    </a:solidFill>
                  </a:tcPr>
                </a:tc>
              </a:tr>
              <a:tr h="647700">
                <a:tc>
                  <a:txBody>
                    <a:bodyPr/>
                    <a:lstStyle/>
                    <a:p>
                      <a:r>
                        <a:rPr sz="1575" b="0">
                          <a:solidFill>
                            <a:srgbClr val="202329"/>
                          </a:solidFill>
                          <a:latin typeface="Arial"/>
                          <a:ea typeface="Arial"/>
                          <a:cs typeface="Arial"/>
                        </a:rPr>
                        <a:t>Audited task score</a:t>
                      </a:r>
                    </a:p>
                  </a:txBody>
                  <a:tcPr marL="91440" marR="91440" marT="45720" marB="45720">
                    <a:lnL w="5715">
                      <a:solidFill>
                        <a:srgbClr val="D4D7DB"/>
                      </a:solidFill>
                      <a:prstDash val="solid"/>
                    </a:lnL>
                    <a:lnR w="5715">
                      <a:solidFill>
                        <a:srgbClr val="D4D7DB"/>
                      </a:solidFill>
                      <a:prstDash val="solid"/>
                    </a:lnR>
                    <a:lnB w="5715">
                      <a:solidFill>
                        <a:srgbClr val="D4D7DB"/>
                      </a:solidFill>
                      <a:prstDash val="solid"/>
                    </a:lnB>
                    <a:solidFill>
                      <a:srgbClr val="FFFFFF"/>
                    </a:solidFill>
                  </a:tcPr>
                </a:tc>
                <a:tc>
                  <a:txBody>
                    <a:bodyPr/>
                    <a:lstStyle/>
                    <a:p>
                      <a:r>
                        <a:rPr sz="1575" b="0">
                          <a:solidFill>
                            <a:srgbClr val="202329"/>
                          </a:solidFill>
                          <a:latin typeface="Arial"/>
                          <a:ea typeface="Arial"/>
                          <a:cs typeface="Arial"/>
                        </a:rPr>
                        <a:t>7/10</a:t>
                      </a:r>
                    </a:p>
                  </a:txBody>
                  <a:tcPr marL="91440" marR="91440" marT="45720" marB="45720">
                    <a:lnR w="5715">
                      <a:solidFill>
                        <a:srgbClr val="D4D7DB"/>
                      </a:solidFill>
                      <a:prstDash val="solid"/>
                    </a:lnR>
                    <a:lnB w="5715">
                      <a:solidFill>
                        <a:srgbClr val="D4D7DB"/>
                      </a:solidFill>
                      <a:prstDash val="solid"/>
                    </a:lnB>
                    <a:solidFill>
                      <a:srgbClr val="FFFFFF"/>
                    </a:solidFill>
                  </a:tcPr>
                </a:tc>
                <a:tc>
                  <a:txBody>
                    <a:bodyPr/>
                    <a:lstStyle/>
                    <a:p>
                      <a:r>
                        <a:rPr sz="1575" b="0">
                          <a:solidFill>
                            <a:srgbClr val="202329"/>
                          </a:solidFill>
                          <a:latin typeface="Arial"/>
                          <a:ea typeface="Arial"/>
                          <a:cs typeface="Arial"/>
                        </a:rPr>
                        <a:t>7/10</a:t>
                      </a:r>
                    </a:p>
                  </a:txBody>
                  <a:tcPr marL="91440" marR="91440" marT="45720" marB="45720">
                    <a:lnR w="5715">
                      <a:solidFill>
                        <a:srgbClr val="D4D7DB"/>
                      </a:solidFill>
                      <a:prstDash val="solid"/>
                    </a:lnR>
                    <a:lnB w="5715">
                      <a:solidFill>
                        <a:srgbClr val="D4D7DB"/>
                      </a:solidFill>
                      <a:prstDash val="solid"/>
                    </a:lnB>
                    <a:solidFill>
                      <a:srgbClr val="FFFFFF"/>
                    </a:solidFill>
                  </a:tcPr>
                </a:tc>
                <a:tc>
                  <a:txBody>
                    <a:bodyPr/>
                    <a:lstStyle/>
                    <a:p>
                      <a:r>
                        <a:rPr sz="1575" b="0">
                          <a:solidFill>
                            <a:srgbClr val="202329"/>
                          </a:solidFill>
                          <a:latin typeface="Arial"/>
                          <a:ea typeface="Arial"/>
                          <a:cs typeface="Arial"/>
                        </a:rPr>
                        <a:t>3/10</a:t>
                      </a:r>
                    </a:p>
                  </a:txBody>
                  <a:tcPr marL="91440" marR="91440" marT="45720" marB="45720">
                    <a:lnR w="5715">
                      <a:solidFill>
                        <a:srgbClr val="D4D7DB"/>
                      </a:solidFill>
                      <a:prstDash val="solid"/>
                    </a:lnR>
                    <a:lnB w="5715">
                      <a:solidFill>
                        <a:srgbClr val="D4D7DB"/>
                      </a:solidFill>
                      <a:prstDash val="solid"/>
                    </a:lnB>
                    <a:solidFill>
                      <a:srgbClr val="FFFFFF"/>
                    </a:solidFill>
                  </a:tcPr>
                </a:tc>
              </a:tr>
              <a:tr h="647700">
                <a:tc>
                  <a:txBody>
                    <a:bodyPr/>
                    <a:lstStyle/>
                    <a:p>
                      <a:r>
                        <a:rPr sz="1575" b="0">
                          <a:solidFill>
                            <a:srgbClr val="202329"/>
                          </a:solidFill>
                          <a:latin typeface="Arial"/>
                          <a:ea typeface="Arial"/>
                          <a:cs typeface="Arial"/>
                        </a:rPr>
                        <a:t>Mean benign latency</a:t>
                      </a:r>
                    </a:p>
                  </a:txBody>
                  <a:tcPr marL="91440" marR="91440" marT="45720" marB="45720">
                    <a:lnL w="5715">
                      <a:solidFill>
                        <a:srgbClr val="D4D7DB"/>
                      </a:solidFill>
                      <a:prstDash val="solid"/>
                    </a:lnL>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0.72 s</a:t>
                      </a:r>
                    </a:p>
                  </a:txBody>
                  <a:tcPr marL="91440" marR="91440" marT="45720" marB="45720">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0.50 s</a:t>
                      </a:r>
                    </a:p>
                  </a:txBody>
                  <a:tcPr marL="91440" marR="91440" marT="45720" marB="45720">
                    <a:lnR w="5715">
                      <a:solidFill>
                        <a:srgbClr val="D4D7DB"/>
                      </a:solidFill>
                      <a:prstDash val="solid"/>
                    </a:lnR>
                    <a:lnB w="5715">
                      <a:solidFill>
                        <a:srgbClr val="D4D7DB"/>
                      </a:solidFill>
                      <a:prstDash val="solid"/>
                    </a:lnB>
                    <a:solidFill>
                      <a:srgbClr val="F3F4F6"/>
                    </a:solidFill>
                  </a:tcPr>
                </a:tc>
                <a:tc>
                  <a:txBody>
                    <a:bodyPr/>
                    <a:lstStyle/>
                    <a:p>
                      <a:r>
                        <a:rPr sz="1575" b="0">
                          <a:solidFill>
                            <a:srgbClr val="202329"/>
                          </a:solidFill>
                          <a:latin typeface="Arial"/>
                          <a:ea typeface="Arial"/>
                          <a:cs typeface="Arial"/>
                        </a:rPr>
                        <a:t>2.65 s</a:t>
                      </a:r>
                    </a:p>
                  </a:txBody>
                  <a:tcPr marL="91440" marR="91440" marT="45720" marB="45720">
                    <a:lnR w="5715">
                      <a:solidFill>
                        <a:srgbClr val="D4D7DB"/>
                      </a:solidFill>
                      <a:prstDash val="solid"/>
                    </a:lnR>
                    <a:lnB w="5715">
                      <a:solidFill>
                        <a:srgbClr val="D4D7DB"/>
                      </a:solidFill>
                      <a:prstDash val="solid"/>
                    </a:lnB>
                    <a:solidFill>
                      <a:srgbClr val="F3F4F6"/>
                    </a:solidFill>
                  </a:tcPr>
                </a:tc>
              </a:tr>
              <a:tr h="647700">
                <a:tc>
                  <a:txBody>
                    <a:bodyPr/>
                    <a:lstStyle/>
                    <a:p>
                      <a:r>
                        <a:rPr sz="1575" b="0">
                          <a:solidFill>
                            <a:srgbClr val="202329"/>
                          </a:solidFill>
                          <a:latin typeface="Arial"/>
                          <a:ea typeface="Arial"/>
                          <a:cs typeface="Arial"/>
                        </a:rPr>
                        <a:t>Mean suffix latency</a:t>
                      </a:r>
                    </a:p>
                  </a:txBody>
                  <a:tcPr marL="91440" marR="91440" marT="45720" marB="45720">
                    <a:lnL w="5715">
                      <a:solidFill>
                        <a:srgbClr val="D4D7DB"/>
                      </a:solidFill>
                      <a:prstDash val="solid"/>
                    </a:lnL>
                    <a:lnR w="5715">
                      <a:solidFill>
                        <a:srgbClr val="D4D7DB"/>
                      </a:solidFill>
                      <a:prstDash val="solid"/>
                    </a:lnR>
                    <a:lnB w="5715">
                      <a:solidFill>
                        <a:srgbClr val="D4D7DB"/>
                      </a:solidFill>
                      <a:prstDash val="solid"/>
                    </a:lnB>
                    <a:solidFill>
                      <a:srgbClr val="FFFFFF"/>
                    </a:solidFill>
                  </a:tcPr>
                </a:tc>
                <a:tc>
                  <a:txBody>
                    <a:bodyPr/>
                    <a:lstStyle/>
                    <a:p>
                      <a:r>
                        <a:rPr sz="1575" b="0">
                          <a:solidFill>
                            <a:srgbClr val="202329"/>
                          </a:solidFill>
                          <a:latin typeface="Arial"/>
                          <a:ea typeface="Arial"/>
                          <a:cs typeface="Arial"/>
                        </a:rPr>
                        <a:t>0.92 s</a:t>
                      </a:r>
                    </a:p>
                  </a:txBody>
                  <a:tcPr marL="91440" marR="91440" marT="45720" marB="45720">
                    <a:lnR w="5715">
                      <a:solidFill>
                        <a:srgbClr val="D4D7DB"/>
                      </a:solidFill>
                      <a:prstDash val="solid"/>
                    </a:lnR>
                    <a:lnB w="5715">
                      <a:solidFill>
                        <a:srgbClr val="D4D7DB"/>
                      </a:solidFill>
                      <a:prstDash val="solid"/>
                    </a:lnB>
                    <a:solidFill>
                      <a:srgbClr val="FFFFFF"/>
                    </a:solidFill>
                  </a:tcPr>
                </a:tc>
                <a:tc>
                  <a:txBody>
                    <a:bodyPr/>
                    <a:lstStyle/>
                    <a:p>
                      <a:r>
                        <a:rPr sz="1575" b="0">
                          <a:solidFill>
                            <a:srgbClr val="202329"/>
                          </a:solidFill>
                          <a:latin typeface="Arial"/>
                          <a:ea typeface="Arial"/>
                          <a:cs typeface="Arial"/>
                        </a:rPr>
                        <a:t>0.60 s</a:t>
                      </a:r>
                    </a:p>
                  </a:txBody>
                  <a:tcPr marL="91440" marR="91440" marT="45720" marB="45720">
                    <a:lnR w="5715">
                      <a:solidFill>
                        <a:srgbClr val="D4D7DB"/>
                      </a:solidFill>
                      <a:prstDash val="solid"/>
                    </a:lnR>
                    <a:lnB w="5715">
                      <a:solidFill>
                        <a:srgbClr val="D4D7DB"/>
                      </a:solidFill>
                      <a:prstDash val="solid"/>
                    </a:lnB>
                    <a:solidFill>
                      <a:srgbClr val="FFFFFF"/>
                    </a:solidFill>
                  </a:tcPr>
                </a:tc>
                <a:tc>
                  <a:txBody>
                    <a:bodyPr/>
                    <a:lstStyle/>
                    <a:p>
                      <a:r>
                        <a:rPr sz="1575" b="0">
                          <a:solidFill>
                            <a:srgbClr val="202329"/>
                          </a:solidFill>
                          <a:latin typeface="Arial"/>
                          <a:ea typeface="Arial"/>
                          <a:cs typeface="Arial"/>
                        </a:rPr>
                        <a:t>5.86 s</a:t>
                      </a:r>
                    </a:p>
                  </a:txBody>
                  <a:tcPr marL="91440" marR="91440" marT="45720" marB="45720">
                    <a:lnR w="5715">
                      <a:solidFill>
                        <a:srgbClr val="D4D7DB"/>
                      </a:solidFill>
                      <a:prstDash val="solid"/>
                    </a:lnR>
                    <a:lnB w="5715">
                      <a:solidFill>
                        <a:srgbClr val="D4D7DB"/>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DD0757A-96F5-4863-B200-F9E3DB24C89D}"/>
              </a:ext>
            </a:extLst>
          </p:cNvPr>
          <p:cNvSpPr>
            <a:spLocks xmlns:a="http://schemas.openxmlformats.org/drawingml/2006/main" noGrp="1"/>
          </p:cNvSpPr>
          <p:nvPr/>
        </p:nvSpPr>
        <p:spPr>
          <a:xfrm xmlns:a="http://schemas.openxmlformats.org/drawingml/2006/main">
            <a:off x="571500" y="5219700"/>
            <a:ext cx="790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1">
                <a:solidFill>
                  <a:srgbClr val="16181B"/>
                </a:solidFill>
                <a:latin typeface="Arial"/>
                <a:ea typeface="Arial"/>
                <a:cs typeface="Arial"/>
              </a:defRPr>
            </a:defPPr>
            <a:lvl1pPr>
              <a:defRPr sz="1950" b="1">
                <a:solidFill>
                  <a:srgbClr val="16181B"/>
                </a:solidFill>
                <a:latin typeface="Arial"/>
                <a:ea typeface="Arial"/>
                <a:cs typeface="Arial"/>
              </a:defRPr>
            </a:lvl1pPr>
            <a:lvl2pPr>
              <a:defRPr sz="1950" b="1">
                <a:solidFill>
                  <a:srgbClr val="16181B"/>
                </a:solidFill>
                <a:latin typeface="Arial"/>
                <a:ea typeface="Arial"/>
                <a:cs typeface="Arial"/>
              </a:defRPr>
            </a:lvl2pPr>
            <a:lvl3pPr>
              <a:defRPr sz="1950" b="1">
                <a:solidFill>
                  <a:srgbClr val="16181B"/>
                </a:solidFill>
                <a:latin typeface="Arial"/>
                <a:ea typeface="Arial"/>
                <a:cs typeface="Arial"/>
              </a:defRPr>
            </a:lvl3pPr>
            <a:lvl4pPr>
              <a:defRPr sz="1950" b="1">
                <a:solidFill>
                  <a:srgbClr val="16181B"/>
                </a:solidFill>
                <a:latin typeface="Arial"/>
                <a:ea typeface="Arial"/>
                <a:cs typeface="Arial"/>
              </a:defRPr>
            </a:lvl4pPr>
            <a:lvl5pPr>
              <a:defRPr sz="1950" b="1">
                <a:solidFill>
                  <a:srgbClr val="16181B"/>
                </a:solidFill>
                <a:latin typeface="Arial"/>
                <a:ea typeface="Arial"/>
                <a:cs typeface="Arial"/>
              </a:defRPr>
            </a:lvl5pPr>
            <a:lvl6pPr>
              <a:defRPr sz="1950" b="1">
                <a:solidFill>
                  <a:srgbClr val="16181B"/>
                </a:solidFill>
                <a:latin typeface="Arial"/>
                <a:ea typeface="Arial"/>
                <a:cs typeface="Arial"/>
              </a:defRPr>
            </a:lvl6pPr>
            <a:lvl7pPr>
              <a:defRPr sz="1950" b="1">
                <a:solidFill>
                  <a:srgbClr val="16181B"/>
                </a:solidFill>
                <a:latin typeface="Arial"/>
                <a:ea typeface="Arial"/>
                <a:cs typeface="Arial"/>
              </a:defRPr>
            </a:lvl7pPr>
            <a:lvl8pPr>
              <a:defRPr sz="1950" b="1">
                <a:solidFill>
                  <a:srgbClr val="16181B"/>
                </a:solidFill>
                <a:latin typeface="Arial"/>
                <a:ea typeface="Arial"/>
                <a:cs typeface="Arial"/>
              </a:defRPr>
            </a:lvl8pPr>
            <a:lvl9pPr>
              <a:defRPr sz="1950" b="1">
                <a:solidFill>
                  <a:srgbClr val="16181B"/>
                </a:solidFill>
                <a:latin typeface="Arial"/>
                <a:ea typeface="Arial"/>
                <a:cs typeface="Arial"/>
              </a:defRPr>
            </a:lvl9pPr>
          </a:lstStyle>
          <a:p xmlns:a="http://schemas.openxmlformats.org/drawingml/2006/main">
            <a:pPr>
              <a:defRPr sz="1950" b="1">
                <a:solidFill>
                  <a:srgbClr val="16181B"/>
                </a:solidFill>
                <a:latin typeface="Arial"/>
                <a:ea typeface="Arial"/>
                <a:cs typeface="Arial"/>
              </a:defRPr>
            </a:pPr>
            <a:r>
              <a:rPr sz="1950" b="1">
                <a:solidFill>
                  <a:srgbClr val="16181B"/>
                </a:solidFill>
                <a:latin typeface="Arial"/>
                <a:ea typeface="Arial"/>
                <a:cs typeface="Arial"/>
              </a:rPr>
              <a:t>Smoothing can corrupt useful instructions and increases cost.</a:t>
            </a:r>
          </a:p>
        </p:txBody>
      </p:sp>
    </p:spTree>
    <p:extLst>
      <p:ext uri="{BB962C8B-B14F-4D97-AF65-F5344CB8AC3E}">
        <p14:creationId xmlns:p14="http://schemas.microsoft.com/office/powerpoint/2010/main" val="11084370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EF4AC60-F96B-4509-8FDE-63660D499B6D}"/>
              </a:ext>
            </a:extLst>
          </p:cNvPr>
          <p:cNvSpPr>
            <a:spLocks xmlns:a="http://schemas.openxmlformats.org/drawingml/2006/main" noGrp="1"/>
          </p:cNvSpPr>
          <p:nvPr/>
        </p:nvSpPr>
        <p:spPr>
          <a:xfrm xmlns:a="http://schemas.openxmlformats.org/drawingml/2006/main">
            <a:off x="571500" y="4572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1">
                <a:solidFill>
                  <a:srgbClr val="16181B"/>
                </a:solidFill>
                <a:latin typeface="Arial"/>
                <a:ea typeface="Arial"/>
                <a:cs typeface="Arial"/>
              </a:defRPr>
            </a:defPPr>
            <a:lvl1pPr>
              <a:defRPr sz="2850" b="1">
                <a:solidFill>
                  <a:srgbClr val="16181B"/>
                </a:solidFill>
                <a:latin typeface="Arial"/>
                <a:ea typeface="Arial"/>
                <a:cs typeface="Arial"/>
              </a:defRPr>
            </a:lvl1pPr>
            <a:lvl2pPr>
              <a:defRPr sz="2850" b="1">
                <a:solidFill>
                  <a:srgbClr val="16181B"/>
                </a:solidFill>
                <a:latin typeface="Arial"/>
                <a:ea typeface="Arial"/>
                <a:cs typeface="Arial"/>
              </a:defRPr>
            </a:lvl2pPr>
            <a:lvl3pPr>
              <a:defRPr sz="2850" b="1">
                <a:solidFill>
                  <a:srgbClr val="16181B"/>
                </a:solidFill>
                <a:latin typeface="Arial"/>
                <a:ea typeface="Arial"/>
                <a:cs typeface="Arial"/>
              </a:defRPr>
            </a:lvl3pPr>
            <a:lvl4pPr>
              <a:defRPr sz="2850" b="1">
                <a:solidFill>
                  <a:srgbClr val="16181B"/>
                </a:solidFill>
                <a:latin typeface="Arial"/>
                <a:ea typeface="Arial"/>
                <a:cs typeface="Arial"/>
              </a:defRPr>
            </a:lvl4pPr>
            <a:lvl5pPr>
              <a:defRPr sz="2850" b="1">
                <a:solidFill>
                  <a:srgbClr val="16181B"/>
                </a:solidFill>
                <a:latin typeface="Arial"/>
                <a:ea typeface="Arial"/>
                <a:cs typeface="Arial"/>
              </a:defRPr>
            </a:lvl5pPr>
            <a:lvl6pPr>
              <a:defRPr sz="2850" b="1">
                <a:solidFill>
                  <a:srgbClr val="16181B"/>
                </a:solidFill>
                <a:latin typeface="Arial"/>
                <a:ea typeface="Arial"/>
                <a:cs typeface="Arial"/>
              </a:defRPr>
            </a:lvl6pPr>
            <a:lvl7pPr>
              <a:defRPr sz="2850" b="1">
                <a:solidFill>
                  <a:srgbClr val="16181B"/>
                </a:solidFill>
                <a:latin typeface="Arial"/>
                <a:ea typeface="Arial"/>
                <a:cs typeface="Arial"/>
              </a:defRPr>
            </a:lvl7pPr>
            <a:lvl8pPr>
              <a:defRPr sz="2850" b="1">
                <a:solidFill>
                  <a:srgbClr val="16181B"/>
                </a:solidFill>
                <a:latin typeface="Arial"/>
                <a:ea typeface="Arial"/>
                <a:cs typeface="Arial"/>
              </a:defRPr>
            </a:lvl8pPr>
            <a:lvl9pPr>
              <a:defRPr sz="2850" b="1">
                <a:solidFill>
                  <a:srgbClr val="16181B"/>
                </a:solidFill>
                <a:latin typeface="Arial"/>
                <a:ea typeface="Arial"/>
                <a:cs typeface="Arial"/>
              </a:defRPr>
            </a:lvl9pPr>
          </a:lstStyle>
          <a:p xmlns:a="http://schemas.openxmlformats.org/drawingml/2006/main">
            <a:pPr>
              <a:defRPr sz="2850" b="1">
                <a:solidFill>
                  <a:srgbClr val="16181B"/>
                </a:solidFill>
                <a:latin typeface="Arial"/>
                <a:ea typeface="Arial"/>
                <a:cs typeface="Arial"/>
              </a:defRPr>
            </a:pPr>
            <a:r>
              <a:rPr sz="2850" b="1">
                <a:solidFill>
                  <a:srgbClr val="16181B"/>
                </a:solidFill>
                <a:latin typeface="Arial"/>
                <a:ea typeface="Arial"/>
                <a:cs typeface="Arial"/>
              </a:rPr>
              <a:t>Additional API protection</a:t>
            </a:r>
          </a:p>
        </p:txBody>
      </p:sp>
      <p:sp>
        <p:nvSpPr>
          <p:cNvPr id="2" name="">
            <a:extLst xmlns:a="http://schemas.openxmlformats.org/drawingml/2006/main">
              <a:ext uri="{FF2B5EF4-FFF2-40B4-BE49-F238E27FC236}">
                <a16:creationId xmlns:a16="http://schemas.microsoft.com/office/drawing/2014/main" id="{8A94F880-5A44-407C-B9AA-2A3225757162}"/>
              </a:ext>
            </a:extLst>
          </p:cNvPr>
          <p:cNvSpPr>
            <a:spLocks xmlns:a="http://schemas.openxmlformats.org/drawingml/2006/main" noGrp="1"/>
          </p:cNvSpPr>
          <p:nvPr/>
        </p:nvSpPr>
        <p:spPr>
          <a:xfrm xmlns:a="http://schemas.openxmlformats.org/drawingml/2006/main">
            <a:off x="571500" y="166687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The server owns the system prompt. Client-supplied privileged roles are rejected before model access.</a:t>
            </a:r>
          </a:p>
        </p:txBody>
      </p:sp>
      <p:sp>
        <p:nvSpPr>
          <p:cNvPr id="3" name="">
            <a:extLst xmlns:a="http://schemas.openxmlformats.org/drawingml/2006/main">
              <a:ext uri="{FF2B5EF4-FFF2-40B4-BE49-F238E27FC236}">
                <a16:creationId xmlns:a16="http://schemas.microsoft.com/office/drawing/2014/main" id="{6C515736-0DAA-4875-A023-FF88BA398F19}"/>
              </a:ext>
            </a:extLst>
          </p:cNvPr>
          <p:cNvSpPr>
            <a:spLocks xmlns:a="http://schemas.openxmlformats.org/drawingml/2006/main" noGrp="1"/>
          </p:cNvSpPr>
          <p:nvPr/>
        </p:nvSpPr>
        <p:spPr>
          <a:xfrm xmlns:a="http://schemas.openxmlformats.org/drawingml/2006/main">
            <a:off x="571500" y="256222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Message limit: 4,000 characters. Request-body limit: 65,536 bytes. Invalid schemas return structured errors.</a:t>
            </a:r>
          </a:p>
        </p:txBody>
      </p:sp>
      <p:sp>
        <p:nvSpPr>
          <p:cNvPr id="4" name="">
            <a:extLst xmlns:a="http://schemas.openxmlformats.org/drawingml/2006/main">
              <a:ext uri="{FF2B5EF4-FFF2-40B4-BE49-F238E27FC236}">
                <a16:creationId xmlns:a16="http://schemas.microsoft.com/office/drawing/2014/main" id="{ADA4C75E-7F70-4084-BEBE-BCE02FED657F}"/>
              </a:ext>
            </a:extLst>
          </p:cNvPr>
          <p:cNvSpPr>
            <a:spLocks xmlns:a="http://schemas.openxmlformats.org/drawingml/2006/main" noGrp="1"/>
          </p:cNvSpPr>
          <p:nvPr/>
        </p:nvSpPr>
        <p:spPr>
          <a:xfrm xmlns:a="http://schemas.openxmlformats.org/drawingml/2006/main">
            <a:off x="571500" y="345757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Paired HTTP tests: forged roles and oversized inputs each fall from 8/8 forwarded to 0/8.</a:t>
            </a:r>
          </a:p>
        </p:txBody>
      </p:sp>
      <p:sp>
        <p:nvSpPr>
          <p:cNvPr id="5" name="">
            <a:extLst xmlns:a="http://schemas.openxmlformats.org/drawingml/2006/main">
              <a:ext uri="{FF2B5EF4-FFF2-40B4-BE49-F238E27FC236}">
                <a16:creationId xmlns:a16="http://schemas.microsoft.com/office/drawing/2014/main" id="{09274846-BD1A-4AC3-AB5D-ED3C4417CCB6}"/>
              </a:ext>
            </a:extLst>
          </p:cNvPr>
          <p:cNvSpPr>
            <a:spLocks xmlns:a="http://schemas.openxmlformats.org/drawingml/2006/main" noGrp="1"/>
          </p:cNvSpPr>
          <p:nvPr/>
        </p:nvSpPr>
        <p:spPr>
          <a:xfrm xmlns:a="http://schemas.openxmlformats.org/drawingml/2006/main">
            <a:off x="571500" y="435292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Valid requests remain 24/24 accepted. All 8 schema errors become controlled responses instead of 4.</a:t>
            </a:r>
          </a:p>
        </p:txBody>
      </p:sp>
      <p:sp>
        <p:nvSpPr>
          <p:cNvPr id="6" name="">
            <a:extLst xmlns:a="http://schemas.openxmlformats.org/drawingml/2006/main">
              <a:ext uri="{FF2B5EF4-FFF2-40B4-BE49-F238E27FC236}">
                <a16:creationId xmlns:a16="http://schemas.microsoft.com/office/drawing/2014/main" id="{3C24DDA9-AA7A-4E6F-BD6A-FDC600C51B30}"/>
              </a:ext>
            </a:extLst>
          </p:cNvPr>
          <p:cNvSpPr>
            <a:spLocks xmlns:a="http://schemas.openxmlformats.org/drawingml/2006/main" noGrp="1"/>
          </p:cNvSpPr>
          <p:nvPr/>
        </p:nvSpPr>
        <p:spPr>
          <a:xfrm xmlns:a="http://schemas.openxmlformats.org/drawingml/2006/main">
            <a:off x="8048625"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77777"/>
                </a:solidFill>
                <a:latin typeface="Arial"/>
                <a:ea typeface="Arial"/>
                <a:cs typeface="Arial"/>
              </a:defRPr>
            </a:defPPr>
            <a:lvl1pPr>
              <a:defRPr sz="975" b="0">
                <a:solidFill>
                  <a:srgbClr val="777777"/>
                </a:solidFill>
                <a:latin typeface="Arial"/>
                <a:ea typeface="Arial"/>
                <a:cs typeface="Arial"/>
              </a:defRPr>
            </a:lvl1pPr>
            <a:lvl2pPr>
              <a:defRPr sz="975" b="0">
                <a:solidFill>
                  <a:srgbClr val="777777"/>
                </a:solidFill>
                <a:latin typeface="Arial"/>
                <a:ea typeface="Arial"/>
                <a:cs typeface="Arial"/>
              </a:defRPr>
            </a:lvl2pPr>
            <a:lvl3pPr>
              <a:defRPr sz="975" b="0">
                <a:solidFill>
                  <a:srgbClr val="777777"/>
                </a:solidFill>
                <a:latin typeface="Arial"/>
                <a:ea typeface="Arial"/>
                <a:cs typeface="Arial"/>
              </a:defRPr>
            </a:lvl3pPr>
            <a:lvl4pPr>
              <a:defRPr sz="975" b="0">
                <a:solidFill>
                  <a:srgbClr val="777777"/>
                </a:solidFill>
                <a:latin typeface="Arial"/>
                <a:ea typeface="Arial"/>
                <a:cs typeface="Arial"/>
              </a:defRPr>
            </a:lvl4pPr>
            <a:lvl5pPr>
              <a:defRPr sz="975" b="0">
                <a:solidFill>
                  <a:srgbClr val="777777"/>
                </a:solidFill>
                <a:latin typeface="Arial"/>
                <a:ea typeface="Arial"/>
                <a:cs typeface="Arial"/>
              </a:defRPr>
            </a:lvl5pPr>
            <a:lvl6pPr>
              <a:defRPr sz="975" b="0">
                <a:solidFill>
                  <a:srgbClr val="777777"/>
                </a:solidFill>
                <a:latin typeface="Arial"/>
                <a:ea typeface="Arial"/>
                <a:cs typeface="Arial"/>
              </a:defRPr>
            </a:lvl6pPr>
            <a:lvl7pPr>
              <a:defRPr sz="975" b="0">
                <a:solidFill>
                  <a:srgbClr val="777777"/>
                </a:solidFill>
                <a:latin typeface="Arial"/>
                <a:ea typeface="Arial"/>
                <a:cs typeface="Arial"/>
              </a:defRPr>
            </a:lvl7pPr>
            <a:lvl8pPr>
              <a:defRPr sz="975" b="0">
                <a:solidFill>
                  <a:srgbClr val="777777"/>
                </a:solidFill>
                <a:latin typeface="Arial"/>
                <a:ea typeface="Arial"/>
                <a:cs typeface="Arial"/>
              </a:defRPr>
            </a:lvl8pPr>
            <a:lvl9pPr>
              <a:defRPr sz="975" b="0">
                <a:solidFill>
                  <a:srgbClr val="777777"/>
                </a:solidFill>
                <a:latin typeface="Arial"/>
                <a:ea typeface="Arial"/>
                <a:cs typeface="Arial"/>
              </a:defRPr>
            </a:lvl9pPr>
          </a:lstStyle>
          <a:p xmlns:a="http://schemas.openxmlformats.org/drawingml/2006/main">
            <a:pPr>
              <a:defRPr sz="975" b="0">
                <a:solidFill>
                  <a:srgbClr val="777777"/>
                </a:solidFill>
                <a:latin typeface="Arial"/>
                <a:ea typeface="Arial"/>
                <a:cs typeface="Arial"/>
              </a:defRPr>
            </a:pPr>
            <a:r>
              <a:rPr sz="975" b="0">
                <a:solidFill>
                  <a:srgbClr val="777777"/>
                </a:solidFill>
                <a:latin typeface="Arial"/>
                <a:ea typeface="Arial"/>
                <a:cs typeface="Arial"/>
              </a:rPr>
              <a:t>10</a:t>
            </a:r>
          </a:p>
        </p:txBody>
      </p:sp>
    </p:spTree>
    <p:extLst>
      <p:ext uri="{BB962C8B-B14F-4D97-AF65-F5344CB8AC3E}">
        <p14:creationId xmlns:p14="http://schemas.microsoft.com/office/powerpoint/2010/main" val="81767058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713337-1A15-43CD-B961-E154FBE50FDD}"/>
              </a:ext>
            </a:extLst>
          </p:cNvPr>
          <p:cNvSpPr>
            <a:spLocks xmlns:a="http://schemas.openxmlformats.org/drawingml/2006/main" noGrp="1"/>
          </p:cNvSpPr>
          <p:nvPr/>
        </p:nvSpPr>
        <p:spPr>
          <a:xfrm xmlns:a="http://schemas.openxmlformats.org/drawingml/2006/main">
            <a:off x="571500" y="4572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1">
                <a:solidFill>
                  <a:srgbClr val="16181B"/>
                </a:solidFill>
                <a:latin typeface="Arial"/>
                <a:ea typeface="Arial"/>
                <a:cs typeface="Arial"/>
              </a:defRPr>
            </a:defPPr>
            <a:lvl1pPr>
              <a:defRPr sz="2850" b="1">
                <a:solidFill>
                  <a:srgbClr val="16181B"/>
                </a:solidFill>
                <a:latin typeface="Arial"/>
                <a:ea typeface="Arial"/>
                <a:cs typeface="Arial"/>
              </a:defRPr>
            </a:lvl1pPr>
            <a:lvl2pPr>
              <a:defRPr sz="2850" b="1">
                <a:solidFill>
                  <a:srgbClr val="16181B"/>
                </a:solidFill>
                <a:latin typeface="Arial"/>
                <a:ea typeface="Arial"/>
                <a:cs typeface="Arial"/>
              </a:defRPr>
            </a:lvl2pPr>
            <a:lvl3pPr>
              <a:defRPr sz="2850" b="1">
                <a:solidFill>
                  <a:srgbClr val="16181B"/>
                </a:solidFill>
                <a:latin typeface="Arial"/>
                <a:ea typeface="Arial"/>
                <a:cs typeface="Arial"/>
              </a:defRPr>
            </a:lvl3pPr>
            <a:lvl4pPr>
              <a:defRPr sz="2850" b="1">
                <a:solidFill>
                  <a:srgbClr val="16181B"/>
                </a:solidFill>
                <a:latin typeface="Arial"/>
                <a:ea typeface="Arial"/>
                <a:cs typeface="Arial"/>
              </a:defRPr>
            </a:lvl4pPr>
            <a:lvl5pPr>
              <a:defRPr sz="2850" b="1">
                <a:solidFill>
                  <a:srgbClr val="16181B"/>
                </a:solidFill>
                <a:latin typeface="Arial"/>
                <a:ea typeface="Arial"/>
                <a:cs typeface="Arial"/>
              </a:defRPr>
            </a:lvl5pPr>
            <a:lvl6pPr>
              <a:defRPr sz="2850" b="1">
                <a:solidFill>
                  <a:srgbClr val="16181B"/>
                </a:solidFill>
                <a:latin typeface="Arial"/>
                <a:ea typeface="Arial"/>
                <a:cs typeface="Arial"/>
              </a:defRPr>
            </a:lvl6pPr>
            <a:lvl7pPr>
              <a:defRPr sz="2850" b="1">
                <a:solidFill>
                  <a:srgbClr val="16181B"/>
                </a:solidFill>
                <a:latin typeface="Arial"/>
                <a:ea typeface="Arial"/>
                <a:cs typeface="Arial"/>
              </a:defRPr>
            </a:lvl7pPr>
            <a:lvl8pPr>
              <a:defRPr sz="2850" b="1">
                <a:solidFill>
                  <a:srgbClr val="16181B"/>
                </a:solidFill>
                <a:latin typeface="Arial"/>
                <a:ea typeface="Arial"/>
                <a:cs typeface="Arial"/>
              </a:defRPr>
            </a:lvl8pPr>
            <a:lvl9pPr>
              <a:defRPr sz="2850" b="1">
                <a:solidFill>
                  <a:srgbClr val="16181B"/>
                </a:solidFill>
                <a:latin typeface="Arial"/>
                <a:ea typeface="Arial"/>
                <a:cs typeface="Arial"/>
              </a:defRPr>
            </a:lvl9pPr>
          </a:lstStyle>
          <a:p xmlns:a="http://schemas.openxmlformats.org/drawingml/2006/main">
            <a:pPr>
              <a:defRPr sz="2850" b="1">
                <a:solidFill>
                  <a:srgbClr val="16181B"/>
                </a:solidFill>
                <a:latin typeface="Arial"/>
                <a:ea typeface="Arial"/>
                <a:cs typeface="Arial"/>
              </a:defRPr>
            </a:pPr>
            <a:r>
              <a:rPr sz="2850" b="1">
                <a:solidFill>
                  <a:srgbClr val="16181B"/>
                </a:solidFill>
                <a:latin typeface="Arial"/>
                <a:ea typeface="Arial"/>
                <a:cs typeface="Arial"/>
              </a:rPr>
              <a:t>Explainability and availability</a:t>
            </a:r>
          </a:p>
        </p:txBody>
      </p:sp>
      <p:sp>
        <p:nvSpPr>
          <p:cNvPr id="2" name="">
            <a:extLst xmlns:a="http://schemas.openxmlformats.org/drawingml/2006/main">
              <a:ext uri="{FF2B5EF4-FFF2-40B4-BE49-F238E27FC236}">
                <a16:creationId xmlns:a16="http://schemas.microsoft.com/office/drawing/2014/main" id="{64E5A98E-05A0-4DD0-BEEE-47D85A0B50A4}"/>
              </a:ext>
            </a:extLst>
          </p:cNvPr>
          <p:cNvSpPr>
            <a:spLocks xmlns:a="http://schemas.openxmlformats.org/drawingml/2006/main" noGrp="1"/>
          </p:cNvSpPr>
          <p:nvPr/>
        </p:nvSpPr>
        <p:spPr>
          <a:xfrm xmlns:a="http://schemas.openxmlformats.org/drawingml/2006/main">
            <a:off x="571500" y="166687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Candidate responses and votes explain output selection. Named validation errors explain API rejections.</a:t>
            </a:r>
          </a:p>
        </p:txBody>
      </p:sp>
      <p:sp>
        <p:nvSpPr>
          <p:cNvPr id="3" name="">
            <a:extLst xmlns:a="http://schemas.openxmlformats.org/drawingml/2006/main">
              <a:ext uri="{FF2B5EF4-FFF2-40B4-BE49-F238E27FC236}">
                <a16:creationId xmlns:a16="http://schemas.microsoft.com/office/drawing/2014/main" id="{F45BDF1A-D4ED-4D71-9A82-27C96CFFF05F}"/>
              </a:ext>
            </a:extLst>
          </p:cNvPr>
          <p:cNvSpPr>
            <a:spLocks xmlns:a="http://schemas.openxmlformats.org/drawingml/2006/main" noGrp="1"/>
          </p:cNvSpPr>
          <p:nvPr/>
        </p:nvSpPr>
        <p:spPr>
          <a:xfrm xmlns:a="http://schemas.openxmlformats.org/drawingml/2006/main">
            <a:off x="571500" y="256222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These traces do not explain Vicuna token generation. No SHAP/LIME attribution claim is made.</a:t>
            </a:r>
          </a:p>
        </p:txBody>
      </p:sp>
      <p:sp>
        <p:nvSpPr>
          <p:cNvPr id="4" name="">
            <a:extLst xmlns:a="http://schemas.openxmlformats.org/drawingml/2006/main">
              <a:ext uri="{FF2B5EF4-FFF2-40B4-BE49-F238E27FC236}">
                <a16:creationId xmlns:a16="http://schemas.microsoft.com/office/drawing/2014/main" id="{46E063E3-FD7E-472B-B185-75961E46A912}"/>
              </a:ext>
            </a:extLst>
          </p:cNvPr>
          <p:cNvSpPr>
            <a:spLocks xmlns:a="http://schemas.openxmlformats.org/drawingml/2006/main" noGrp="1"/>
          </p:cNvSpPr>
          <p:nvPr/>
        </p:nvSpPr>
        <p:spPr>
          <a:xfrm xmlns:a="http://schemas.openxmlformats.org/drawingml/2006/main">
            <a:off x="571500" y="345757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Simulated upstream outage produces HTTP 502. Candidates are withheld if generation or defence fails.</a:t>
            </a:r>
          </a:p>
        </p:txBody>
      </p:sp>
      <p:sp>
        <p:nvSpPr>
          <p:cNvPr id="5" name="">
            <a:extLst xmlns:a="http://schemas.openxmlformats.org/drawingml/2006/main">
              <a:ext uri="{FF2B5EF4-FFF2-40B4-BE49-F238E27FC236}">
                <a16:creationId xmlns:a16="http://schemas.microsoft.com/office/drawing/2014/main" id="{B0081A8C-405A-495B-A9A1-5E0CC1C1594E}"/>
              </a:ext>
            </a:extLst>
          </p:cNvPr>
          <p:cNvSpPr>
            <a:spLocks xmlns:a="http://schemas.openxmlformats.org/drawingml/2006/main" noGrp="1"/>
          </p:cNvSpPr>
          <p:nvPr/>
        </p:nvSpPr>
        <p:spPr>
          <a:xfrm xmlns:a="http://schemas.openxmlformats.org/drawingml/2006/main">
            <a:off x="571500" y="435292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Limits remain: five-call delay, context truncation, no total deadline, no global concurrency or rate limit.</a:t>
            </a:r>
          </a:p>
        </p:txBody>
      </p:sp>
      <p:sp>
        <p:nvSpPr>
          <p:cNvPr id="6" name="">
            <a:extLst xmlns:a="http://schemas.openxmlformats.org/drawingml/2006/main">
              <a:ext uri="{FF2B5EF4-FFF2-40B4-BE49-F238E27FC236}">
                <a16:creationId xmlns:a16="http://schemas.microsoft.com/office/drawing/2014/main" id="{10995693-2BC5-4D8D-A65C-F57E85AE4B3E}"/>
              </a:ext>
            </a:extLst>
          </p:cNvPr>
          <p:cNvSpPr>
            <a:spLocks xmlns:a="http://schemas.openxmlformats.org/drawingml/2006/main" noGrp="1"/>
          </p:cNvSpPr>
          <p:nvPr/>
        </p:nvSpPr>
        <p:spPr>
          <a:xfrm xmlns:a="http://schemas.openxmlformats.org/drawingml/2006/main">
            <a:off x="8048625"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77777"/>
                </a:solidFill>
                <a:latin typeface="Arial"/>
                <a:ea typeface="Arial"/>
                <a:cs typeface="Arial"/>
              </a:defRPr>
            </a:defPPr>
            <a:lvl1pPr>
              <a:defRPr sz="975" b="0">
                <a:solidFill>
                  <a:srgbClr val="777777"/>
                </a:solidFill>
                <a:latin typeface="Arial"/>
                <a:ea typeface="Arial"/>
                <a:cs typeface="Arial"/>
              </a:defRPr>
            </a:lvl1pPr>
            <a:lvl2pPr>
              <a:defRPr sz="975" b="0">
                <a:solidFill>
                  <a:srgbClr val="777777"/>
                </a:solidFill>
                <a:latin typeface="Arial"/>
                <a:ea typeface="Arial"/>
                <a:cs typeface="Arial"/>
              </a:defRPr>
            </a:lvl2pPr>
            <a:lvl3pPr>
              <a:defRPr sz="975" b="0">
                <a:solidFill>
                  <a:srgbClr val="777777"/>
                </a:solidFill>
                <a:latin typeface="Arial"/>
                <a:ea typeface="Arial"/>
                <a:cs typeface="Arial"/>
              </a:defRPr>
            </a:lvl3pPr>
            <a:lvl4pPr>
              <a:defRPr sz="975" b="0">
                <a:solidFill>
                  <a:srgbClr val="777777"/>
                </a:solidFill>
                <a:latin typeface="Arial"/>
                <a:ea typeface="Arial"/>
                <a:cs typeface="Arial"/>
              </a:defRPr>
            </a:lvl4pPr>
            <a:lvl5pPr>
              <a:defRPr sz="975" b="0">
                <a:solidFill>
                  <a:srgbClr val="777777"/>
                </a:solidFill>
                <a:latin typeface="Arial"/>
                <a:ea typeface="Arial"/>
                <a:cs typeface="Arial"/>
              </a:defRPr>
            </a:lvl5pPr>
            <a:lvl6pPr>
              <a:defRPr sz="975" b="0">
                <a:solidFill>
                  <a:srgbClr val="777777"/>
                </a:solidFill>
                <a:latin typeface="Arial"/>
                <a:ea typeface="Arial"/>
                <a:cs typeface="Arial"/>
              </a:defRPr>
            </a:lvl6pPr>
            <a:lvl7pPr>
              <a:defRPr sz="975" b="0">
                <a:solidFill>
                  <a:srgbClr val="777777"/>
                </a:solidFill>
                <a:latin typeface="Arial"/>
                <a:ea typeface="Arial"/>
                <a:cs typeface="Arial"/>
              </a:defRPr>
            </a:lvl7pPr>
            <a:lvl8pPr>
              <a:defRPr sz="975" b="0">
                <a:solidFill>
                  <a:srgbClr val="777777"/>
                </a:solidFill>
                <a:latin typeface="Arial"/>
                <a:ea typeface="Arial"/>
                <a:cs typeface="Arial"/>
              </a:defRPr>
            </a:lvl8pPr>
            <a:lvl9pPr>
              <a:defRPr sz="975" b="0">
                <a:solidFill>
                  <a:srgbClr val="777777"/>
                </a:solidFill>
                <a:latin typeface="Arial"/>
                <a:ea typeface="Arial"/>
                <a:cs typeface="Arial"/>
              </a:defRPr>
            </a:lvl9pPr>
          </a:lstStyle>
          <a:p xmlns:a="http://schemas.openxmlformats.org/drawingml/2006/main">
            <a:pPr>
              <a:defRPr sz="975" b="0">
                <a:solidFill>
                  <a:srgbClr val="777777"/>
                </a:solidFill>
                <a:latin typeface="Arial"/>
                <a:ea typeface="Arial"/>
                <a:cs typeface="Arial"/>
              </a:defRPr>
            </a:pPr>
            <a:r>
              <a:rPr sz="975" b="0">
                <a:solidFill>
                  <a:srgbClr val="777777"/>
                </a:solidFill>
                <a:latin typeface="Arial"/>
                <a:ea typeface="Arial"/>
                <a:cs typeface="Arial"/>
              </a:rPr>
              <a:t>11</a:t>
            </a:r>
          </a:p>
        </p:txBody>
      </p:sp>
    </p:spTree>
    <p:extLst>
      <p:ext uri="{BB962C8B-B14F-4D97-AF65-F5344CB8AC3E}">
        <p14:creationId xmlns:p14="http://schemas.microsoft.com/office/powerpoint/2010/main" val="171698564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8AE5FCD-DAFD-4AE1-8B04-1294CDAE1D55}"/>
              </a:ext>
            </a:extLst>
          </p:cNvPr>
          <p:cNvSpPr>
            <a:spLocks xmlns:a="http://schemas.openxmlformats.org/drawingml/2006/main" noGrp="1"/>
          </p:cNvSpPr>
          <p:nvPr/>
        </p:nvSpPr>
        <p:spPr>
          <a:xfrm xmlns:a="http://schemas.openxmlformats.org/drawingml/2006/main">
            <a:off x="571500" y="4572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1">
                <a:solidFill>
                  <a:srgbClr val="16181B"/>
                </a:solidFill>
                <a:latin typeface="Arial"/>
                <a:ea typeface="Arial"/>
                <a:cs typeface="Arial"/>
              </a:defRPr>
            </a:defPPr>
            <a:lvl1pPr>
              <a:defRPr sz="2850" b="1">
                <a:solidFill>
                  <a:srgbClr val="16181B"/>
                </a:solidFill>
                <a:latin typeface="Arial"/>
                <a:ea typeface="Arial"/>
                <a:cs typeface="Arial"/>
              </a:defRPr>
            </a:lvl1pPr>
            <a:lvl2pPr>
              <a:defRPr sz="2850" b="1">
                <a:solidFill>
                  <a:srgbClr val="16181B"/>
                </a:solidFill>
                <a:latin typeface="Arial"/>
                <a:ea typeface="Arial"/>
                <a:cs typeface="Arial"/>
              </a:defRPr>
            </a:lvl2pPr>
            <a:lvl3pPr>
              <a:defRPr sz="2850" b="1">
                <a:solidFill>
                  <a:srgbClr val="16181B"/>
                </a:solidFill>
                <a:latin typeface="Arial"/>
                <a:ea typeface="Arial"/>
                <a:cs typeface="Arial"/>
              </a:defRPr>
            </a:lvl3pPr>
            <a:lvl4pPr>
              <a:defRPr sz="2850" b="1">
                <a:solidFill>
                  <a:srgbClr val="16181B"/>
                </a:solidFill>
                <a:latin typeface="Arial"/>
                <a:ea typeface="Arial"/>
                <a:cs typeface="Arial"/>
              </a:defRPr>
            </a:lvl4pPr>
            <a:lvl5pPr>
              <a:defRPr sz="2850" b="1">
                <a:solidFill>
                  <a:srgbClr val="16181B"/>
                </a:solidFill>
                <a:latin typeface="Arial"/>
                <a:ea typeface="Arial"/>
                <a:cs typeface="Arial"/>
              </a:defRPr>
            </a:lvl5pPr>
            <a:lvl6pPr>
              <a:defRPr sz="2850" b="1">
                <a:solidFill>
                  <a:srgbClr val="16181B"/>
                </a:solidFill>
                <a:latin typeface="Arial"/>
                <a:ea typeface="Arial"/>
                <a:cs typeface="Arial"/>
              </a:defRPr>
            </a:lvl6pPr>
            <a:lvl7pPr>
              <a:defRPr sz="2850" b="1">
                <a:solidFill>
                  <a:srgbClr val="16181B"/>
                </a:solidFill>
                <a:latin typeface="Arial"/>
                <a:ea typeface="Arial"/>
                <a:cs typeface="Arial"/>
              </a:defRPr>
            </a:lvl7pPr>
            <a:lvl8pPr>
              <a:defRPr sz="2850" b="1">
                <a:solidFill>
                  <a:srgbClr val="16181B"/>
                </a:solidFill>
                <a:latin typeface="Arial"/>
                <a:ea typeface="Arial"/>
                <a:cs typeface="Arial"/>
              </a:defRPr>
            </a:lvl8pPr>
            <a:lvl9pPr>
              <a:defRPr sz="2850" b="1">
                <a:solidFill>
                  <a:srgbClr val="16181B"/>
                </a:solidFill>
                <a:latin typeface="Arial"/>
                <a:ea typeface="Arial"/>
                <a:cs typeface="Arial"/>
              </a:defRPr>
            </a:lvl9pPr>
          </a:lstStyle>
          <a:p xmlns:a="http://schemas.openxmlformats.org/drawingml/2006/main">
            <a:pPr>
              <a:defRPr sz="2850" b="1">
                <a:solidFill>
                  <a:srgbClr val="16181B"/>
                </a:solidFill>
                <a:latin typeface="Arial"/>
                <a:ea typeface="Arial"/>
                <a:cs typeface="Arial"/>
              </a:defRPr>
            </a:pPr>
            <a:r>
              <a:rPr sz="2850" b="1">
                <a:solidFill>
                  <a:srgbClr val="16181B"/>
                </a:solidFill>
                <a:latin typeface="Arial"/>
                <a:ea typeface="Arial"/>
                <a:cs typeface="Arial"/>
              </a:rPr>
              <a:t>Safe human–AI interaction</a:t>
            </a:r>
          </a:p>
        </p:txBody>
      </p:sp>
      <p:sp>
        <p:nvSpPr>
          <p:cNvPr id="2" name="">
            <a:extLst xmlns:a="http://schemas.openxmlformats.org/drawingml/2006/main">
              <a:ext uri="{FF2B5EF4-FFF2-40B4-BE49-F238E27FC236}">
                <a16:creationId xmlns:a16="http://schemas.microsoft.com/office/drawing/2014/main" id="{0DA98082-959C-415A-8647-242AF625CD04}"/>
              </a:ext>
            </a:extLst>
          </p:cNvPr>
          <p:cNvSpPr>
            <a:spLocks xmlns:a="http://schemas.openxmlformats.org/drawingml/2006/main" noGrp="1"/>
          </p:cNvSpPr>
          <p:nvPr/>
        </p:nvSpPr>
        <p:spPr>
          <a:xfrm xmlns:a="http://schemas.openxmlformats.org/drawingml/2006/main">
            <a:off x="571500" y="166687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The chat warns that the assistant can be wrong and asks users to verify facts and sources before publication.</a:t>
            </a:r>
          </a:p>
        </p:txBody>
      </p:sp>
      <p:sp>
        <p:nvSpPr>
          <p:cNvPr id="3" name="">
            <a:extLst xmlns:a="http://schemas.openxmlformats.org/drawingml/2006/main">
              <a:ext uri="{FF2B5EF4-FFF2-40B4-BE49-F238E27FC236}">
                <a16:creationId xmlns:a16="http://schemas.microsoft.com/office/drawing/2014/main" id="{86D913B4-BF1B-4CB2-9C3A-0E6448EB372B}"/>
              </a:ext>
            </a:extLst>
          </p:cNvPr>
          <p:cNvSpPr>
            <a:spLocks xmlns:a="http://schemas.openxmlformats.org/drawingml/2006/main" noGrp="1"/>
          </p:cNvSpPr>
          <p:nvPr/>
        </p:nvSpPr>
        <p:spPr>
          <a:xfrm xmlns:a="http://schemas.openxmlformats.org/drawingml/2006/main">
            <a:off x="571500" y="256222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Human review remains necessary: perturbation can alter numbers, names or the requested operation.</a:t>
            </a:r>
          </a:p>
        </p:txBody>
      </p:sp>
      <p:sp>
        <p:nvSpPr>
          <p:cNvPr id="4" name="">
            <a:extLst xmlns:a="http://schemas.openxmlformats.org/drawingml/2006/main">
              <a:ext uri="{FF2B5EF4-FFF2-40B4-BE49-F238E27FC236}">
                <a16:creationId xmlns:a16="http://schemas.microsoft.com/office/drawing/2014/main" id="{9A42294C-F848-4EBB-B115-C4EFF28370B1}"/>
              </a:ext>
            </a:extLst>
          </p:cNvPr>
          <p:cNvSpPr>
            <a:spLocks xmlns:a="http://schemas.openxmlformats.org/drawingml/2006/main" noGrp="1"/>
          </p:cNvSpPr>
          <p:nvPr/>
        </p:nvSpPr>
        <p:spPr>
          <a:xfrm xmlns:a="http://schemas.openxmlformats.org/drawingml/2006/main">
            <a:off x="571500" y="345757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Users are told to avoid personal data. Full-page chat history is stored in the browser.</a:t>
            </a:r>
          </a:p>
        </p:txBody>
      </p:sp>
      <p:sp>
        <p:nvSpPr>
          <p:cNvPr id="5" name="">
            <a:extLst xmlns:a="http://schemas.openxmlformats.org/drawingml/2006/main">
              <a:ext uri="{FF2B5EF4-FFF2-40B4-BE49-F238E27FC236}">
                <a16:creationId xmlns:a16="http://schemas.microsoft.com/office/drawing/2014/main" id="{1876F67F-582C-46E7-BC1E-3EAA544B61CE}"/>
              </a:ext>
            </a:extLst>
          </p:cNvPr>
          <p:cNvSpPr>
            <a:spLocks xmlns:a="http://schemas.openxmlformats.org/drawingml/2006/main" noGrp="1"/>
          </p:cNvSpPr>
          <p:nvPr/>
        </p:nvSpPr>
        <p:spPr>
          <a:xfrm xmlns:a="http://schemas.openxmlformats.org/drawingml/2006/main">
            <a:off x="571500" y="435292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The proxy does not persist chats. Research logs contain inputs and responses and need restricted access.</a:t>
            </a:r>
          </a:p>
        </p:txBody>
      </p:sp>
      <p:sp>
        <p:nvSpPr>
          <p:cNvPr id="6" name="">
            <a:extLst xmlns:a="http://schemas.openxmlformats.org/drawingml/2006/main">
              <a:ext uri="{FF2B5EF4-FFF2-40B4-BE49-F238E27FC236}">
                <a16:creationId xmlns:a16="http://schemas.microsoft.com/office/drawing/2014/main" id="{A9B26651-78EA-4F5F-A4C9-45F2AB572709}"/>
              </a:ext>
            </a:extLst>
          </p:cNvPr>
          <p:cNvSpPr>
            <a:spLocks xmlns:a="http://schemas.openxmlformats.org/drawingml/2006/main" noGrp="1"/>
          </p:cNvSpPr>
          <p:nvPr/>
        </p:nvSpPr>
        <p:spPr>
          <a:xfrm xmlns:a="http://schemas.openxmlformats.org/drawingml/2006/main">
            <a:off x="8048625"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77777"/>
                </a:solidFill>
                <a:latin typeface="Arial"/>
                <a:ea typeface="Arial"/>
                <a:cs typeface="Arial"/>
              </a:defRPr>
            </a:defPPr>
            <a:lvl1pPr>
              <a:defRPr sz="975" b="0">
                <a:solidFill>
                  <a:srgbClr val="777777"/>
                </a:solidFill>
                <a:latin typeface="Arial"/>
                <a:ea typeface="Arial"/>
                <a:cs typeface="Arial"/>
              </a:defRPr>
            </a:lvl1pPr>
            <a:lvl2pPr>
              <a:defRPr sz="975" b="0">
                <a:solidFill>
                  <a:srgbClr val="777777"/>
                </a:solidFill>
                <a:latin typeface="Arial"/>
                <a:ea typeface="Arial"/>
                <a:cs typeface="Arial"/>
              </a:defRPr>
            </a:lvl2pPr>
            <a:lvl3pPr>
              <a:defRPr sz="975" b="0">
                <a:solidFill>
                  <a:srgbClr val="777777"/>
                </a:solidFill>
                <a:latin typeface="Arial"/>
                <a:ea typeface="Arial"/>
                <a:cs typeface="Arial"/>
              </a:defRPr>
            </a:lvl3pPr>
            <a:lvl4pPr>
              <a:defRPr sz="975" b="0">
                <a:solidFill>
                  <a:srgbClr val="777777"/>
                </a:solidFill>
                <a:latin typeface="Arial"/>
                <a:ea typeface="Arial"/>
                <a:cs typeface="Arial"/>
              </a:defRPr>
            </a:lvl4pPr>
            <a:lvl5pPr>
              <a:defRPr sz="975" b="0">
                <a:solidFill>
                  <a:srgbClr val="777777"/>
                </a:solidFill>
                <a:latin typeface="Arial"/>
                <a:ea typeface="Arial"/>
                <a:cs typeface="Arial"/>
              </a:defRPr>
            </a:lvl5pPr>
            <a:lvl6pPr>
              <a:defRPr sz="975" b="0">
                <a:solidFill>
                  <a:srgbClr val="777777"/>
                </a:solidFill>
                <a:latin typeface="Arial"/>
                <a:ea typeface="Arial"/>
                <a:cs typeface="Arial"/>
              </a:defRPr>
            </a:lvl6pPr>
            <a:lvl7pPr>
              <a:defRPr sz="975" b="0">
                <a:solidFill>
                  <a:srgbClr val="777777"/>
                </a:solidFill>
                <a:latin typeface="Arial"/>
                <a:ea typeface="Arial"/>
                <a:cs typeface="Arial"/>
              </a:defRPr>
            </a:lvl7pPr>
            <a:lvl8pPr>
              <a:defRPr sz="975" b="0">
                <a:solidFill>
                  <a:srgbClr val="777777"/>
                </a:solidFill>
                <a:latin typeface="Arial"/>
                <a:ea typeface="Arial"/>
                <a:cs typeface="Arial"/>
              </a:defRPr>
            </a:lvl8pPr>
            <a:lvl9pPr>
              <a:defRPr sz="975" b="0">
                <a:solidFill>
                  <a:srgbClr val="777777"/>
                </a:solidFill>
                <a:latin typeface="Arial"/>
                <a:ea typeface="Arial"/>
                <a:cs typeface="Arial"/>
              </a:defRPr>
            </a:lvl9pPr>
          </a:lstStyle>
          <a:p xmlns:a="http://schemas.openxmlformats.org/drawingml/2006/main">
            <a:pPr>
              <a:defRPr sz="975" b="0">
                <a:solidFill>
                  <a:srgbClr val="777777"/>
                </a:solidFill>
                <a:latin typeface="Arial"/>
                <a:ea typeface="Arial"/>
                <a:cs typeface="Arial"/>
              </a:defRPr>
            </a:pPr>
            <a:r>
              <a:rPr sz="975" b="0">
                <a:solidFill>
                  <a:srgbClr val="777777"/>
                </a:solidFill>
                <a:latin typeface="Arial"/>
                <a:ea typeface="Arial"/>
                <a:cs typeface="Arial"/>
              </a:rPr>
              <a:t>12</a:t>
            </a:r>
          </a:p>
        </p:txBody>
      </p:sp>
    </p:spTree>
    <p:extLst>
      <p:ext uri="{BB962C8B-B14F-4D97-AF65-F5344CB8AC3E}">
        <p14:creationId xmlns:p14="http://schemas.microsoft.com/office/powerpoint/2010/main" val="8897143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1BA78B-2727-4E09-9EA0-D62D92193D70}"/>
              </a:ext>
            </a:extLst>
          </p:cNvPr>
          <p:cNvSpPr>
            <a:spLocks xmlns:a="http://schemas.openxmlformats.org/drawingml/2006/main" noGrp="1"/>
          </p:cNvSpPr>
          <p:nvPr/>
        </p:nvSpPr>
        <p:spPr>
          <a:xfrm xmlns:a="http://schemas.openxmlformats.org/drawingml/2006/main">
            <a:off x="571500" y="4572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1">
                <a:solidFill>
                  <a:srgbClr val="16181B"/>
                </a:solidFill>
                <a:latin typeface="Arial"/>
                <a:ea typeface="Arial"/>
                <a:cs typeface="Arial"/>
              </a:defRPr>
            </a:defPPr>
            <a:lvl1pPr>
              <a:defRPr sz="2850" b="1">
                <a:solidFill>
                  <a:srgbClr val="16181B"/>
                </a:solidFill>
                <a:latin typeface="Arial"/>
                <a:ea typeface="Arial"/>
                <a:cs typeface="Arial"/>
              </a:defRPr>
            </a:lvl1pPr>
            <a:lvl2pPr>
              <a:defRPr sz="2850" b="1">
                <a:solidFill>
                  <a:srgbClr val="16181B"/>
                </a:solidFill>
                <a:latin typeface="Arial"/>
                <a:ea typeface="Arial"/>
                <a:cs typeface="Arial"/>
              </a:defRPr>
            </a:lvl2pPr>
            <a:lvl3pPr>
              <a:defRPr sz="2850" b="1">
                <a:solidFill>
                  <a:srgbClr val="16181B"/>
                </a:solidFill>
                <a:latin typeface="Arial"/>
                <a:ea typeface="Arial"/>
                <a:cs typeface="Arial"/>
              </a:defRPr>
            </a:lvl3pPr>
            <a:lvl4pPr>
              <a:defRPr sz="2850" b="1">
                <a:solidFill>
                  <a:srgbClr val="16181B"/>
                </a:solidFill>
                <a:latin typeface="Arial"/>
                <a:ea typeface="Arial"/>
                <a:cs typeface="Arial"/>
              </a:defRPr>
            </a:lvl4pPr>
            <a:lvl5pPr>
              <a:defRPr sz="2850" b="1">
                <a:solidFill>
                  <a:srgbClr val="16181B"/>
                </a:solidFill>
                <a:latin typeface="Arial"/>
                <a:ea typeface="Arial"/>
                <a:cs typeface="Arial"/>
              </a:defRPr>
            </a:lvl5pPr>
            <a:lvl6pPr>
              <a:defRPr sz="2850" b="1">
                <a:solidFill>
                  <a:srgbClr val="16181B"/>
                </a:solidFill>
                <a:latin typeface="Arial"/>
                <a:ea typeface="Arial"/>
                <a:cs typeface="Arial"/>
              </a:defRPr>
            </a:lvl6pPr>
            <a:lvl7pPr>
              <a:defRPr sz="2850" b="1">
                <a:solidFill>
                  <a:srgbClr val="16181B"/>
                </a:solidFill>
                <a:latin typeface="Arial"/>
                <a:ea typeface="Arial"/>
                <a:cs typeface="Arial"/>
              </a:defRPr>
            </a:lvl7pPr>
            <a:lvl8pPr>
              <a:defRPr sz="2850" b="1">
                <a:solidFill>
                  <a:srgbClr val="16181B"/>
                </a:solidFill>
                <a:latin typeface="Arial"/>
                <a:ea typeface="Arial"/>
                <a:cs typeface="Arial"/>
              </a:defRPr>
            </a:lvl8pPr>
            <a:lvl9pPr>
              <a:defRPr sz="2850" b="1">
                <a:solidFill>
                  <a:srgbClr val="16181B"/>
                </a:solidFill>
                <a:latin typeface="Arial"/>
                <a:ea typeface="Arial"/>
                <a:cs typeface="Arial"/>
              </a:defRPr>
            </a:lvl9pPr>
          </a:lstStyle>
          <a:p xmlns:a="http://schemas.openxmlformats.org/drawingml/2006/main">
            <a:pPr>
              <a:defRPr sz="2850" b="1">
                <a:solidFill>
                  <a:srgbClr val="16181B"/>
                </a:solidFill>
                <a:latin typeface="Arial"/>
                <a:ea typeface="Arial"/>
                <a:cs typeface="Arial"/>
              </a:defRPr>
            </a:pPr>
            <a:r>
              <a:rPr sz="2850" b="1">
                <a:solidFill>
                  <a:srgbClr val="16181B"/>
                </a:solidFill>
                <a:latin typeface="Arial"/>
                <a:ea typeface="Arial"/>
                <a:cs typeface="Arial"/>
              </a:rPr>
              <a:t>Conclusion and research limitations</a:t>
            </a:r>
          </a:p>
        </p:txBody>
      </p:sp>
      <p:sp>
        <p:nvSpPr>
          <p:cNvPr id="2" name="">
            <a:extLst xmlns:a="http://schemas.openxmlformats.org/drawingml/2006/main">
              <a:ext uri="{FF2B5EF4-FFF2-40B4-BE49-F238E27FC236}">
                <a16:creationId xmlns:a16="http://schemas.microsoft.com/office/drawing/2014/main" id="{C7590E2A-063F-44ED-A923-DA888169FD0C}"/>
              </a:ext>
            </a:extLst>
          </p:cNvPr>
          <p:cNvSpPr>
            <a:spLocks xmlns:a="http://schemas.openxmlformats.org/drawingml/2006/main" noGrp="1"/>
          </p:cNvSpPr>
          <p:nvPr/>
        </p:nvSpPr>
        <p:spPr>
          <a:xfrm xmlns:a="http://schemas.openxmlformats.org/drawingml/2006/main">
            <a:off x="571500" y="166687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The system prompt and smoothing are implemented and experimentally compared on the same local model.</a:t>
            </a:r>
          </a:p>
        </p:txBody>
      </p:sp>
      <p:sp>
        <p:nvSpPr>
          <p:cNvPr id="3" name="">
            <a:extLst xmlns:a="http://schemas.openxmlformats.org/drawingml/2006/main">
              <a:ext uri="{FF2B5EF4-FFF2-40B4-BE49-F238E27FC236}">
                <a16:creationId xmlns:a16="http://schemas.microsoft.com/office/drawing/2014/main" id="{2ED1D324-3F5A-4BC0-8D18-843D631FE1D4}"/>
              </a:ext>
            </a:extLst>
          </p:cNvPr>
          <p:cNvSpPr>
            <a:spLocks xmlns:a="http://schemas.openxmlformats.org/drawingml/2006/main" noGrp="1"/>
          </p:cNvSpPr>
          <p:nvPr/>
        </p:nvSpPr>
        <p:spPr>
          <a:xfrm xmlns:a="http://schemas.openxmlformats.org/drawingml/2006/main">
            <a:off x="571500" y="256222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Smoothing changes refusal behaviour under the suffix, with measurable quality and latency costs.</a:t>
            </a:r>
          </a:p>
        </p:txBody>
      </p:sp>
      <p:sp>
        <p:nvSpPr>
          <p:cNvPr id="4" name="">
            <a:extLst xmlns:a="http://schemas.openxmlformats.org/drawingml/2006/main">
              <a:ext uri="{FF2B5EF4-FFF2-40B4-BE49-F238E27FC236}">
                <a16:creationId xmlns:a16="http://schemas.microsoft.com/office/drawing/2014/main" id="{C92C1670-6926-4A64-8474-145AFB8A4077}"/>
              </a:ext>
            </a:extLst>
          </p:cNvPr>
          <p:cNvSpPr>
            <a:spLocks xmlns:a="http://schemas.openxmlformats.org/drawingml/2006/main" noGrp="1"/>
          </p:cNvSpPr>
          <p:nvPr/>
        </p:nvSpPr>
        <p:spPr>
          <a:xfrm xmlns:a="http://schemas.openxmlformats.org/drawingml/2006/main">
            <a:off x="571500" y="345757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A stronger harmfulness reduction beyond guarded alone is not established by this small judge-labelled set.</a:t>
            </a:r>
          </a:p>
        </p:txBody>
      </p:sp>
      <p:sp>
        <p:nvSpPr>
          <p:cNvPr id="5" name="">
            <a:extLst xmlns:a="http://schemas.openxmlformats.org/drawingml/2006/main">
              <a:ext uri="{FF2B5EF4-FFF2-40B4-BE49-F238E27FC236}">
                <a16:creationId xmlns:a16="http://schemas.microsoft.com/office/drawing/2014/main" id="{6C556094-0C4C-444E-BCDD-EB26FACDA590}"/>
              </a:ext>
            </a:extLst>
          </p:cNvPr>
          <p:cNvSpPr>
            <a:spLocks xmlns:a="http://schemas.openxmlformats.org/drawingml/2006/main" noGrp="1"/>
          </p:cNvSpPr>
          <p:nvPr/>
        </p:nvSpPr>
        <p:spPr>
          <a:xfrm xmlns:a="http://schemas.openxmlformats.org/drawingml/2006/main">
            <a:off x="571500" y="4352925"/>
            <a:ext cx="7905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30343A"/>
                </a:solidFill>
                <a:latin typeface="Arial"/>
                <a:ea typeface="Arial"/>
                <a:cs typeface="Arial"/>
              </a:defRPr>
            </a:defPPr>
            <a:lvl1pPr>
              <a:defRPr sz="1725" b="0">
                <a:solidFill>
                  <a:srgbClr val="30343A"/>
                </a:solidFill>
                <a:latin typeface="Arial"/>
                <a:ea typeface="Arial"/>
                <a:cs typeface="Arial"/>
              </a:defRPr>
            </a:lvl1pPr>
            <a:lvl2pPr>
              <a:defRPr sz="1725" b="0">
                <a:solidFill>
                  <a:srgbClr val="30343A"/>
                </a:solidFill>
                <a:latin typeface="Arial"/>
                <a:ea typeface="Arial"/>
                <a:cs typeface="Arial"/>
              </a:defRPr>
            </a:lvl2pPr>
            <a:lvl3pPr>
              <a:defRPr sz="1725" b="0">
                <a:solidFill>
                  <a:srgbClr val="30343A"/>
                </a:solidFill>
                <a:latin typeface="Arial"/>
                <a:ea typeface="Arial"/>
                <a:cs typeface="Arial"/>
              </a:defRPr>
            </a:lvl3pPr>
            <a:lvl4pPr>
              <a:defRPr sz="1725" b="0">
                <a:solidFill>
                  <a:srgbClr val="30343A"/>
                </a:solidFill>
                <a:latin typeface="Arial"/>
                <a:ea typeface="Arial"/>
                <a:cs typeface="Arial"/>
              </a:defRPr>
            </a:lvl4pPr>
            <a:lvl5pPr>
              <a:defRPr sz="1725" b="0">
                <a:solidFill>
                  <a:srgbClr val="30343A"/>
                </a:solidFill>
                <a:latin typeface="Arial"/>
                <a:ea typeface="Arial"/>
                <a:cs typeface="Arial"/>
              </a:defRPr>
            </a:lvl5pPr>
            <a:lvl6pPr>
              <a:defRPr sz="1725" b="0">
                <a:solidFill>
                  <a:srgbClr val="30343A"/>
                </a:solidFill>
                <a:latin typeface="Arial"/>
                <a:ea typeface="Arial"/>
                <a:cs typeface="Arial"/>
              </a:defRPr>
            </a:lvl6pPr>
            <a:lvl7pPr>
              <a:defRPr sz="1725" b="0">
                <a:solidFill>
                  <a:srgbClr val="30343A"/>
                </a:solidFill>
                <a:latin typeface="Arial"/>
                <a:ea typeface="Arial"/>
                <a:cs typeface="Arial"/>
              </a:defRPr>
            </a:lvl7pPr>
            <a:lvl8pPr>
              <a:defRPr sz="1725" b="0">
                <a:solidFill>
                  <a:srgbClr val="30343A"/>
                </a:solidFill>
                <a:latin typeface="Arial"/>
                <a:ea typeface="Arial"/>
                <a:cs typeface="Arial"/>
              </a:defRPr>
            </a:lvl8pPr>
            <a:lvl9pPr>
              <a:defRPr sz="1725" b="0">
                <a:solidFill>
                  <a:srgbClr val="30343A"/>
                </a:solidFill>
                <a:latin typeface="Arial"/>
                <a:ea typeface="Arial"/>
                <a:cs typeface="Arial"/>
              </a:defRPr>
            </a:lvl9pPr>
          </a:lstStyle>
          <a:p xmlns:a="http://schemas.openxmlformats.org/drawingml/2006/main">
            <a:pPr>
              <a:defRPr sz="1725" b="0">
                <a:solidFill>
                  <a:srgbClr val="30343A"/>
                </a:solidFill>
                <a:latin typeface="Arial"/>
                <a:ea typeface="Arial"/>
                <a:cs typeface="Arial"/>
              </a:defRPr>
            </a:pPr>
            <a:r>
              <a:rPr sz="1725" b="0">
                <a:solidFill>
                  <a:srgbClr val="30343A"/>
                </a:solidFill>
                <a:latin typeface="Arial"/>
                <a:ea typeface="Arial"/>
                <a:cs typeface="Arial"/>
              </a:rPr>
              <a:t>Next: held-out goals, multiple seeds, human labels, less destructive preprocessing and output verification.</a:t>
            </a:r>
          </a:p>
        </p:txBody>
      </p:sp>
      <p:sp>
        <p:nvSpPr>
          <p:cNvPr id="6" name="">
            <a:extLst xmlns:a="http://schemas.openxmlformats.org/drawingml/2006/main">
              <a:ext uri="{FF2B5EF4-FFF2-40B4-BE49-F238E27FC236}">
                <a16:creationId xmlns:a16="http://schemas.microsoft.com/office/drawing/2014/main" id="{62A16517-6E4F-4245-9B4D-335F4148E35E}"/>
              </a:ext>
            </a:extLst>
          </p:cNvPr>
          <p:cNvSpPr>
            <a:spLocks xmlns:a="http://schemas.openxmlformats.org/drawingml/2006/main" noGrp="1"/>
          </p:cNvSpPr>
          <p:nvPr/>
        </p:nvSpPr>
        <p:spPr>
          <a:xfrm xmlns:a="http://schemas.openxmlformats.org/drawingml/2006/main">
            <a:off x="8048625"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77777"/>
                </a:solidFill>
                <a:latin typeface="Arial"/>
                <a:ea typeface="Arial"/>
                <a:cs typeface="Arial"/>
              </a:defRPr>
            </a:defPPr>
            <a:lvl1pPr>
              <a:defRPr sz="975" b="0">
                <a:solidFill>
                  <a:srgbClr val="777777"/>
                </a:solidFill>
                <a:latin typeface="Arial"/>
                <a:ea typeface="Arial"/>
                <a:cs typeface="Arial"/>
              </a:defRPr>
            </a:lvl1pPr>
            <a:lvl2pPr>
              <a:defRPr sz="975" b="0">
                <a:solidFill>
                  <a:srgbClr val="777777"/>
                </a:solidFill>
                <a:latin typeface="Arial"/>
                <a:ea typeface="Arial"/>
                <a:cs typeface="Arial"/>
              </a:defRPr>
            </a:lvl2pPr>
            <a:lvl3pPr>
              <a:defRPr sz="975" b="0">
                <a:solidFill>
                  <a:srgbClr val="777777"/>
                </a:solidFill>
                <a:latin typeface="Arial"/>
                <a:ea typeface="Arial"/>
                <a:cs typeface="Arial"/>
              </a:defRPr>
            </a:lvl3pPr>
            <a:lvl4pPr>
              <a:defRPr sz="975" b="0">
                <a:solidFill>
                  <a:srgbClr val="777777"/>
                </a:solidFill>
                <a:latin typeface="Arial"/>
                <a:ea typeface="Arial"/>
                <a:cs typeface="Arial"/>
              </a:defRPr>
            </a:lvl4pPr>
            <a:lvl5pPr>
              <a:defRPr sz="975" b="0">
                <a:solidFill>
                  <a:srgbClr val="777777"/>
                </a:solidFill>
                <a:latin typeface="Arial"/>
                <a:ea typeface="Arial"/>
                <a:cs typeface="Arial"/>
              </a:defRPr>
            </a:lvl5pPr>
            <a:lvl6pPr>
              <a:defRPr sz="975" b="0">
                <a:solidFill>
                  <a:srgbClr val="777777"/>
                </a:solidFill>
                <a:latin typeface="Arial"/>
                <a:ea typeface="Arial"/>
                <a:cs typeface="Arial"/>
              </a:defRPr>
            </a:lvl6pPr>
            <a:lvl7pPr>
              <a:defRPr sz="975" b="0">
                <a:solidFill>
                  <a:srgbClr val="777777"/>
                </a:solidFill>
                <a:latin typeface="Arial"/>
                <a:ea typeface="Arial"/>
                <a:cs typeface="Arial"/>
              </a:defRPr>
            </a:lvl7pPr>
            <a:lvl8pPr>
              <a:defRPr sz="975" b="0">
                <a:solidFill>
                  <a:srgbClr val="777777"/>
                </a:solidFill>
                <a:latin typeface="Arial"/>
                <a:ea typeface="Arial"/>
                <a:cs typeface="Arial"/>
              </a:defRPr>
            </a:lvl8pPr>
            <a:lvl9pPr>
              <a:defRPr sz="975" b="0">
                <a:solidFill>
                  <a:srgbClr val="777777"/>
                </a:solidFill>
                <a:latin typeface="Arial"/>
                <a:ea typeface="Arial"/>
                <a:cs typeface="Arial"/>
              </a:defRPr>
            </a:lvl9pPr>
          </a:lstStyle>
          <a:p xmlns:a="http://schemas.openxmlformats.org/drawingml/2006/main">
            <a:pPr>
              <a:defRPr sz="975" b="0">
                <a:solidFill>
                  <a:srgbClr val="777777"/>
                </a:solidFill>
                <a:latin typeface="Arial"/>
                <a:ea typeface="Arial"/>
                <a:cs typeface="Arial"/>
              </a:defRPr>
            </a:pPr>
            <a:r>
              <a:rPr sz="975" b="0">
                <a:solidFill>
                  <a:srgbClr val="777777"/>
                </a:solidFill>
                <a:latin typeface="Arial"/>
                <a:ea typeface="Arial"/>
                <a:cs typeface="Arial"/>
              </a:rPr>
              <a:t>13</a:t>
            </a:r>
          </a:p>
        </p:txBody>
      </p:sp>
    </p:spTree>
    <p:extLst>
      <p:ext uri="{BB962C8B-B14F-4D97-AF65-F5344CB8AC3E}">
        <p14:creationId xmlns:p14="http://schemas.microsoft.com/office/powerpoint/2010/main" val="17975887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6B0018-DB6E-4788-841F-E85EFBC2684F}"/>
              </a:ext>
            </a:extLst>
          </p:cNvPr>
          <p:cNvSpPr>
            <a:spLocks xmlns:a="http://schemas.openxmlformats.org/drawingml/2006/main" noGrp="1"/>
          </p:cNvSpPr>
          <p:nvPr/>
        </p:nvSpPr>
        <p:spPr>
          <a:xfrm xmlns:a="http://schemas.openxmlformats.org/drawingml/2006/main">
            <a:off x="571500" y="4572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1">
                <a:solidFill>
                  <a:srgbClr val="16181B"/>
                </a:solidFill>
                <a:latin typeface="Arial"/>
                <a:ea typeface="Arial"/>
                <a:cs typeface="Arial"/>
              </a:defRPr>
            </a:defPPr>
            <a:lvl1pPr>
              <a:defRPr sz="2850" b="1">
                <a:solidFill>
                  <a:srgbClr val="16181B"/>
                </a:solidFill>
                <a:latin typeface="Arial"/>
                <a:ea typeface="Arial"/>
                <a:cs typeface="Arial"/>
              </a:defRPr>
            </a:lvl1pPr>
            <a:lvl2pPr>
              <a:defRPr sz="2850" b="1">
                <a:solidFill>
                  <a:srgbClr val="16181B"/>
                </a:solidFill>
                <a:latin typeface="Arial"/>
                <a:ea typeface="Arial"/>
                <a:cs typeface="Arial"/>
              </a:defRPr>
            </a:lvl2pPr>
            <a:lvl3pPr>
              <a:defRPr sz="2850" b="1">
                <a:solidFill>
                  <a:srgbClr val="16181B"/>
                </a:solidFill>
                <a:latin typeface="Arial"/>
                <a:ea typeface="Arial"/>
                <a:cs typeface="Arial"/>
              </a:defRPr>
            </a:lvl3pPr>
            <a:lvl4pPr>
              <a:defRPr sz="2850" b="1">
                <a:solidFill>
                  <a:srgbClr val="16181B"/>
                </a:solidFill>
                <a:latin typeface="Arial"/>
                <a:ea typeface="Arial"/>
                <a:cs typeface="Arial"/>
              </a:defRPr>
            </a:lvl4pPr>
            <a:lvl5pPr>
              <a:defRPr sz="2850" b="1">
                <a:solidFill>
                  <a:srgbClr val="16181B"/>
                </a:solidFill>
                <a:latin typeface="Arial"/>
                <a:ea typeface="Arial"/>
                <a:cs typeface="Arial"/>
              </a:defRPr>
            </a:lvl5pPr>
            <a:lvl6pPr>
              <a:defRPr sz="2850" b="1">
                <a:solidFill>
                  <a:srgbClr val="16181B"/>
                </a:solidFill>
                <a:latin typeface="Arial"/>
                <a:ea typeface="Arial"/>
                <a:cs typeface="Arial"/>
              </a:defRPr>
            </a:lvl6pPr>
            <a:lvl7pPr>
              <a:defRPr sz="2850" b="1">
                <a:solidFill>
                  <a:srgbClr val="16181B"/>
                </a:solidFill>
                <a:latin typeface="Arial"/>
                <a:ea typeface="Arial"/>
                <a:cs typeface="Arial"/>
              </a:defRPr>
            </a:lvl7pPr>
            <a:lvl8pPr>
              <a:defRPr sz="2850" b="1">
                <a:solidFill>
                  <a:srgbClr val="16181B"/>
                </a:solidFill>
                <a:latin typeface="Arial"/>
                <a:ea typeface="Arial"/>
                <a:cs typeface="Arial"/>
              </a:defRPr>
            </a:lvl8pPr>
            <a:lvl9pPr>
              <a:defRPr sz="2850" b="1">
                <a:solidFill>
                  <a:srgbClr val="16181B"/>
                </a:solidFill>
                <a:latin typeface="Arial"/>
                <a:ea typeface="Arial"/>
                <a:cs typeface="Arial"/>
              </a:defRPr>
            </a:lvl9pPr>
          </a:lstStyle>
          <a:p xmlns:a="http://schemas.openxmlformats.org/drawingml/2006/main">
            <a:pPr>
              <a:defRPr sz="2850" b="1">
                <a:solidFill>
                  <a:srgbClr val="16181B"/>
                </a:solidFill>
                <a:latin typeface="Arial"/>
                <a:ea typeface="Arial"/>
                <a:cs typeface="Arial"/>
              </a:defRPr>
            </a:pPr>
            <a:r>
              <a:rPr sz="2850" b="1">
                <a:solidFill>
                  <a:srgbClr val="16181B"/>
                </a:solidFill>
                <a:latin typeface="Arial"/>
                <a:ea typeface="Arial"/>
                <a:cs typeface="Arial"/>
              </a:rPr>
              <a:t>Reproducibility and references</a:t>
            </a:r>
          </a:p>
        </p:txBody>
      </p:sp>
      <p:sp>
        <p:nvSpPr>
          <p:cNvPr id="2" name="">
            <a:extLst xmlns:a="http://schemas.openxmlformats.org/drawingml/2006/main">
              <a:ext uri="{FF2B5EF4-FFF2-40B4-BE49-F238E27FC236}">
                <a16:creationId xmlns:a16="http://schemas.microsoft.com/office/drawing/2014/main" id="{4BDEADA1-1251-468B-946B-2C3FD79F3B29}"/>
              </a:ext>
            </a:extLst>
          </p:cNvPr>
          <p:cNvSpPr>
            <a:spLocks xmlns:a="http://schemas.openxmlformats.org/drawingml/2006/main" noGrp="1"/>
          </p:cNvSpPr>
          <p:nvPr/>
        </p:nvSpPr>
        <p:spPr>
          <a:xfrm xmlns:a="http://schemas.openxmlformats.org/drawingml/2006/main">
            <a:off x="8048625" y="63436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975" b="0">
                <a:solidFill>
                  <a:srgbClr val="777777"/>
                </a:solidFill>
                <a:latin typeface="Arial"/>
                <a:ea typeface="Arial"/>
                <a:cs typeface="Arial"/>
              </a:defRPr>
            </a:defPPr>
            <a:lvl1pPr>
              <a:defRPr sz="975" b="0">
                <a:solidFill>
                  <a:srgbClr val="777777"/>
                </a:solidFill>
                <a:latin typeface="Arial"/>
                <a:ea typeface="Arial"/>
                <a:cs typeface="Arial"/>
              </a:defRPr>
            </a:lvl1pPr>
            <a:lvl2pPr>
              <a:defRPr sz="975" b="0">
                <a:solidFill>
                  <a:srgbClr val="777777"/>
                </a:solidFill>
                <a:latin typeface="Arial"/>
                <a:ea typeface="Arial"/>
                <a:cs typeface="Arial"/>
              </a:defRPr>
            </a:lvl2pPr>
            <a:lvl3pPr>
              <a:defRPr sz="975" b="0">
                <a:solidFill>
                  <a:srgbClr val="777777"/>
                </a:solidFill>
                <a:latin typeface="Arial"/>
                <a:ea typeface="Arial"/>
                <a:cs typeface="Arial"/>
              </a:defRPr>
            </a:lvl3pPr>
            <a:lvl4pPr>
              <a:defRPr sz="975" b="0">
                <a:solidFill>
                  <a:srgbClr val="777777"/>
                </a:solidFill>
                <a:latin typeface="Arial"/>
                <a:ea typeface="Arial"/>
                <a:cs typeface="Arial"/>
              </a:defRPr>
            </a:lvl4pPr>
            <a:lvl5pPr>
              <a:defRPr sz="975" b="0">
                <a:solidFill>
                  <a:srgbClr val="777777"/>
                </a:solidFill>
                <a:latin typeface="Arial"/>
                <a:ea typeface="Arial"/>
                <a:cs typeface="Arial"/>
              </a:defRPr>
            </a:lvl5pPr>
            <a:lvl6pPr>
              <a:defRPr sz="975" b="0">
                <a:solidFill>
                  <a:srgbClr val="777777"/>
                </a:solidFill>
                <a:latin typeface="Arial"/>
                <a:ea typeface="Arial"/>
                <a:cs typeface="Arial"/>
              </a:defRPr>
            </a:lvl6pPr>
            <a:lvl7pPr>
              <a:defRPr sz="975" b="0">
                <a:solidFill>
                  <a:srgbClr val="777777"/>
                </a:solidFill>
                <a:latin typeface="Arial"/>
                <a:ea typeface="Arial"/>
                <a:cs typeface="Arial"/>
              </a:defRPr>
            </a:lvl7pPr>
            <a:lvl8pPr>
              <a:defRPr sz="975" b="0">
                <a:solidFill>
                  <a:srgbClr val="777777"/>
                </a:solidFill>
                <a:latin typeface="Arial"/>
                <a:ea typeface="Arial"/>
                <a:cs typeface="Arial"/>
              </a:defRPr>
            </a:lvl8pPr>
            <a:lvl9pPr>
              <a:defRPr sz="975" b="0">
                <a:solidFill>
                  <a:srgbClr val="777777"/>
                </a:solidFill>
                <a:latin typeface="Arial"/>
                <a:ea typeface="Arial"/>
                <a:cs typeface="Arial"/>
              </a:defRPr>
            </a:lvl9pPr>
          </a:lstStyle>
          <a:p xmlns:a="http://schemas.openxmlformats.org/drawingml/2006/main">
            <a:pPr>
              <a:defRPr sz="975" b="0">
                <a:solidFill>
                  <a:srgbClr val="777777"/>
                </a:solidFill>
                <a:latin typeface="Arial"/>
                <a:ea typeface="Arial"/>
                <a:cs typeface="Arial"/>
              </a:defRPr>
            </a:pPr>
            <a:r>
              <a:rPr sz="975" b="0">
                <a:solidFill>
                  <a:srgbClr val="777777"/>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B7423905-2C38-4789-8B23-D4A08549B51B}"/>
              </a:ext>
            </a:extLst>
          </p:cNvPr>
          <p:cNvSpPr>
            <a:spLocks xmlns:a="http://schemas.openxmlformats.org/drawingml/2006/main" noGrp="1"/>
          </p:cNvSpPr>
          <p:nvPr/>
        </p:nvSpPr>
        <p:spPr>
          <a:xfrm xmlns:a="http://schemas.openxmlformats.org/drawingml/2006/main">
            <a:off x="571500" y="1628775"/>
            <a:ext cx="7905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025" b="1">
                <a:solidFill>
                  <a:srgbClr val="16181B"/>
                </a:solidFill>
                <a:latin typeface="Arial"/>
                <a:ea typeface="Arial"/>
                <a:cs typeface="Arial"/>
              </a:defRPr>
            </a:defPPr>
            <a:lvl1pPr>
              <a:defRPr sz="2025" b="1">
                <a:solidFill>
                  <a:srgbClr val="16181B"/>
                </a:solidFill>
                <a:latin typeface="Arial"/>
                <a:ea typeface="Arial"/>
                <a:cs typeface="Arial"/>
              </a:defRPr>
            </a:lvl1pPr>
            <a:lvl2pPr>
              <a:defRPr sz="2025" b="1">
                <a:solidFill>
                  <a:srgbClr val="16181B"/>
                </a:solidFill>
                <a:latin typeface="Arial"/>
                <a:ea typeface="Arial"/>
                <a:cs typeface="Arial"/>
              </a:defRPr>
            </a:lvl2pPr>
            <a:lvl3pPr>
              <a:defRPr sz="2025" b="1">
                <a:solidFill>
                  <a:srgbClr val="16181B"/>
                </a:solidFill>
                <a:latin typeface="Arial"/>
                <a:ea typeface="Arial"/>
                <a:cs typeface="Arial"/>
              </a:defRPr>
            </a:lvl3pPr>
            <a:lvl4pPr>
              <a:defRPr sz="2025" b="1">
                <a:solidFill>
                  <a:srgbClr val="16181B"/>
                </a:solidFill>
                <a:latin typeface="Arial"/>
                <a:ea typeface="Arial"/>
                <a:cs typeface="Arial"/>
              </a:defRPr>
            </a:lvl4pPr>
            <a:lvl5pPr>
              <a:defRPr sz="2025" b="1">
                <a:solidFill>
                  <a:srgbClr val="16181B"/>
                </a:solidFill>
                <a:latin typeface="Arial"/>
                <a:ea typeface="Arial"/>
                <a:cs typeface="Arial"/>
              </a:defRPr>
            </a:lvl5pPr>
            <a:lvl6pPr>
              <a:defRPr sz="2025" b="1">
                <a:solidFill>
                  <a:srgbClr val="16181B"/>
                </a:solidFill>
                <a:latin typeface="Arial"/>
                <a:ea typeface="Arial"/>
                <a:cs typeface="Arial"/>
              </a:defRPr>
            </a:lvl6pPr>
            <a:lvl7pPr>
              <a:defRPr sz="2025" b="1">
                <a:solidFill>
                  <a:srgbClr val="16181B"/>
                </a:solidFill>
                <a:latin typeface="Arial"/>
                <a:ea typeface="Arial"/>
                <a:cs typeface="Arial"/>
              </a:defRPr>
            </a:lvl7pPr>
            <a:lvl8pPr>
              <a:defRPr sz="2025" b="1">
                <a:solidFill>
                  <a:srgbClr val="16181B"/>
                </a:solidFill>
                <a:latin typeface="Arial"/>
                <a:ea typeface="Arial"/>
                <a:cs typeface="Arial"/>
              </a:defRPr>
            </a:lvl8pPr>
            <a:lvl9pPr>
              <a:defRPr sz="2025" b="1">
                <a:solidFill>
                  <a:srgbClr val="16181B"/>
                </a:solidFill>
                <a:latin typeface="Arial"/>
                <a:ea typeface="Arial"/>
                <a:cs typeface="Arial"/>
              </a:defRPr>
            </a:lvl9pPr>
          </a:lstStyle>
          <a:p xmlns:a="http://schemas.openxmlformats.org/drawingml/2006/main">
            <a:pPr>
              <a:defRPr sz="2025" b="1">
                <a:solidFill>
                  <a:srgbClr val="16181B"/>
                </a:solidFill>
                <a:latin typeface="Arial"/>
                <a:ea typeface="Arial"/>
                <a:cs typeface="Arial"/>
              </a:defRPr>
            </a:pPr>
            <a:r>
              <a:rPr sz="2025" b="1">
                <a:solidFill>
                  <a:srgbClr val="16181B"/>
                </a:solidFill>
                <a:latin typeface="Arial"/>
                <a:ea typeface="Arial"/>
                <a:cs typeface="Arial"/>
              </a:rPr>
              <a:t>python experiments/evaluate_smoothllm.py</a:t>
            </a:r>
          </a:p>
        </p:txBody>
      </p:sp>
      <p:sp>
        <p:nvSpPr>
          <p:cNvPr id="4" name="">
            <a:extLst xmlns:a="http://schemas.openxmlformats.org/drawingml/2006/main">
              <a:ext uri="{FF2B5EF4-FFF2-40B4-BE49-F238E27FC236}">
                <a16:creationId xmlns:a16="http://schemas.microsoft.com/office/drawing/2014/main" id="{DF14B919-6CF5-498E-B901-CB0FD5F79071}"/>
              </a:ext>
            </a:extLst>
          </p:cNvPr>
          <p:cNvSpPr>
            <a:spLocks xmlns:a="http://schemas.openxmlformats.org/drawingml/2006/main" noGrp="1"/>
          </p:cNvSpPr>
          <p:nvPr/>
        </p:nvSpPr>
        <p:spPr>
          <a:xfrm xmlns:a="http://schemas.openxmlformats.org/drawingml/2006/main">
            <a:off x="571500" y="2476500"/>
            <a:ext cx="7905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725" b="0">
                <a:solidFill>
                  <a:srgbClr val="16181B"/>
                </a:solidFill>
                <a:latin typeface="Arial"/>
                <a:ea typeface="Arial"/>
                <a:cs typeface="Arial"/>
              </a:defRPr>
            </a:defPPr>
            <a:lvl1pPr>
              <a:defRPr sz="1725" b="0">
                <a:solidFill>
                  <a:srgbClr val="16181B"/>
                </a:solidFill>
                <a:latin typeface="Arial"/>
                <a:ea typeface="Arial"/>
                <a:cs typeface="Arial"/>
              </a:defRPr>
            </a:lvl1pPr>
            <a:lvl2pPr>
              <a:defRPr sz="1725" b="0">
                <a:solidFill>
                  <a:srgbClr val="16181B"/>
                </a:solidFill>
                <a:latin typeface="Arial"/>
                <a:ea typeface="Arial"/>
                <a:cs typeface="Arial"/>
              </a:defRPr>
            </a:lvl2pPr>
            <a:lvl3pPr>
              <a:defRPr sz="1725" b="0">
                <a:solidFill>
                  <a:srgbClr val="16181B"/>
                </a:solidFill>
                <a:latin typeface="Arial"/>
                <a:ea typeface="Arial"/>
                <a:cs typeface="Arial"/>
              </a:defRPr>
            </a:lvl3pPr>
            <a:lvl4pPr>
              <a:defRPr sz="1725" b="0">
                <a:solidFill>
                  <a:srgbClr val="16181B"/>
                </a:solidFill>
                <a:latin typeface="Arial"/>
                <a:ea typeface="Arial"/>
                <a:cs typeface="Arial"/>
              </a:defRPr>
            </a:lvl4pPr>
            <a:lvl5pPr>
              <a:defRPr sz="1725" b="0">
                <a:solidFill>
                  <a:srgbClr val="16181B"/>
                </a:solidFill>
                <a:latin typeface="Arial"/>
                <a:ea typeface="Arial"/>
                <a:cs typeface="Arial"/>
              </a:defRPr>
            </a:lvl5pPr>
            <a:lvl6pPr>
              <a:defRPr sz="1725" b="0">
                <a:solidFill>
                  <a:srgbClr val="16181B"/>
                </a:solidFill>
                <a:latin typeface="Arial"/>
                <a:ea typeface="Arial"/>
                <a:cs typeface="Arial"/>
              </a:defRPr>
            </a:lvl6pPr>
            <a:lvl7pPr>
              <a:defRPr sz="1725" b="0">
                <a:solidFill>
                  <a:srgbClr val="16181B"/>
                </a:solidFill>
                <a:latin typeface="Arial"/>
                <a:ea typeface="Arial"/>
                <a:cs typeface="Arial"/>
              </a:defRPr>
            </a:lvl7pPr>
            <a:lvl8pPr>
              <a:defRPr sz="1725" b="0">
                <a:solidFill>
                  <a:srgbClr val="16181B"/>
                </a:solidFill>
                <a:latin typeface="Arial"/>
                <a:ea typeface="Arial"/>
                <a:cs typeface="Arial"/>
              </a:defRPr>
            </a:lvl8pPr>
            <a:lvl9pPr>
              <a:defRPr sz="1725" b="0">
                <a:solidFill>
                  <a:srgbClr val="16181B"/>
                </a:solidFill>
                <a:latin typeface="Arial"/>
                <a:ea typeface="Arial"/>
                <a:cs typeface="Arial"/>
              </a:defRPr>
            </a:lvl9pPr>
          </a:lstStyle>
          <a:p xmlns:a="http://schemas.openxmlformats.org/drawingml/2006/main">
            <a:pPr>
              <a:defRPr sz="1725" b="0">
                <a:solidFill>
                  <a:srgbClr val="16181B"/>
                </a:solidFill>
                <a:latin typeface="Arial"/>
                <a:ea typeface="Arial"/>
                <a:cs typeface="Arial"/>
              </a:defRPr>
            </a:pPr>
            <a:r>
              <a:rPr sz="1725" b="0">
                <a:solidFill>
                  <a:srgbClr val="16181B"/>
                </a:solidFill>
                <a:latin typeface="Arial"/>
                <a:ea typeface="Arial"/>
                <a:cs typeface="Arial"/>
              </a:rPr>
              <a:t>Fixed inputs, per-case completions, votes and summaries:</a:t>
            </a:r>
          </a:p>
          <a:p xmlns:a="http://schemas.openxmlformats.org/drawingml/2006/main">
            <a:pPr>
              <a:defRPr sz="1725" b="0">
                <a:solidFill>
                  <a:srgbClr val="16181B"/>
                </a:solidFill>
                <a:latin typeface="Arial"/>
                <a:ea typeface="Arial"/>
                <a:cs typeface="Arial"/>
              </a:defRPr>
            </a:pPr>
            <a:r>
              <a:rPr sz="1725" b="0">
                <a:solidFill>
                  <a:srgbClr val="16181B"/>
                </a:solidFill>
                <a:latin typeface="Arial"/>
                <a:ea typeface="Arial"/>
                <a:cs typeface="Arial"/>
              </a:rPr>
              <a:t>experiments/data/ and experiments/logs/assignment3/</a:t>
            </a:r>
          </a:p>
        </p:txBody>
      </p:sp>
      <p:sp>
        <p:nvSpPr>
          <p:cNvPr id="5" name="">
            <a:extLst xmlns:a="http://schemas.openxmlformats.org/drawingml/2006/main">
              <a:ext uri="{FF2B5EF4-FFF2-40B4-BE49-F238E27FC236}">
                <a16:creationId xmlns:a16="http://schemas.microsoft.com/office/drawing/2014/main" id="{4FD6A957-8896-4D3D-9BA9-E3B2B69F1E87}"/>
              </a:ext>
            </a:extLst>
          </p:cNvPr>
          <p:cNvSpPr>
            <a:spLocks xmlns:a="http://schemas.openxmlformats.org/drawingml/2006/main" noGrp="1"/>
          </p:cNvSpPr>
          <p:nvPr/>
        </p:nvSpPr>
        <p:spPr>
          <a:xfrm xmlns:a="http://schemas.openxmlformats.org/drawingml/2006/main">
            <a:off x="571500" y="3619500"/>
            <a:ext cx="7905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0">
                <a:solidFill>
                  <a:srgbClr val="16181B"/>
                </a:solidFill>
                <a:latin typeface="Arial"/>
                <a:ea typeface="Arial"/>
                <a:cs typeface="Arial"/>
              </a:defRPr>
            </a:defPPr>
            <a:lvl1pPr>
              <a:defRPr sz="1650" b="0">
                <a:solidFill>
                  <a:srgbClr val="16181B"/>
                </a:solidFill>
                <a:latin typeface="Arial"/>
                <a:ea typeface="Arial"/>
                <a:cs typeface="Arial"/>
              </a:defRPr>
            </a:lvl1pPr>
            <a:lvl2pPr>
              <a:defRPr sz="1650" b="0">
                <a:solidFill>
                  <a:srgbClr val="16181B"/>
                </a:solidFill>
                <a:latin typeface="Arial"/>
                <a:ea typeface="Arial"/>
                <a:cs typeface="Arial"/>
              </a:defRPr>
            </a:lvl2pPr>
            <a:lvl3pPr>
              <a:defRPr sz="1650" b="0">
                <a:solidFill>
                  <a:srgbClr val="16181B"/>
                </a:solidFill>
                <a:latin typeface="Arial"/>
                <a:ea typeface="Arial"/>
                <a:cs typeface="Arial"/>
              </a:defRPr>
            </a:lvl3pPr>
            <a:lvl4pPr>
              <a:defRPr sz="1650" b="0">
                <a:solidFill>
                  <a:srgbClr val="16181B"/>
                </a:solidFill>
                <a:latin typeface="Arial"/>
                <a:ea typeface="Arial"/>
                <a:cs typeface="Arial"/>
              </a:defRPr>
            </a:lvl4pPr>
            <a:lvl5pPr>
              <a:defRPr sz="1650" b="0">
                <a:solidFill>
                  <a:srgbClr val="16181B"/>
                </a:solidFill>
                <a:latin typeface="Arial"/>
                <a:ea typeface="Arial"/>
                <a:cs typeface="Arial"/>
              </a:defRPr>
            </a:lvl5pPr>
            <a:lvl6pPr>
              <a:defRPr sz="1650" b="0">
                <a:solidFill>
                  <a:srgbClr val="16181B"/>
                </a:solidFill>
                <a:latin typeface="Arial"/>
                <a:ea typeface="Arial"/>
                <a:cs typeface="Arial"/>
              </a:defRPr>
            </a:lvl6pPr>
            <a:lvl7pPr>
              <a:defRPr sz="1650" b="0">
                <a:solidFill>
                  <a:srgbClr val="16181B"/>
                </a:solidFill>
                <a:latin typeface="Arial"/>
                <a:ea typeface="Arial"/>
                <a:cs typeface="Arial"/>
              </a:defRPr>
            </a:lvl7pPr>
            <a:lvl8pPr>
              <a:defRPr sz="1650" b="0">
                <a:solidFill>
                  <a:srgbClr val="16181B"/>
                </a:solidFill>
                <a:latin typeface="Arial"/>
                <a:ea typeface="Arial"/>
                <a:cs typeface="Arial"/>
              </a:defRPr>
            </a:lvl8pPr>
            <a:lvl9pPr>
              <a:defRPr sz="1650" b="0">
                <a:solidFill>
                  <a:srgbClr val="16181B"/>
                </a:solidFill>
                <a:latin typeface="Arial"/>
                <a:ea typeface="Arial"/>
                <a:cs typeface="Arial"/>
              </a:defRPr>
            </a:lvl9pPr>
          </a:lstStyle>
          <a:p xmlns:a="http://schemas.openxmlformats.org/drawingml/2006/main">
            <a:pPr>
              <a:defRPr sz="1650" b="0">
                <a:solidFill>
                  <a:srgbClr val="16181B"/>
                </a:solidFill>
                <a:latin typeface="Arial"/>
                <a:ea typeface="Arial"/>
                <a:cs typeface="Arial"/>
              </a:defRPr>
            </a:pPr>
            <a:r>
              <a:rPr sz="1650" b="0">
                <a:solidFill>
                  <a:srgbClr val="16181B"/>
                </a:solidFill>
                <a:latin typeface="Arial"/>
                <a:ea typeface="Arial"/>
                <a:cs typeface="Arial"/>
              </a:rPr>
              <a:t>Zou et al. (2023), arxiv.org/abs/2307.15043</a:t>
            </a:r>
          </a:p>
          <a:p xmlns:a="http://schemas.openxmlformats.org/drawingml/2006/main">
            <a:pPr>
              <a:defRPr sz="1650" b="0">
                <a:solidFill>
                  <a:srgbClr val="16181B"/>
                </a:solidFill>
                <a:latin typeface="Arial"/>
                <a:ea typeface="Arial"/>
                <a:cs typeface="Arial"/>
              </a:defRPr>
            </a:pPr>
            <a:r>
              <a:rPr sz="1650" b="0">
                <a:solidFill>
                  <a:srgbClr val="16181B"/>
                </a:solidFill>
                <a:latin typeface="Arial"/>
                <a:ea typeface="Arial"/>
                <a:cs typeface="Arial"/>
              </a:rPr>
              <a:t>Robey et al. (2023), arxiv.org/abs/2310.03684</a:t>
            </a:r>
          </a:p>
          <a:p xmlns:a="http://schemas.openxmlformats.org/drawingml/2006/main">
            <a:pPr>
              <a:defRPr sz="1650" b="0">
                <a:solidFill>
                  <a:srgbClr val="16181B"/>
                </a:solidFill>
                <a:latin typeface="Arial"/>
                <a:ea typeface="Arial"/>
                <a:cs typeface="Arial"/>
              </a:defRPr>
            </a:pPr>
            <a:r>
              <a:rPr sz="1650" b="0">
                <a:solidFill>
                  <a:srgbClr val="16181B"/>
                </a:solidFill>
                <a:latin typeface="Arial"/>
                <a:ea typeface="Arial"/>
                <a:cs typeface="Arial"/>
              </a:rPr>
              <a:t>NVIDIA garak and Ollama official repositories</a:t>
            </a:r>
          </a:p>
        </p:txBody>
      </p:sp>
      <p:sp>
        <p:nvSpPr>
          <p:cNvPr id="6" name="">
            <a:extLst xmlns:a="http://schemas.openxmlformats.org/drawingml/2006/main">
              <a:ext uri="{FF2B5EF4-FFF2-40B4-BE49-F238E27FC236}">
                <a16:creationId xmlns:a16="http://schemas.microsoft.com/office/drawing/2014/main" id="{E1BF019C-77A5-492A-B258-042FAC4B8080}"/>
              </a:ext>
            </a:extLst>
          </p:cNvPr>
          <p:cNvSpPr>
            <a:spLocks xmlns:a="http://schemas.openxmlformats.org/drawingml/2006/main" noGrp="1"/>
          </p:cNvSpPr>
          <p:nvPr/>
        </p:nvSpPr>
        <p:spPr>
          <a:xfrm xmlns:a="http://schemas.openxmlformats.org/drawingml/2006/main">
            <a:off x="571500" y="5267325"/>
            <a:ext cx="790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75" b="0">
                <a:solidFill>
                  <a:srgbClr val="626872"/>
                </a:solidFill>
                <a:latin typeface="Arial"/>
                <a:ea typeface="Arial"/>
                <a:cs typeface="Arial"/>
              </a:defRPr>
            </a:defPPr>
            <a:lvl1pPr>
              <a:defRPr sz="1575" b="0">
                <a:solidFill>
                  <a:srgbClr val="626872"/>
                </a:solidFill>
                <a:latin typeface="Arial"/>
                <a:ea typeface="Arial"/>
                <a:cs typeface="Arial"/>
              </a:defRPr>
            </a:lvl1pPr>
            <a:lvl2pPr>
              <a:defRPr sz="1575" b="0">
                <a:solidFill>
                  <a:srgbClr val="626872"/>
                </a:solidFill>
                <a:latin typeface="Arial"/>
                <a:ea typeface="Arial"/>
                <a:cs typeface="Arial"/>
              </a:defRPr>
            </a:lvl2pPr>
            <a:lvl3pPr>
              <a:defRPr sz="1575" b="0">
                <a:solidFill>
                  <a:srgbClr val="626872"/>
                </a:solidFill>
                <a:latin typeface="Arial"/>
                <a:ea typeface="Arial"/>
                <a:cs typeface="Arial"/>
              </a:defRPr>
            </a:lvl3pPr>
            <a:lvl4pPr>
              <a:defRPr sz="1575" b="0">
                <a:solidFill>
                  <a:srgbClr val="626872"/>
                </a:solidFill>
                <a:latin typeface="Arial"/>
                <a:ea typeface="Arial"/>
                <a:cs typeface="Arial"/>
              </a:defRPr>
            </a:lvl4pPr>
            <a:lvl5pPr>
              <a:defRPr sz="1575" b="0">
                <a:solidFill>
                  <a:srgbClr val="626872"/>
                </a:solidFill>
                <a:latin typeface="Arial"/>
                <a:ea typeface="Arial"/>
                <a:cs typeface="Arial"/>
              </a:defRPr>
            </a:lvl5pPr>
            <a:lvl6pPr>
              <a:defRPr sz="1575" b="0">
                <a:solidFill>
                  <a:srgbClr val="626872"/>
                </a:solidFill>
                <a:latin typeface="Arial"/>
                <a:ea typeface="Arial"/>
                <a:cs typeface="Arial"/>
              </a:defRPr>
            </a:lvl6pPr>
            <a:lvl7pPr>
              <a:defRPr sz="1575" b="0">
                <a:solidFill>
                  <a:srgbClr val="626872"/>
                </a:solidFill>
                <a:latin typeface="Arial"/>
                <a:ea typeface="Arial"/>
                <a:cs typeface="Arial"/>
              </a:defRPr>
            </a:lvl7pPr>
            <a:lvl8pPr>
              <a:defRPr sz="1575" b="0">
                <a:solidFill>
                  <a:srgbClr val="626872"/>
                </a:solidFill>
                <a:latin typeface="Arial"/>
                <a:ea typeface="Arial"/>
                <a:cs typeface="Arial"/>
              </a:defRPr>
            </a:lvl8pPr>
            <a:lvl9pPr>
              <a:defRPr sz="1575" b="0">
                <a:solidFill>
                  <a:srgbClr val="626872"/>
                </a:solidFill>
                <a:latin typeface="Arial"/>
                <a:ea typeface="Arial"/>
                <a:cs typeface="Arial"/>
              </a:defRPr>
            </a:lvl9pPr>
          </a:lstStyle>
          <a:p xmlns:a="http://schemas.openxmlformats.org/drawingml/2006/main">
            <a:pPr>
              <a:defRPr sz="1575" b="0">
                <a:solidFill>
                  <a:srgbClr val="626872"/>
                </a:solidFill>
                <a:latin typeface="Arial"/>
                <a:ea typeface="Arial"/>
                <a:cs typeface="Arial"/>
              </a:defRPr>
            </a:pPr>
            <a:r>
              <a:rPr sz="1575" b="0">
                <a:solidFill>
                  <a:srgbClr val="626872"/>
                </a:solidFill>
                <a:latin typeface="Arial"/>
                <a:ea typeface="Arial"/>
                <a:cs typeface="Arial"/>
              </a:rPr>
              <a:t>Raw harmful completions stay in the research logs.</a:t>
            </a:r>
          </a:p>
          <a:p xmlns:a="http://schemas.openxmlformats.org/drawingml/2006/main">
            <a:pPr>
              <a:defRPr sz="1575" b="0">
                <a:solidFill>
                  <a:srgbClr val="626872"/>
                </a:solidFill>
                <a:latin typeface="Arial"/>
                <a:ea typeface="Arial"/>
                <a:cs typeface="Arial"/>
              </a:defRPr>
            </a:pPr>
            <a:r>
              <a:rPr sz="1575" b="0">
                <a:solidFill>
                  <a:srgbClr val="626872"/>
                </a:solidFill>
                <a:latin typeface="Arial"/>
                <a:ea typeface="Arial"/>
                <a:cs typeface="Arial"/>
              </a:rPr>
              <a:t>AI assistance: see AI_USE_DECLARATION.md.</a:t>
            </a:r>
          </a:p>
        </p:txBody>
      </p:sp>
    </p:spTree>
    <p:extLst>
      <p:ext uri="{BB962C8B-B14F-4D97-AF65-F5344CB8AC3E}">
        <p14:creationId xmlns:p14="http://schemas.microsoft.com/office/powerpoint/2010/main" val="10755426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2026-10-27T07:51:48.4110000Z</dcterms:created>
  <dcterms:modified xsi:type="dcterms:W3CDTF">2026-10-27T07:51:48.4110000Z</dcterms:modified>
</coreProperties>
</file>